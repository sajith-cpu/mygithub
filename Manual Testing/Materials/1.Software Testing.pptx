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8" r:id="rId2"/>
  </p:sldMasterIdLst>
  <p:notesMasterIdLst>
    <p:notesMasterId r:id="rId17"/>
  </p:notesMasterIdLst>
  <p:sldIdLst>
    <p:sldId id="256" r:id="rId3"/>
    <p:sldId id="260" r:id="rId4"/>
    <p:sldId id="262" r:id="rId5"/>
    <p:sldId id="264" r:id="rId6"/>
    <p:sldId id="265" r:id="rId7"/>
    <p:sldId id="272" r:id="rId8"/>
    <p:sldId id="267" r:id="rId9"/>
    <p:sldId id="268" r:id="rId10"/>
    <p:sldId id="270" r:id="rId11"/>
    <p:sldId id="271" r:id="rId12"/>
    <p:sldId id="273" r:id="rId13"/>
    <p:sldId id="274" r:id="rId14"/>
    <p:sldId id="261" r:id="rId15"/>
    <p:sldId id="269" r:id="rId16"/>
  </p:sldIdLst>
  <p:sldSz cx="9144000" cy="5143500" type="screen16x9"/>
  <p:notesSz cx="7019925" cy="9305925"/>
  <p:embeddedFontLst>
    <p:embeddedFont>
      <p:font typeface="Kanit" charset="-34"/>
      <p:regular r:id="rId18"/>
      <p:bold r:id="rId19"/>
      <p:italic r:id="rId20"/>
      <p:boldItalic r:id="rId21"/>
    </p:embeddedFont>
    <p:embeddedFont>
      <p:font typeface="Fira Sans" charset="0"/>
      <p:regular r:id="rId22"/>
      <p:bold r:id="rId23"/>
      <p:italic r:id="rId24"/>
      <p:boldItalic r:id="rId25"/>
    </p:embeddedFont>
    <p:embeddedFont>
      <p:font typeface="Calibri" pitchFamily="34" charset="0"/>
      <p:regular r:id="rId26"/>
      <p:bold r:id="rId27"/>
      <p:italic r:id="rId28"/>
      <p:boldItalic r:id="rId29"/>
    </p:embeddedFont>
    <p:embeddedFont>
      <p:font typeface="Helvetica Neue"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FHP++pb+6bBzwpAlUVYs3U1T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65" autoAdjust="0"/>
  </p:normalViewPr>
  <p:slideViewPr>
    <p:cSldViewPr snapToGrid="0">
      <p:cViewPr varScale="1">
        <p:scale>
          <a:sx n="108" d="100"/>
          <a:sy n="108" d="100"/>
        </p:scale>
        <p:origin x="-706" y="-67"/>
      </p:cViewPr>
      <p:guideLst>
        <p:guide orient="horz" pos="595"/>
        <p:guide orient="horz" pos="2495"/>
        <p:guide orient="horz" pos="1623"/>
        <p:guide orient="horz" pos="792"/>
        <p:guide orient="horz" pos="720"/>
        <p:guide pos="4920"/>
        <p:guide pos="388"/>
        <p:guide pos="3240"/>
        <p:guide pos="64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700E0FCF-F991-48BF-808A-76B6CDBB5976}"/>
    <pc:docChg chg="modSld sldOrd">
      <pc:chgData name="Manas Tuwani" userId="5d421215-a11f-4a6e-90ca-e8ac2213fab6" providerId="ADAL" clId="{700E0FCF-F991-48BF-808A-76B6CDBB5976}" dt="2023-08-18T03:06:06.155" v="16" actId="20577"/>
      <pc:docMkLst>
        <pc:docMk/>
      </pc:docMkLst>
      <pc:sldChg chg="modSp mod ord">
        <pc:chgData name="Manas Tuwani" userId="5d421215-a11f-4a6e-90ca-e8ac2213fab6" providerId="ADAL" clId="{700E0FCF-F991-48BF-808A-76B6CDBB5976}" dt="2023-08-18T03:06:06.155" v="16" actId="20577"/>
        <pc:sldMkLst>
          <pc:docMk/>
          <pc:sldMk cId="410603153" sldId="271"/>
        </pc:sldMkLst>
        <pc:spChg chg="mod">
          <ac:chgData name="Manas Tuwani" userId="5d421215-a11f-4a6e-90ca-e8ac2213fab6" providerId="ADAL" clId="{700E0FCF-F991-48BF-808A-76B6CDBB5976}" dt="2023-08-18T03:06:06.155" v="16" actId="20577"/>
          <ac:spMkLst>
            <pc:docMk/>
            <pc:sldMk cId="410603153" sldId="271"/>
            <ac:spMk id="3" creationId="{00000000-0000-0000-0000-000000000000}"/>
          </ac:spMkLst>
        </pc:spChg>
      </pc:sldChg>
    </pc:docChg>
  </pc:docChgLst>
  <pc:docChgLst>
    <pc:chgData name="Manas Tuwani" userId="5d421215-a11f-4a6e-90ca-e8ac2213fab6" providerId="ADAL" clId="{55C4E71E-A778-40CC-87A7-ADB5EA3ACED7}"/>
    <pc:docChg chg="undo custSel modSld">
      <pc:chgData name="Manas Tuwani" userId="5d421215-a11f-4a6e-90ca-e8ac2213fab6" providerId="ADAL" clId="{55C4E71E-A778-40CC-87A7-ADB5EA3ACED7}" dt="2022-06-22T13:23:30.935" v="16" actId="14100"/>
      <pc:docMkLst>
        <pc:docMk/>
      </pc:docMkLst>
      <pc:sldChg chg="addSp delSp modSp mod">
        <pc:chgData name="Manas Tuwani" userId="5d421215-a11f-4a6e-90ca-e8ac2213fab6" providerId="ADAL" clId="{55C4E71E-A778-40CC-87A7-ADB5EA3ACED7}" dt="2022-06-22T13:23:30.935" v="16" actId="14100"/>
        <pc:sldMkLst>
          <pc:docMk/>
          <pc:sldMk cId="0" sldId="256"/>
        </pc:sldMkLst>
        <pc:spChg chg="add del">
          <ac:chgData name="Manas Tuwani" userId="5d421215-a11f-4a6e-90ca-e8ac2213fab6" providerId="ADAL" clId="{55C4E71E-A778-40CC-87A7-ADB5EA3ACED7}" dt="2022-06-22T12:56:49.348" v="15" actId="478"/>
          <ac:spMkLst>
            <pc:docMk/>
            <pc:sldMk cId="0" sldId="256"/>
            <ac:spMk id="55" creationId="{00000000-0000-0000-0000-000000000000}"/>
          </ac:spMkLst>
        </pc:spChg>
        <pc:picChg chg="add mod">
          <ac:chgData name="Manas Tuwani" userId="5d421215-a11f-4a6e-90ca-e8ac2213fab6" providerId="ADAL" clId="{55C4E71E-A778-40CC-87A7-ADB5EA3ACED7}" dt="2022-06-22T13:23:30.935" v="16" actId="14100"/>
          <ac:picMkLst>
            <pc:docMk/>
            <pc:sldMk cId="0" sldId="256"/>
            <ac:picMk id="3" creationId="{8CA30E4E-DDE6-AAC5-BAA6-4F50834F368D}"/>
          </ac:picMkLst>
        </pc:picChg>
      </pc:sldChg>
    </pc:docChg>
  </pc:docChgLst>
  <pc:docChgLst>
    <pc:chgData name="Manas Tuwani" userId="5d421215-a11f-4a6e-90ca-e8ac2213fab6" providerId="ADAL" clId="{42B0A36D-2939-49AD-ADC1-71FF531A0EA5}"/>
    <pc:docChg chg="modSld">
      <pc:chgData name="Manas Tuwani" userId="5d421215-a11f-4a6e-90ca-e8ac2213fab6" providerId="ADAL" clId="{42B0A36D-2939-49AD-ADC1-71FF531A0EA5}" dt="2024-10-07T13:59:57.262" v="1" actId="113"/>
      <pc:docMkLst>
        <pc:docMk/>
      </pc:docMkLst>
      <pc:sldChg chg="modSp mod">
        <pc:chgData name="Manas Tuwani" userId="5d421215-a11f-4a6e-90ca-e8ac2213fab6" providerId="ADAL" clId="{42B0A36D-2939-49AD-ADC1-71FF531A0EA5}" dt="2024-10-07T13:59:57.262" v="1" actId="113"/>
        <pc:sldMkLst>
          <pc:docMk/>
          <pc:sldMk cId="3182850297" sldId="264"/>
        </pc:sldMkLst>
        <pc:spChg chg="mod">
          <ac:chgData name="Manas Tuwani" userId="5d421215-a11f-4a6e-90ca-e8ac2213fab6" providerId="ADAL" clId="{42B0A36D-2939-49AD-ADC1-71FF531A0EA5}" dt="2024-10-07T13:59:57.262" v="1" actId="113"/>
          <ac:spMkLst>
            <pc:docMk/>
            <pc:sldMk cId="3182850297" sldId="264"/>
            <ac:spMk id="2" creationId="{00000000-0000-0000-0000-000000000000}"/>
          </ac:spMkLst>
        </pc:spChg>
      </pc:sldChg>
    </pc:docChg>
  </pc:docChgLst>
  <pc:docChgLst>
    <pc:chgData name="Manas Tuwani" userId="5d421215-a11f-4a6e-90ca-e8ac2213fab6" providerId="ADAL" clId="{33F0EE1D-2104-455D-A8A9-8D527B2C20A2}"/>
    <pc:docChg chg="delSld">
      <pc:chgData name="Manas Tuwani" userId="5d421215-a11f-4a6e-90ca-e8ac2213fab6" providerId="ADAL" clId="{33F0EE1D-2104-455D-A8A9-8D527B2C20A2}" dt="2023-12-01T15:37:42.569" v="0" actId="47"/>
      <pc:docMkLst>
        <pc:docMk/>
      </pc:docMkLst>
      <pc:sldChg chg="del">
        <pc:chgData name="Manas Tuwani" userId="5d421215-a11f-4a6e-90ca-e8ac2213fab6" providerId="ADAL" clId="{33F0EE1D-2104-455D-A8A9-8D527B2C20A2}" dt="2023-12-01T15:37:42.569" v="0" actId="47"/>
        <pc:sldMkLst>
          <pc:docMk/>
          <pc:sldMk cId="2492336296" sldId="266"/>
        </pc:sldMkLst>
      </pc:sldChg>
    </pc:docChg>
  </pc:docChgLst>
  <pc:docChgLst>
    <pc:chgData name="Manas Tuwani" userId="5d421215-a11f-4a6e-90ca-e8ac2213fab6" providerId="ADAL" clId="{E49C3C6D-7EDF-479E-8CFB-37240507343E}"/>
    <pc:docChg chg="modSld sldOrd">
      <pc:chgData name="Manas Tuwani" userId="5d421215-a11f-4a6e-90ca-e8ac2213fab6" providerId="ADAL" clId="{E49C3C6D-7EDF-479E-8CFB-37240507343E}" dt="2022-12-18T04:34:06.075" v="9" actId="20577"/>
      <pc:docMkLst>
        <pc:docMk/>
      </pc:docMkLst>
      <pc:sldChg chg="ord">
        <pc:chgData name="Manas Tuwani" userId="5d421215-a11f-4a6e-90ca-e8ac2213fab6" providerId="ADAL" clId="{E49C3C6D-7EDF-479E-8CFB-37240507343E}" dt="2022-12-18T03:21:10.248" v="1"/>
        <pc:sldMkLst>
          <pc:docMk/>
          <pc:sldMk cId="3870446825" sldId="269"/>
        </pc:sldMkLst>
      </pc:sldChg>
      <pc:sldChg chg="modSp mod">
        <pc:chgData name="Manas Tuwani" userId="5d421215-a11f-4a6e-90ca-e8ac2213fab6" providerId="ADAL" clId="{E49C3C6D-7EDF-479E-8CFB-37240507343E}" dt="2022-12-18T04:34:06.075" v="9" actId="20577"/>
        <pc:sldMkLst>
          <pc:docMk/>
          <pc:sldMk cId="3410457760" sldId="270"/>
        </pc:sldMkLst>
        <pc:spChg chg="mod">
          <ac:chgData name="Manas Tuwani" userId="5d421215-a11f-4a6e-90ca-e8ac2213fab6" providerId="ADAL" clId="{E49C3C6D-7EDF-479E-8CFB-37240507343E}" dt="2022-12-18T04:34:06.075" v="9" actId="20577"/>
          <ac:spMkLst>
            <pc:docMk/>
            <pc:sldMk cId="3410457760" sldId="270"/>
            <ac:spMk id="2" creationId="{00000000-0000-0000-0000-000000000000}"/>
          </ac:spMkLst>
        </pc:spChg>
      </pc:sldChg>
    </pc:docChg>
  </pc:docChgLst>
  <pc:docChgLst>
    <pc:chgData name="Manas Tuwani" userId="5d421215-a11f-4a6e-90ca-e8ac2213fab6" providerId="ADAL" clId="{DCDDC8AF-F5EC-46A6-B791-F2C197D76FBF}"/>
    <pc:docChg chg="addSld delSld modSld">
      <pc:chgData name="Manas Tuwani" userId="5d421215-a11f-4a6e-90ca-e8ac2213fab6" providerId="ADAL" clId="{DCDDC8AF-F5EC-46A6-B791-F2C197D76FBF}" dt="2022-09-29T14:36:08.094" v="3" actId="47"/>
      <pc:docMkLst>
        <pc:docMk/>
      </pc:docMkLst>
      <pc:sldChg chg="add del">
        <pc:chgData name="Manas Tuwani" userId="5d421215-a11f-4a6e-90ca-e8ac2213fab6" providerId="ADAL" clId="{DCDDC8AF-F5EC-46A6-B791-F2C197D76FBF}" dt="2022-09-29T14:36:08.094" v="3" actId="47"/>
        <pc:sldMkLst>
          <pc:docMk/>
          <pc:sldMk cId="1957388170" sldId="273"/>
        </pc:sldMkLst>
      </pc:sldChg>
      <pc:sldChg chg="add del">
        <pc:chgData name="Manas Tuwani" userId="5d421215-a11f-4a6e-90ca-e8ac2213fab6" providerId="ADAL" clId="{DCDDC8AF-F5EC-46A6-B791-F2C197D76FBF}" dt="2022-09-29T14:36:02.747" v="2"/>
        <pc:sldMkLst>
          <pc:docMk/>
          <pc:sldMk cId="2617736232" sldId="274"/>
        </pc:sldMkLst>
      </pc:sldChg>
    </pc:docChg>
  </pc:docChgLst>
  <pc:docChgLst>
    <pc:chgData name="Manas Tuwani" userId="5d421215-a11f-4a6e-90ca-e8ac2213fab6" providerId="ADAL" clId="{28478F9A-4224-47CD-8B56-32BE45DB9C2E}"/>
    <pc:docChg chg="undo custSel modSld">
      <pc:chgData name="Manas Tuwani" userId="5d421215-a11f-4a6e-90ca-e8ac2213fab6" providerId="ADAL" clId="{28478F9A-4224-47CD-8B56-32BE45DB9C2E}" dt="2022-11-30T15:30:09.316" v="11" actId="478"/>
      <pc:docMkLst>
        <pc:docMk/>
      </pc:docMkLst>
      <pc:sldChg chg="delSp mod">
        <pc:chgData name="Manas Tuwani" userId="5d421215-a11f-4a6e-90ca-e8ac2213fab6" providerId="ADAL" clId="{28478F9A-4224-47CD-8B56-32BE45DB9C2E}" dt="2022-11-24T16:43:30.147" v="0" actId="478"/>
        <pc:sldMkLst>
          <pc:docMk/>
          <pc:sldMk cId="0" sldId="256"/>
        </pc:sldMkLst>
        <pc:picChg chg="del">
          <ac:chgData name="Manas Tuwani" userId="5d421215-a11f-4a6e-90ca-e8ac2213fab6" providerId="ADAL" clId="{28478F9A-4224-47CD-8B56-32BE45DB9C2E}" dt="2022-11-24T16:43:30.147" v="0" actId="478"/>
          <ac:picMkLst>
            <pc:docMk/>
            <pc:sldMk cId="0" sldId="256"/>
            <ac:picMk id="3" creationId="{8CA30E4E-DDE6-AAC5-BAA6-4F50834F368D}"/>
          </ac:picMkLst>
        </pc:picChg>
      </pc:sldChg>
      <pc:sldChg chg="addSp delSp modSp mod">
        <pc:chgData name="Manas Tuwani" userId="5d421215-a11f-4a6e-90ca-e8ac2213fab6" providerId="ADAL" clId="{28478F9A-4224-47CD-8B56-32BE45DB9C2E}" dt="2022-11-30T15:30:09.316" v="11" actId="478"/>
        <pc:sldMkLst>
          <pc:docMk/>
          <pc:sldMk cId="410603153" sldId="271"/>
        </pc:sldMkLst>
        <pc:spChg chg="add del">
          <ac:chgData name="Manas Tuwani" userId="5d421215-a11f-4a6e-90ca-e8ac2213fab6" providerId="ADAL" clId="{28478F9A-4224-47CD-8B56-32BE45DB9C2E}" dt="2022-11-25T02:30:01.462" v="2" actId="11529"/>
          <ac:spMkLst>
            <pc:docMk/>
            <pc:sldMk cId="410603153" sldId="271"/>
            <ac:spMk id="5" creationId="{CA951BBF-6D43-5DE4-6A11-087B23CA7844}"/>
          </ac:spMkLst>
        </pc:spChg>
        <pc:spChg chg="add del">
          <ac:chgData name="Manas Tuwani" userId="5d421215-a11f-4a6e-90ca-e8ac2213fab6" providerId="ADAL" clId="{28478F9A-4224-47CD-8B56-32BE45DB9C2E}" dt="2022-11-30T15:29:53.886" v="4" actId="478"/>
          <ac:spMkLst>
            <pc:docMk/>
            <pc:sldMk cId="410603153" sldId="271"/>
            <ac:spMk id="5" creationId="{DEC4BB99-10DD-8428-91D6-4D86585F72E1}"/>
          </ac:spMkLst>
        </pc:spChg>
        <pc:spChg chg="add del mod">
          <ac:chgData name="Manas Tuwani" userId="5d421215-a11f-4a6e-90ca-e8ac2213fab6" providerId="ADAL" clId="{28478F9A-4224-47CD-8B56-32BE45DB9C2E}" dt="2022-11-30T15:30:09.316" v="11" actId="478"/>
          <ac:spMkLst>
            <pc:docMk/>
            <pc:sldMk cId="410603153" sldId="271"/>
            <ac:spMk id="6" creationId="{837296BF-6077-7BAA-5B93-487C78CCCE92}"/>
          </ac:spMkLst>
        </pc:spChg>
      </pc:sldChg>
    </pc:docChg>
  </pc:docChgLst>
  <pc:docChgLst>
    <pc:chgData name="Manas Tuwani" userId="5d421215-a11f-4a6e-90ca-e8ac2213fab6" providerId="ADAL" clId="{6CDDCFF4-3537-4BE1-82F6-3DD7EFD2BAB7}"/>
    <pc:docChg chg="custSel addSld modSld">
      <pc:chgData name="Manas Tuwani" userId="5d421215-a11f-4a6e-90ca-e8ac2213fab6" providerId="ADAL" clId="{6CDDCFF4-3537-4BE1-82F6-3DD7EFD2BAB7}" dt="2023-09-18T11:11:09.467" v="892" actId="20577"/>
      <pc:docMkLst>
        <pc:docMk/>
      </pc:docMkLst>
      <pc:sldChg chg="modSp add mod">
        <pc:chgData name="Manas Tuwani" userId="5d421215-a11f-4a6e-90ca-e8ac2213fab6" providerId="ADAL" clId="{6CDDCFF4-3537-4BE1-82F6-3DD7EFD2BAB7}" dt="2023-09-18T11:03:04.154" v="514" actId="1076"/>
        <pc:sldMkLst>
          <pc:docMk/>
          <pc:sldMk cId="160779284" sldId="273"/>
        </pc:sldMkLst>
        <pc:spChg chg="mod">
          <ac:chgData name="Manas Tuwani" userId="5d421215-a11f-4a6e-90ca-e8ac2213fab6" providerId="ADAL" clId="{6CDDCFF4-3537-4BE1-82F6-3DD7EFD2BAB7}" dt="2023-09-18T11:02:58.590" v="513" actId="20577"/>
          <ac:spMkLst>
            <pc:docMk/>
            <pc:sldMk cId="160779284" sldId="273"/>
            <ac:spMk id="2" creationId="{00000000-0000-0000-0000-000000000000}"/>
          </ac:spMkLst>
        </pc:spChg>
        <pc:spChg chg="mod">
          <ac:chgData name="Manas Tuwani" userId="5d421215-a11f-4a6e-90ca-e8ac2213fab6" providerId="ADAL" clId="{6CDDCFF4-3537-4BE1-82F6-3DD7EFD2BAB7}" dt="2023-09-18T11:03:04.154" v="514" actId="1076"/>
          <ac:spMkLst>
            <pc:docMk/>
            <pc:sldMk cId="160779284" sldId="273"/>
            <ac:spMk id="3" creationId="{00000000-0000-0000-0000-000000000000}"/>
          </ac:spMkLst>
        </pc:spChg>
      </pc:sldChg>
      <pc:sldChg chg="modSp add mod">
        <pc:chgData name="Manas Tuwani" userId="5d421215-a11f-4a6e-90ca-e8ac2213fab6" providerId="ADAL" clId="{6CDDCFF4-3537-4BE1-82F6-3DD7EFD2BAB7}" dt="2023-09-18T11:11:09.467" v="892" actId="20577"/>
        <pc:sldMkLst>
          <pc:docMk/>
          <pc:sldMk cId="1617662718" sldId="274"/>
        </pc:sldMkLst>
        <pc:spChg chg="mod">
          <ac:chgData name="Manas Tuwani" userId="5d421215-a11f-4a6e-90ca-e8ac2213fab6" providerId="ADAL" clId="{6CDDCFF4-3537-4BE1-82F6-3DD7EFD2BAB7}" dt="2023-09-18T11:03:34.454" v="524" actId="20577"/>
          <ac:spMkLst>
            <pc:docMk/>
            <pc:sldMk cId="1617662718" sldId="274"/>
            <ac:spMk id="2" creationId="{00000000-0000-0000-0000-000000000000}"/>
          </ac:spMkLst>
        </pc:spChg>
        <pc:spChg chg="mod">
          <ac:chgData name="Manas Tuwani" userId="5d421215-a11f-4a6e-90ca-e8ac2213fab6" providerId="ADAL" clId="{6CDDCFF4-3537-4BE1-82F6-3DD7EFD2BAB7}" dt="2023-09-18T11:11:09.467" v="892" actId="20577"/>
          <ac:spMkLst>
            <pc:docMk/>
            <pc:sldMk cId="1617662718" sldId="27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 xmlns:p14="http://schemas.microsoft.com/office/powerpoint/2010/main"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13"/>
        <p:cNvGrpSpPr/>
        <p:nvPr/>
      </p:nvGrpSpPr>
      <p:grpSpPr>
        <a:xfrm>
          <a:off x="0" y="0"/>
          <a:ext cx="0" cy="0"/>
          <a:chOff x="0" y="0"/>
          <a:chExt cx="0" cy="0"/>
        </a:xfrm>
      </p:grpSpPr>
      <p:sp>
        <p:nvSpPr>
          <p:cNvPr id="14" name="Google Shape;14;g101406faff2_1_95"/>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 xmlns:p14="http://schemas.microsoft.com/office/powerpoint/2010/main" val="1998033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101406faff2_1_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12981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
        <p:cNvGrpSpPr/>
        <p:nvPr/>
      </p:nvGrpSpPr>
      <p:grpSpPr>
        <a:xfrm>
          <a:off x="0" y="0"/>
          <a:ext cx="0" cy="0"/>
          <a:chOff x="0" y="0"/>
          <a:chExt cx="0" cy="0"/>
        </a:xfrm>
      </p:grpSpPr>
      <p:sp>
        <p:nvSpPr>
          <p:cNvPr id="21" name="Google Shape;21;g101406faff2_1_5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g101406faff2_1_5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g101406faff2_1_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768770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g101406faff2_1_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g101406faff2_1_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156363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101406faff2_1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g101406faff2_1_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g101406faff2_1_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370544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g101406faff2_1_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g101406faff2_1_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g101406faff2_1_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g101406faff2_1_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78612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g101406faff2_1_7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g101406faff2_1_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4163900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g101406faff2_1_7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g101406faff2_1_7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g101406faff2_1_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636848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g101406faff2_1_7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g101406faff2_1_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1889461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101406faff2_1_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101406faff2_1_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g101406faff2_1_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g101406faff2_1_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g101406faff2_1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788334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g101406faff2_1_8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g101406faff2_1_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712646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g101406faff2_1_8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g101406faff2_1_8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g101406faff2_1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06109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101406faff2_1_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g101406faff2_1_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g101406faff2_1_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2664314181"/>
      </p:ext>
    </p:extLst>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32775"/>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517523" y="1941784"/>
            <a:ext cx="7420763" cy="1071032"/>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3200" b="1" dirty="0">
                <a:solidFill>
                  <a:srgbClr val="64E688"/>
                </a:solidFill>
                <a:latin typeface="Fira Sans"/>
                <a:ea typeface="Fira Sans"/>
                <a:cs typeface="Fira Sans"/>
                <a:sym typeface="Fira Sans"/>
              </a:rPr>
              <a:t>“Software Testing Introduction”</a:t>
            </a:r>
          </a:p>
          <a:p>
            <a:pPr marL="0" marR="0" lvl="0" indent="0" algn="ctr" rtl="0">
              <a:lnSpc>
                <a:spcPct val="90000"/>
              </a:lnSpc>
              <a:spcBef>
                <a:spcPts val="0"/>
              </a:spcBef>
              <a:spcAft>
                <a:spcPts val="0"/>
              </a:spcAft>
              <a:buClr>
                <a:schemeClr val="dk1"/>
              </a:buClr>
              <a:buSzPts val="1100"/>
              <a:buFont typeface="Arial"/>
              <a:buNone/>
            </a:pPr>
            <a:r>
              <a:rPr lang="en-IN" sz="1600" b="1" dirty="0">
                <a:solidFill>
                  <a:srgbClr val="64E688"/>
                </a:solidFill>
                <a:latin typeface="Fira Sans"/>
                <a:ea typeface="Fira Sans"/>
                <a:cs typeface="Fira Sans"/>
                <a:sym typeface="Fira Sans"/>
              </a:rPr>
              <a:t>                                         By: Manas </a:t>
            </a:r>
            <a:endParaRPr sz="1600" b="1" dirty="0">
              <a:solidFill>
                <a:srgbClr val="64E688"/>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endParaRPr sz="16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dirty="0">
                <a:solidFill>
                  <a:srgbClr val="FFFFFF"/>
                </a:solidFill>
                <a:latin typeface="Fira Sans"/>
                <a:ea typeface="Fira Sans"/>
                <a:cs typeface="Fira Sans"/>
                <a:sym typeface="Fira Sans"/>
              </a:rPr>
              <a:t>QA Automation Engineer</a:t>
            </a:r>
            <a:endParaRPr sz="1600" b="0" i="0" u="none" strike="noStrike" cap="none" dirty="0">
              <a:solidFill>
                <a:srgbClr val="FFFFFF"/>
              </a:solidFill>
              <a:latin typeface="Fira Sans"/>
              <a:ea typeface="Fira Sans"/>
              <a:cs typeface="Fira Sans"/>
              <a:sym typeface="Fira San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latin typeface="Fira Sans"/>
                <a:ea typeface="Fira Sans"/>
                <a:cs typeface="Fira Sans"/>
                <a:sym typeface="Fira Sans"/>
              </a:rPr>
              <a:t>What is Software</a:t>
            </a:r>
            <a:endParaRPr sz="4000" b="1" dirty="0">
              <a:solidFill>
                <a:srgbClr val="002060"/>
              </a:solidFill>
            </a:endParaRPr>
          </a:p>
        </p:txBody>
      </p:sp>
      <p:sp>
        <p:nvSpPr>
          <p:cNvPr id="105" name="Google Shape;105;p3"/>
          <p:cNvSpPr txBox="1">
            <a:spLocks noGrp="1"/>
          </p:cNvSpPr>
          <p:nvPr>
            <p:ph type="subTitle" idx="1"/>
          </p:nvPr>
        </p:nvSpPr>
        <p:spPr>
          <a:xfrm>
            <a:off x="681136" y="2258009"/>
            <a:ext cx="5297633" cy="156754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dirty="0">
                <a:solidFill>
                  <a:schemeClr val="dk1"/>
                </a:solidFill>
                <a:latin typeface="+mn-lt"/>
                <a:ea typeface="Fira Sans"/>
                <a:cs typeface="Fira Sans"/>
                <a:sym typeface="Fira Sans"/>
              </a:rPr>
              <a:t>A  group of statement, set of logic and related data which gives instructions to systems what to do and how to do</a:t>
            </a:r>
          </a:p>
          <a:p>
            <a:pPr marL="0" marR="0" lvl="0" indent="0" algn="l" rtl="0">
              <a:lnSpc>
                <a:spcPct val="100000"/>
              </a:lnSpc>
              <a:spcBef>
                <a:spcPts val="0"/>
              </a:spcBef>
              <a:spcAft>
                <a:spcPts val="0"/>
              </a:spcAft>
              <a:buNone/>
            </a:pPr>
            <a:endParaRPr lang="en-US" sz="1400" dirty="0">
              <a:solidFill>
                <a:schemeClr val="dk1"/>
              </a:solidFill>
              <a:latin typeface="+mn-lt"/>
              <a:ea typeface="Fira Sans"/>
              <a:cs typeface="Fira Sans"/>
              <a:sym typeface="Fira Sans"/>
            </a:endParaRPr>
          </a:p>
          <a:p>
            <a:pPr marL="0" marR="0" lvl="0" indent="0" algn="l" rtl="0">
              <a:lnSpc>
                <a:spcPct val="100000"/>
              </a:lnSpc>
              <a:spcBef>
                <a:spcPts val="0"/>
              </a:spcBef>
              <a:spcAft>
                <a:spcPts val="0"/>
              </a:spcAft>
              <a:buNone/>
            </a:pPr>
            <a:endParaRPr lang="en-US" sz="1400" dirty="0">
              <a:solidFill>
                <a:schemeClr val="dk1"/>
              </a:solidFill>
              <a:latin typeface="+mn-lt"/>
              <a:ea typeface="Fira Sans"/>
              <a:cs typeface="Fira Sans"/>
              <a:sym typeface="Fira Sans"/>
            </a:endParaRPr>
          </a:p>
          <a:p>
            <a:pPr marL="0" marR="0" lvl="0" indent="0" algn="l" rtl="0">
              <a:lnSpc>
                <a:spcPct val="100000"/>
              </a:lnSpc>
              <a:spcBef>
                <a:spcPts val="0"/>
              </a:spcBef>
              <a:spcAft>
                <a:spcPts val="0"/>
              </a:spcAft>
              <a:buNone/>
            </a:pPr>
            <a:r>
              <a:rPr lang="en-US" sz="1400" dirty="0">
                <a:solidFill>
                  <a:schemeClr val="dk1"/>
                </a:solidFill>
                <a:latin typeface="+mn-lt"/>
                <a:ea typeface="Fira Sans"/>
                <a:cs typeface="Fira Sans"/>
                <a:sym typeface="Fira Sans"/>
              </a:rPr>
              <a:t>As per usage software has been divided into  2 types:</a:t>
            </a:r>
          </a:p>
          <a:p>
            <a:pPr marL="0" marR="0" lvl="0" indent="0" algn="l" rtl="0">
              <a:lnSpc>
                <a:spcPct val="100000"/>
              </a:lnSpc>
              <a:spcBef>
                <a:spcPts val="0"/>
              </a:spcBef>
              <a:spcAft>
                <a:spcPts val="0"/>
              </a:spcAft>
              <a:buNone/>
            </a:pPr>
            <a:endParaRPr lang="en-US" sz="1400" dirty="0">
              <a:solidFill>
                <a:schemeClr val="dk1"/>
              </a:solidFill>
              <a:latin typeface="+mn-lt"/>
              <a:ea typeface="Fira Sans"/>
              <a:cs typeface="Fira Sans"/>
              <a:sym typeface="Fira Sans"/>
            </a:endParaRPr>
          </a:p>
          <a:p>
            <a:pPr marL="342900" marR="0" lvl="0" algn="l" rtl="0">
              <a:lnSpc>
                <a:spcPct val="100000"/>
              </a:lnSpc>
              <a:spcBef>
                <a:spcPts val="0"/>
              </a:spcBef>
              <a:spcAft>
                <a:spcPts val="0"/>
              </a:spcAft>
              <a:buFont typeface="Arial" panose="020B0604020202020204" pitchFamily="34" charset="0"/>
              <a:buChar char="•"/>
            </a:pPr>
            <a:endParaRPr lang="en-US" sz="1400" dirty="0">
              <a:solidFill>
                <a:schemeClr val="dk1"/>
              </a:solidFill>
              <a:latin typeface="+mn-lt"/>
              <a:ea typeface="Fira Sans"/>
              <a:cs typeface="Fira Sans"/>
              <a:sym typeface="Fira Sans"/>
            </a:endParaRPr>
          </a:p>
          <a:p>
            <a:pPr marR="0" lvl="0" indent="-457200" algn="l" rtl="0">
              <a:lnSpc>
                <a:spcPct val="100000"/>
              </a:lnSpc>
              <a:spcBef>
                <a:spcPts val="0"/>
              </a:spcBef>
              <a:spcAft>
                <a:spcPts val="0"/>
              </a:spcAft>
              <a:buFont typeface="Arial" panose="020B0604020202020204" pitchFamily="34" charset="0"/>
              <a:buChar char="•"/>
            </a:pPr>
            <a:r>
              <a:rPr lang="en-US" sz="1400" dirty="0">
                <a:solidFill>
                  <a:schemeClr val="dk1"/>
                </a:solidFill>
                <a:latin typeface="+mn-lt"/>
                <a:ea typeface="Fira Sans"/>
                <a:cs typeface="Fira Sans"/>
                <a:sym typeface="Fira Sans"/>
              </a:rPr>
              <a:t>Product Software</a:t>
            </a:r>
          </a:p>
          <a:p>
            <a:pPr marR="0" lvl="0" indent="-457200" algn="l" rtl="0">
              <a:lnSpc>
                <a:spcPct val="100000"/>
              </a:lnSpc>
              <a:spcBef>
                <a:spcPts val="0"/>
              </a:spcBef>
              <a:spcAft>
                <a:spcPts val="0"/>
              </a:spcAft>
              <a:buFont typeface="Arial" panose="020B0604020202020204" pitchFamily="34" charset="0"/>
              <a:buChar char="•"/>
            </a:pPr>
            <a:endParaRPr lang="en-US" sz="1400" dirty="0">
              <a:solidFill>
                <a:schemeClr val="dk1"/>
              </a:solidFill>
              <a:latin typeface="+mn-lt"/>
              <a:ea typeface="Fira Sans"/>
              <a:cs typeface="Fira Sans"/>
              <a:sym typeface="Fira Sans"/>
            </a:endParaRPr>
          </a:p>
          <a:p>
            <a:pPr marR="0" lvl="0" indent="-457200" algn="l" rtl="0">
              <a:lnSpc>
                <a:spcPct val="100000"/>
              </a:lnSpc>
              <a:spcBef>
                <a:spcPts val="0"/>
              </a:spcBef>
              <a:spcAft>
                <a:spcPts val="0"/>
              </a:spcAft>
              <a:buFont typeface="Arial" panose="020B0604020202020204" pitchFamily="34" charset="0"/>
              <a:buChar char="•"/>
            </a:pPr>
            <a:r>
              <a:rPr lang="en-US" sz="1400" dirty="0">
                <a:solidFill>
                  <a:schemeClr val="dk1"/>
                </a:solidFill>
                <a:latin typeface="+mn-lt"/>
                <a:ea typeface="Fira Sans"/>
                <a:cs typeface="Fira Sans"/>
                <a:sym typeface="Fira Sans"/>
              </a:rPr>
              <a:t>Project Software</a:t>
            </a:r>
          </a:p>
          <a:p>
            <a:pPr marL="0" marR="0" lvl="0" indent="0" algn="l" rtl="0">
              <a:lnSpc>
                <a:spcPct val="100000"/>
              </a:lnSpc>
              <a:spcBef>
                <a:spcPts val="0"/>
              </a:spcBef>
              <a:spcAft>
                <a:spcPts val="0"/>
              </a:spcAft>
              <a:buNone/>
            </a:pPr>
            <a:endParaRPr lang="en-US" sz="1400" dirty="0">
              <a:solidFill>
                <a:schemeClr val="dk1"/>
              </a:solidFill>
              <a:latin typeface="Fira Sans"/>
              <a:ea typeface="Fira Sans"/>
              <a:cs typeface="Fira Sans"/>
              <a:sym typeface="Fira Sans"/>
            </a:endParaRPr>
          </a:p>
          <a:p>
            <a:pPr marL="0" marR="0" lvl="0" indent="0" algn="l" rtl="0">
              <a:lnSpc>
                <a:spcPct val="100000"/>
              </a:lnSpc>
              <a:spcBef>
                <a:spcPts val="0"/>
              </a:spcBef>
              <a:spcAft>
                <a:spcPts val="0"/>
              </a:spcAft>
              <a:buNone/>
            </a:pPr>
            <a:endParaRPr sz="1400" dirty="0">
              <a:solidFill>
                <a:schemeClr val="dk1"/>
              </a:solidFill>
              <a:latin typeface="Fira Sans"/>
              <a:ea typeface="Fira Sans"/>
              <a:cs typeface="Fira Sans"/>
              <a:sym typeface="Fira Sans"/>
            </a:endParaRPr>
          </a:p>
        </p:txBody>
      </p:sp>
      <p:pic>
        <p:nvPicPr>
          <p:cNvPr id="2" name="Picture 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5888334" y="2019719"/>
            <a:ext cx="3255666" cy="258242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Product </a:t>
            </a:r>
            <a:r>
              <a:rPr lang="en-IN" b="1" dirty="0"/>
              <a:t>Software:</a:t>
            </a:r>
            <a:br>
              <a:rPr lang="en-IN" b="1" dirty="0"/>
            </a:br>
            <a:r>
              <a:rPr lang="en-IN" dirty="0"/>
              <a:t/>
            </a:r>
            <a:br>
              <a:rPr lang="en-IN" dirty="0"/>
            </a:br>
            <a:r>
              <a:rPr lang="en-IN" sz="1800" dirty="0"/>
              <a:t>Product software is Developing software for segment of customer. (Group of customer)</a:t>
            </a:r>
            <a:br>
              <a:rPr lang="en-IN" sz="1800" dirty="0"/>
            </a:br>
            <a:r>
              <a:rPr lang="en-IN" dirty="0"/>
              <a:t/>
            </a:r>
            <a:br>
              <a:rPr lang="en-IN" dirty="0"/>
            </a:br>
            <a:r>
              <a:rPr lang="en-IN" b="1" dirty="0"/>
              <a:t>Project Software:</a:t>
            </a:r>
            <a:br>
              <a:rPr lang="en-IN" b="1" dirty="0"/>
            </a:br>
            <a:r>
              <a:rPr lang="en-IN" dirty="0"/>
              <a:t/>
            </a:r>
            <a:br>
              <a:rPr lang="en-IN" dirty="0"/>
            </a:br>
            <a:r>
              <a:rPr lang="en-IN" sz="1800" dirty="0"/>
              <a:t>Project software is Developing software for single Client</a:t>
            </a:r>
            <a:r>
              <a:rPr lang="en-IN" sz="1800" dirty="0" smtClean="0"/>
              <a:t>.</a:t>
            </a:r>
            <a:br>
              <a:rPr lang="en-IN" sz="1800" dirty="0" smtClean="0"/>
            </a:br>
            <a:r>
              <a:rPr lang="en-IN" sz="1800" dirty="0" smtClean="0"/>
              <a:t/>
            </a:r>
            <a:br>
              <a:rPr lang="en-IN" sz="1800" dirty="0" smtClean="0"/>
            </a:br>
            <a:r>
              <a:rPr lang="en-IN" sz="1800" dirty="0" smtClean="0"/>
              <a:t/>
            </a:r>
            <a:br>
              <a:rPr lang="en-IN" sz="1800" dirty="0" smtClean="0"/>
            </a:br>
            <a:r>
              <a:rPr lang="en-IN" sz="1800" dirty="0" smtClean="0"/>
              <a:t/>
            </a:r>
            <a:br>
              <a:rPr lang="en-IN" sz="1800" dirty="0" smtClean="0"/>
            </a:br>
            <a:endParaRPr lang="en-IN" sz="1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Tree>
    <p:extLst>
      <p:ext uri="{BB962C8B-B14F-4D97-AF65-F5344CB8AC3E}">
        <p14:creationId xmlns="" xmlns:p14="http://schemas.microsoft.com/office/powerpoint/2010/main" val="3194415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1800" b="1" dirty="0">
                <a:latin typeface="+mn-lt"/>
              </a:rPr>
              <a:t>As per the work there are two different types of companies </a:t>
            </a:r>
            <a:br>
              <a:rPr lang="en-IN" sz="1800" b="1" dirty="0">
                <a:latin typeface="+mn-lt"/>
              </a:rPr>
            </a:br>
            <a:r>
              <a:rPr lang="en-IN" sz="1800" b="1" dirty="0">
                <a:latin typeface="+mn-lt"/>
              </a:rPr>
              <a:t>available in industries</a:t>
            </a:r>
          </a:p>
        </p:txBody>
      </p:sp>
      <p:sp>
        <p:nvSpPr>
          <p:cNvPr id="3" name="Text Placeholder 2"/>
          <p:cNvSpPr>
            <a:spLocks noGrp="1"/>
          </p:cNvSpPr>
          <p:nvPr>
            <p:ph type="body" idx="1"/>
          </p:nvPr>
        </p:nvSpPr>
        <p:spPr>
          <a:xfrm>
            <a:off x="361941" y="1698172"/>
            <a:ext cx="7415483" cy="2981234"/>
          </a:xfrm>
        </p:spPr>
        <p:txBody>
          <a:bodyPr>
            <a:normAutofit/>
          </a:bodyPr>
          <a:lstStyle/>
          <a:p>
            <a:r>
              <a:rPr lang="en-IN" dirty="0">
                <a:solidFill>
                  <a:schemeClr val="tx1"/>
                </a:solidFill>
              </a:rPr>
              <a:t>Service Based Companies</a:t>
            </a:r>
          </a:p>
          <a:p>
            <a:endParaRPr lang="en-IN" dirty="0">
              <a:solidFill>
                <a:schemeClr val="tx1"/>
              </a:solidFill>
            </a:endParaRPr>
          </a:p>
          <a:p>
            <a:r>
              <a:rPr lang="en-IN" dirty="0">
                <a:solidFill>
                  <a:schemeClr val="tx1"/>
                </a:solidFill>
              </a:rPr>
              <a:t>Product Based </a:t>
            </a:r>
            <a:r>
              <a:rPr lang="en-IN" dirty="0" smtClean="0">
                <a:solidFill>
                  <a:schemeClr val="tx1"/>
                </a:solidFill>
              </a:rPr>
              <a:t>Companies</a:t>
            </a:r>
          </a:p>
          <a:p>
            <a:endParaRPr lang="en-IN" dirty="0" smtClean="0">
              <a:solidFill>
                <a:schemeClr val="tx1"/>
              </a:solidFill>
            </a:endParaRPr>
          </a:p>
          <a:p>
            <a:pPr>
              <a:buNone/>
            </a:pPr>
            <a:endParaRPr lang="en-IN" sz="1600" dirty="0" smtClean="0">
              <a:solidFill>
                <a:schemeClr val="dk1"/>
              </a:solidFill>
            </a:endParaRPr>
          </a:p>
          <a:p>
            <a:pPr>
              <a:buNone/>
            </a:pPr>
            <a:r>
              <a:rPr lang="en-IN" sz="1600" b="1" dirty="0" smtClean="0">
                <a:solidFill>
                  <a:schemeClr val="dk1"/>
                </a:solidFill>
              </a:rPr>
              <a:t>Note</a:t>
            </a:r>
            <a:r>
              <a:rPr lang="en-IN" sz="1600" b="1" dirty="0" smtClean="0">
                <a:solidFill>
                  <a:schemeClr val="dk1"/>
                </a:solidFill>
              </a:rPr>
              <a:t>:</a:t>
            </a:r>
            <a:r>
              <a:rPr lang="en-IN" sz="1600" dirty="0" smtClean="0">
                <a:solidFill>
                  <a:schemeClr val="dk1"/>
                </a:solidFill>
              </a:rPr>
              <a:t/>
            </a:r>
            <a:br>
              <a:rPr lang="en-IN" sz="1600" dirty="0" smtClean="0">
                <a:solidFill>
                  <a:schemeClr val="dk1"/>
                </a:solidFill>
              </a:rPr>
            </a:br>
            <a:r>
              <a:rPr lang="en-GB" sz="1600" dirty="0" smtClean="0">
                <a:solidFill>
                  <a:schemeClr val="dk1"/>
                </a:solidFill>
              </a:rPr>
              <a:t>product-based companies (which develop their own software for multiple users) and service-based companies (which focus on individual projects for clients)</a:t>
            </a:r>
            <a:endParaRPr lang="en-IN" sz="1600" dirty="0">
              <a:solidFill>
                <a:schemeClr val="dk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dirty="0"/>
          </a:p>
        </p:txBody>
      </p:sp>
    </p:spTree>
    <p:extLst>
      <p:ext uri="{BB962C8B-B14F-4D97-AF65-F5344CB8AC3E}">
        <p14:creationId xmlns="" xmlns:p14="http://schemas.microsoft.com/office/powerpoint/2010/main" val="3182850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fontScale="92500" lnSpcReduction="20000"/>
          </a:bodyPr>
          <a:lstStyle/>
          <a:p>
            <a:r>
              <a:rPr lang="en-IN" b="1" dirty="0">
                <a:solidFill>
                  <a:schemeClr val="tx1"/>
                </a:solidFill>
                <a:latin typeface="+mn-lt"/>
              </a:rPr>
              <a:t>Product Based Company: </a:t>
            </a:r>
            <a:r>
              <a:rPr lang="en-IN" dirty="0">
                <a:solidFill>
                  <a:schemeClr val="tx1"/>
                </a:solidFill>
                <a:latin typeface="+mn-lt"/>
              </a:rPr>
              <a:t>A company which is focusing on developing their own software is called product based company. </a:t>
            </a:r>
          </a:p>
          <a:p>
            <a:pPr marL="114300" indent="0">
              <a:buNone/>
            </a:pPr>
            <a:r>
              <a:rPr lang="en-IN" dirty="0">
                <a:solidFill>
                  <a:schemeClr val="tx1"/>
                </a:solidFill>
                <a:latin typeface="+mn-lt"/>
              </a:rPr>
              <a:t>Ex. Microsoft, Amazon, Google</a:t>
            </a:r>
          </a:p>
          <a:p>
            <a:pPr marL="114300" indent="0">
              <a:buNone/>
            </a:pPr>
            <a:endParaRPr lang="en-IN" dirty="0">
              <a:solidFill>
                <a:schemeClr val="tx1"/>
              </a:solidFill>
              <a:latin typeface="+mn-lt"/>
            </a:endParaRPr>
          </a:p>
          <a:p>
            <a:pPr marL="114300" indent="0">
              <a:buNone/>
            </a:pPr>
            <a:endParaRPr lang="en-IN" dirty="0">
              <a:solidFill>
                <a:schemeClr val="tx1"/>
              </a:solidFill>
              <a:latin typeface="+mn-lt"/>
            </a:endParaRPr>
          </a:p>
          <a:p>
            <a:pPr marL="114300" indent="0">
              <a:buNone/>
            </a:pPr>
            <a:endParaRPr lang="en-IN" dirty="0">
              <a:solidFill>
                <a:schemeClr val="tx1"/>
              </a:solidFill>
              <a:latin typeface="+mn-lt"/>
            </a:endParaRPr>
          </a:p>
          <a:p>
            <a:r>
              <a:rPr lang="en-IN" b="1" dirty="0">
                <a:solidFill>
                  <a:schemeClr val="tx1"/>
                </a:solidFill>
                <a:latin typeface="+mn-lt"/>
              </a:rPr>
              <a:t>Service Based Company: </a:t>
            </a:r>
            <a:r>
              <a:rPr lang="en-IN" dirty="0">
                <a:solidFill>
                  <a:schemeClr val="tx1"/>
                </a:solidFill>
                <a:latin typeface="+mn-lt"/>
              </a:rPr>
              <a:t>A company which is mainly focusing on individual project for individual client is called Service based company. </a:t>
            </a:r>
          </a:p>
          <a:p>
            <a:pPr marL="114300" indent="0">
              <a:buNone/>
            </a:pPr>
            <a:r>
              <a:rPr lang="en-IN" dirty="0">
                <a:solidFill>
                  <a:schemeClr val="tx1"/>
                </a:solidFill>
                <a:latin typeface="+mn-lt"/>
              </a:rPr>
              <a:t>Ex. Accenture, Wipro, Infosys, TCS</a:t>
            </a:r>
          </a:p>
          <a:p>
            <a:pPr marL="114300" indent="0">
              <a:buNone/>
            </a:pPr>
            <a:endParaRPr lang="en-IN" dirty="0"/>
          </a:p>
          <a:p>
            <a:pPr marL="114300" indent="0">
              <a:buNone/>
            </a:pPr>
            <a:endParaRPr lang="en-IN" dirty="0"/>
          </a:p>
          <a:p>
            <a:pPr marL="114300" indent="0">
              <a:buNone/>
            </a:pPr>
            <a:endParaRPr lang="en-IN" dirty="0"/>
          </a:p>
          <a:p>
            <a:pPr marL="114300" indent="0">
              <a:buNone/>
            </a:pPr>
            <a:r>
              <a:rPr lang="en-IN"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extLst>
      <p:ext uri="{BB962C8B-B14F-4D97-AF65-F5344CB8AC3E}">
        <p14:creationId xmlns="" xmlns:p14="http://schemas.microsoft.com/office/powerpoint/2010/main" val="15207407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Software Development Life Cycle (SDLC)</a:t>
            </a:r>
          </a:p>
        </p:txBody>
      </p:sp>
      <p:sp>
        <p:nvSpPr>
          <p:cNvPr id="3" name="Text Placeholder 2"/>
          <p:cNvSpPr>
            <a:spLocks noGrp="1"/>
          </p:cNvSpPr>
          <p:nvPr>
            <p:ph type="body" idx="1"/>
          </p:nvPr>
        </p:nvSpPr>
        <p:spPr/>
        <p:txBody>
          <a:bodyPr>
            <a:normAutofit lnSpcReduction="10000"/>
          </a:bodyPr>
          <a:lstStyle/>
          <a:p>
            <a:pPr marL="114300" indent="0">
              <a:buNone/>
            </a:pPr>
            <a:r>
              <a:rPr lang="en-IN" sz="1600" dirty="0">
                <a:solidFill>
                  <a:schemeClr val="tx1"/>
                </a:solidFill>
              </a:rPr>
              <a:t>SDLC is the step-by-step process which we are following to complete the software project that includes both Development and Testing.</a:t>
            </a:r>
          </a:p>
          <a:p>
            <a:pPr marL="114300" indent="0">
              <a:buNone/>
            </a:pPr>
            <a:endParaRPr lang="en-IN" dirty="0"/>
          </a:p>
          <a:p>
            <a:pPr marL="114300" indent="0">
              <a:buNone/>
            </a:pPr>
            <a:r>
              <a:rPr lang="en-IN" sz="1600" b="1" dirty="0">
                <a:solidFill>
                  <a:schemeClr val="tx1"/>
                </a:solidFill>
              </a:rPr>
              <a:t>Different phases in SDLC:</a:t>
            </a:r>
          </a:p>
          <a:p>
            <a:pPr marL="114300" indent="0">
              <a:buNone/>
            </a:pPr>
            <a:endParaRPr lang="en-IN" sz="1600" dirty="0">
              <a:solidFill>
                <a:schemeClr val="tx1"/>
              </a:solidFill>
            </a:endParaRPr>
          </a:p>
          <a:p>
            <a:pPr>
              <a:buAutoNum type="arabicPeriod"/>
            </a:pPr>
            <a:r>
              <a:rPr lang="en-IN" sz="1600" dirty="0">
                <a:solidFill>
                  <a:schemeClr val="tx1"/>
                </a:solidFill>
              </a:rPr>
              <a:t>Requirement</a:t>
            </a:r>
          </a:p>
          <a:p>
            <a:pPr>
              <a:buAutoNum type="arabicPeriod"/>
            </a:pPr>
            <a:r>
              <a:rPr lang="en-IN" sz="1600" dirty="0">
                <a:solidFill>
                  <a:schemeClr val="tx1"/>
                </a:solidFill>
              </a:rPr>
              <a:t>Analysis</a:t>
            </a:r>
          </a:p>
          <a:p>
            <a:pPr>
              <a:buAutoNum type="arabicPeriod"/>
            </a:pPr>
            <a:r>
              <a:rPr lang="en-IN" sz="1600" dirty="0">
                <a:solidFill>
                  <a:schemeClr val="tx1"/>
                </a:solidFill>
              </a:rPr>
              <a:t>Design</a:t>
            </a:r>
          </a:p>
          <a:p>
            <a:pPr>
              <a:buAutoNum type="arabicPeriod"/>
            </a:pPr>
            <a:r>
              <a:rPr lang="en-IN" sz="1600" dirty="0">
                <a:solidFill>
                  <a:schemeClr val="tx1"/>
                </a:solidFill>
              </a:rPr>
              <a:t>Coding</a:t>
            </a:r>
          </a:p>
          <a:p>
            <a:pPr>
              <a:buAutoNum type="arabicPeriod"/>
            </a:pPr>
            <a:r>
              <a:rPr lang="en-IN" sz="1600" b="1" dirty="0">
                <a:solidFill>
                  <a:schemeClr val="tx1"/>
                </a:solidFill>
              </a:rPr>
              <a:t>Testing</a:t>
            </a:r>
          </a:p>
          <a:p>
            <a:pPr>
              <a:buAutoNum type="arabicPeriod"/>
            </a:pPr>
            <a:r>
              <a:rPr lang="en-IN" sz="1600" dirty="0">
                <a:solidFill>
                  <a:schemeClr val="tx1"/>
                </a:solidFill>
              </a:rPr>
              <a:t>Deployment</a:t>
            </a:r>
          </a:p>
          <a:p>
            <a:pPr>
              <a:buAutoNum type="arabicPeriod"/>
            </a:pPr>
            <a:r>
              <a:rPr lang="en-IN" sz="1600" dirty="0">
                <a:solidFill>
                  <a:schemeClr val="tx1"/>
                </a:solidFill>
              </a:rPr>
              <a:t>Release and Maintenance </a:t>
            </a:r>
          </a:p>
          <a:p>
            <a:pPr>
              <a:buAutoNum type="arabicPeriod"/>
            </a:pPr>
            <a:endParaRPr lang="en-IN" dirty="0"/>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4963886" y="1788607"/>
            <a:ext cx="3831544" cy="2863275"/>
          </a:xfrm>
          <a:prstGeom prst="rect">
            <a:avLst/>
          </a:prstGeom>
        </p:spPr>
      </p:pic>
    </p:spTree>
    <p:extLst>
      <p:ext uri="{BB962C8B-B14F-4D97-AF65-F5344CB8AC3E}">
        <p14:creationId xmlns="" xmlns:p14="http://schemas.microsoft.com/office/powerpoint/2010/main" val="2275335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Software Testing</a:t>
            </a:r>
          </a:p>
        </p:txBody>
      </p:sp>
      <p:sp>
        <p:nvSpPr>
          <p:cNvPr id="3" name="Text Placeholder 2"/>
          <p:cNvSpPr>
            <a:spLocks noGrp="1"/>
          </p:cNvSpPr>
          <p:nvPr>
            <p:ph type="body" idx="1"/>
          </p:nvPr>
        </p:nvSpPr>
        <p:spPr/>
        <p:txBody>
          <a:bodyPr/>
          <a:lstStyle/>
          <a:p>
            <a:pPr marL="114300" indent="0">
              <a:buNone/>
            </a:pPr>
            <a:r>
              <a:rPr lang="en-IN" dirty="0">
                <a:solidFill>
                  <a:schemeClr val="tx1"/>
                </a:solidFill>
                <a:latin typeface="+mn-lt"/>
              </a:rPr>
              <a:t>Preforming testing on the software application or product as per the client requirements is called Software Testing.</a:t>
            </a:r>
          </a:p>
          <a:p>
            <a:pPr marL="114300" indent="0">
              <a:buNone/>
            </a:pPr>
            <a:endParaRPr lang="en-IN" dirty="0">
              <a:solidFill>
                <a:schemeClr val="tx1"/>
              </a:solidFill>
              <a:latin typeface="+mn-lt"/>
            </a:endParaRPr>
          </a:p>
          <a:p>
            <a:pPr marL="114300" indent="0">
              <a:buNone/>
            </a:pPr>
            <a:r>
              <a:rPr lang="en-IN" dirty="0">
                <a:solidFill>
                  <a:schemeClr val="tx1"/>
                </a:solidFill>
                <a:latin typeface="+mn-lt"/>
              </a:rPr>
              <a:t>Software testing has been divided into two types </a:t>
            </a:r>
          </a:p>
          <a:p>
            <a:pPr marL="114300" indent="0">
              <a:buNone/>
            </a:pPr>
            <a:endParaRPr lang="en-IN" dirty="0">
              <a:solidFill>
                <a:schemeClr val="tx1"/>
              </a:solidFill>
              <a:latin typeface="+mn-lt"/>
            </a:endParaRPr>
          </a:p>
          <a:p>
            <a:pPr>
              <a:buAutoNum type="arabicPeriod"/>
            </a:pPr>
            <a:r>
              <a:rPr lang="en-IN" dirty="0">
                <a:solidFill>
                  <a:schemeClr val="tx1"/>
                </a:solidFill>
                <a:latin typeface="+mn-lt"/>
              </a:rPr>
              <a:t>Manual Testing</a:t>
            </a:r>
          </a:p>
          <a:p>
            <a:pPr>
              <a:buAutoNum type="arabicPeriod"/>
            </a:pPr>
            <a:r>
              <a:rPr lang="en-IN" dirty="0">
                <a:solidFill>
                  <a:schemeClr val="tx1"/>
                </a:solidFill>
                <a:latin typeface="+mn-lt"/>
              </a:rPr>
              <a:t>Automation Testing</a:t>
            </a:r>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 xmlns:p14="http://schemas.microsoft.com/office/powerpoint/2010/main" val="5898588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Manual Testing</a:t>
            </a:r>
          </a:p>
        </p:txBody>
      </p:sp>
      <p:sp>
        <p:nvSpPr>
          <p:cNvPr id="3" name="Text Placeholder 2"/>
          <p:cNvSpPr>
            <a:spLocks noGrp="1"/>
          </p:cNvSpPr>
          <p:nvPr>
            <p:ph type="body" idx="1"/>
          </p:nvPr>
        </p:nvSpPr>
        <p:spPr>
          <a:xfrm>
            <a:off x="321749" y="1011798"/>
            <a:ext cx="8520600" cy="3416400"/>
          </a:xfrm>
        </p:spPr>
        <p:txBody>
          <a:bodyPr>
            <a:normAutofit/>
          </a:bodyPr>
          <a:lstStyle/>
          <a:p>
            <a:pPr marL="114300" indent="0">
              <a:buNone/>
            </a:pPr>
            <a:r>
              <a:rPr lang="en-IN" sz="1600" dirty="0">
                <a:solidFill>
                  <a:schemeClr val="tx1"/>
                </a:solidFill>
              </a:rPr>
              <a:t>Performing testing on software with human interaction is called Manual Testing. </a:t>
            </a:r>
          </a:p>
          <a:p>
            <a:pPr marL="114300" indent="0">
              <a:buNone/>
            </a:pPr>
            <a:endParaRPr lang="en-IN" sz="1600" dirty="0">
              <a:solidFill>
                <a:schemeClr val="tx1"/>
              </a:solidFill>
            </a:endParaRPr>
          </a:p>
          <a:p>
            <a:pPr marL="114300" indent="0">
              <a:buNone/>
            </a:pPr>
            <a:r>
              <a:rPr lang="en-IN" sz="1600" dirty="0">
                <a:solidFill>
                  <a:schemeClr val="tx1"/>
                </a:solidFill>
              </a:rPr>
              <a:t>Software manual testing is the process of evaluating and verifying that a software product or application does what it is supposed to do.</a:t>
            </a:r>
          </a:p>
          <a:p>
            <a:pPr marL="114300" indent="0">
              <a:buNone/>
            </a:pPr>
            <a:endParaRPr lang="en-IN" sz="1600" dirty="0">
              <a:solidFill>
                <a:schemeClr val="tx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5114610" y="2170443"/>
            <a:ext cx="3533251" cy="2431701"/>
          </a:xfrm>
          <a:prstGeom prst="rect">
            <a:avLst/>
          </a:prstGeom>
        </p:spPr>
      </p:pic>
    </p:spTree>
    <p:extLst>
      <p:ext uri="{BB962C8B-B14F-4D97-AF65-F5344CB8AC3E}">
        <p14:creationId xmlns="" xmlns:p14="http://schemas.microsoft.com/office/powerpoint/2010/main" val="399629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Levels of Testing</a:t>
            </a:r>
          </a:p>
        </p:txBody>
      </p:sp>
      <p:sp>
        <p:nvSpPr>
          <p:cNvPr id="3" name="Text Placeholder 2"/>
          <p:cNvSpPr>
            <a:spLocks noGrp="1"/>
          </p:cNvSpPr>
          <p:nvPr>
            <p:ph type="body" idx="1"/>
          </p:nvPr>
        </p:nvSpPr>
        <p:spPr>
          <a:xfrm>
            <a:off x="331796" y="1413732"/>
            <a:ext cx="8520600" cy="3416400"/>
          </a:xfrm>
        </p:spPr>
        <p:txBody>
          <a:bodyPr/>
          <a:lstStyle/>
          <a:p>
            <a:r>
              <a:rPr lang="en-IN" sz="1600" dirty="0">
                <a:solidFill>
                  <a:schemeClr val="tx1"/>
                </a:solidFill>
              </a:rPr>
              <a:t>Smoke Testing</a:t>
            </a:r>
            <a:endParaRPr lang="en-IN" sz="800" dirty="0">
              <a:solidFill>
                <a:schemeClr val="tx1"/>
              </a:solidFill>
            </a:endParaRPr>
          </a:p>
          <a:p>
            <a:r>
              <a:rPr lang="en-IN" sz="1600" dirty="0">
                <a:solidFill>
                  <a:schemeClr val="tx1"/>
                </a:solidFill>
              </a:rPr>
              <a:t>Sanity Testing</a:t>
            </a:r>
          </a:p>
          <a:p>
            <a:r>
              <a:rPr lang="en-IN" sz="1600" dirty="0">
                <a:solidFill>
                  <a:schemeClr val="tx1"/>
                </a:solidFill>
              </a:rPr>
              <a:t>Installation Testing</a:t>
            </a:r>
          </a:p>
          <a:p>
            <a:r>
              <a:rPr lang="en-IN" sz="1600" dirty="0">
                <a:solidFill>
                  <a:schemeClr val="tx1"/>
                </a:solidFill>
              </a:rPr>
              <a:t>Black box testing</a:t>
            </a:r>
          </a:p>
          <a:p>
            <a:r>
              <a:rPr lang="en-IN" sz="1600" dirty="0">
                <a:solidFill>
                  <a:schemeClr val="tx1"/>
                </a:solidFill>
              </a:rPr>
              <a:t>White Box Testing</a:t>
            </a:r>
          </a:p>
          <a:p>
            <a:r>
              <a:rPr lang="en-IN" sz="1600" dirty="0">
                <a:solidFill>
                  <a:schemeClr val="tx1"/>
                </a:solidFill>
              </a:rPr>
              <a:t>UAT Testing</a:t>
            </a:r>
          </a:p>
          <a:p>
            <a:r>
              <a:rPr lang="en-IN" sz="1600" dirty="0">
                <a:solidFill>
                  <a:schemeClr val="tx1"/>
                </a:solidFill>
              </a:rPr>
              <a:t>Regression Testing</a:t>
            </a:r>
          </a:p>
          <a:p>
            <a:r>
              <a:rPr lang="en-IN" sz="1600" dirty="0">
                <a:solidFill>
                  <a:schemeClr val="tx1"/>
                </a:solidFill>
              </a:rPr>
              <a:t>Performance Testing</a:t>
            </a:r>
          </a:p>
          <a:p>
            <a:r>
              <a:rPr lang="en-IN" sz="1600" dirty="0">
                <a:solidFill>
                  <a:schemeClr val="tx1"/>
                </a:solidFill>
              </a:rPr>
              <a:t>Usability Testing</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extLst>
      <p:ext uri="{BB962C8B-B14F-4D97-AF65-F5344CB8AC3E}">
        <p14:creationId xmlns="" xmlns:p14="http://schemas.microsoft.com/office/powerpoint/2010/main" val="3410457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Smoke Testing</a:t>
            </a:r>
          </a:p>
        </p:txBody>
      </p:sp>
      <p:sp>
        <p:nvSpPr>
          <p:cNvPr id="3" name="Text Placeholder 2"/>
          <p:cNvSpPr>
            <a:spLocks noGrp="1"/>
          </p:cNvSpPr>
          <p:nvPr>
            <p:ph type="body" idx="1"/>
          </p:nvPr>
        </p:nvSpPr>
        <p:spPr/>
        <p:txBody>
          <a:bodyPr/>
          <a:lstStyle/>
          <a:p>
            <a:pPr marL="114300" lvl="0" indent="0">
              <a:buNone/>
            </a:pPr>
            <a:r>
              <a:rPr lang="en-IN" sz="1600" dirty="0">
                <a:solidFill>
                  <a:schemeClr val="tx1"/>
                </a:solidFill>
              </a:rPr>
              <a:t>Smoke Testing confirms the basic functionality works for a product. Smoke Testing verify the stability of the build</a:t>
            </a:r>
            <a:r>
              <a:rPr lang="en-IN" dirty="0"/>
              <a:t>.</a:t>
            </a:r>
          </a:p>
          <a:p>
            <a:pPr marL="114300" lvl="0" indent="0">
              <a:buNone/>
            </a:pPr>
            <a:r>
              <a:rPr lang="en-IN" sz="1600" dirty="0">
                <a:solidFill>
                  <a:schemeClr val="tx1"/>
                </a:solidFill>
              </a:rPr>
              <a:t>Validating </a:t>
            </a:r>
            <a:r>
              <a:rPr lang="en-IN" sz="1600">
                <a:solidFill>
                  <a:schemeClr val="tx1"/>
                </a:solidFill>
              </a:rPr>
              <a:t>the </a:t>
            </a:r>
            <a:r>
              <a:rPr lang="en-IN" sz="1600" smtClean="0">
                <a:solidFill>
                  <a:schemeClr val="tx1"/>
                </a:solidFill>
              </a:rPr>
              <a:t>basic functionality </a:t>
            </a:r>
            <a:r>
              <a:rPr lang="en-IN" sz="1600" dirty="0">
                <a:solidFill>
                  <a:schemeClr val="tx1"/>
                </a:solidFill>
              </a:rPr>
              <a:t>of the application.</a:t>
            </a:r>
          </a:p>
          <a:p>
            <a:pPr marL="114300" lvl="0" indent="0">
              <a:buNone/>
            </a:pPr>
            <a:endParaRPr lang="en-IN" dirty="0"/>
          </a:p>
          <a:p>
            <a:pPr marL="114300" lvl="0" indent="0">
              <a:buNone/>
            </a:pPr>
            <a:r>
              <a:rPr lang="en-IN" sz="2500" b="1" dirty="0">
                <a:solidFill>
                  <a:schemeClr val="tx1"/>
                </a:solidFill>
              </a:rPr>
              <a:t>Sanity Testing</a:t>
            </a:r>
            <a:endParaRPr lang="en-IN" sz="2500" dirty="0">
              <a:solidFill>
                <a:schemeClr val="tx1"/>
              </a:solidFill>
            </a:endParaRPr>
          </a:p>
          <a:p>
            <a:pPr marL="114300" lvl="0" indent="0">
              <a:buNone/>
            </a:pPr>
            <a:endParaRPr lang="en-IN" dirty="0"/>
          </a:p>
          <a:p>
            <a:pPr marL="114300" indent="0">
              <a:buNone/>
            </a:pPr>
            <a:r>
              <a:rPr lang="en-IN" sz="1600" dirty="0">
                <a:solidFill>
                  <a:schemeClr val="dk1"/>
                </a:solidFill>
              </a:rPr>
              <a:t>Sanity testing is detailed testing of each functionality to ensure that product/software runs without any logical error.</a:t>
            </a:r>
            <a:endParaRPr lang="en-IN" sz="1600" dirty="0">
              <a:ea typeface="Fira Sans"/>
              <a:cs typeface="Fira Sans"/>
              <a:sym typeface="Fira Sans"/>
            </a:endParaRPr>
          </a:p>
          <a:p>
            <a:pPr marL="114300" lvl="0" indent="0">
              <a:buNone/>
            </a:pPr>
            <a:endParaRPr lang="en-IN" sz="1600" dirty="0">
              <a:ea typeface="Fira Sans"/>
              <a:cs typeface="Fira Sans"/>
              <a:sym typeface="Fira Sans"/>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extLst>
      <p:ext uri="{BB962C8B-B14F-4D97-AF65-F5344CB8AC3E}">
        <p14:creationId xmlns="" xmlns:p14="http://schemas.microsoft.com/office/powerpoint/2010/main" val="4106031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Points to Rember for Smoke Testing</a:t>
            </a:r>
          </a:p>
        </p:txBody>
      </p:sp>
      <p:sp>
        <p:nvSpPr>
          <p:cNvPr id="3" name="Text Placeholder 2"/>
          <p:cNvSpPr>
            <a:spLocks noGrp="1"/>
          </p:cNvSpPr>
          <p:nvPr>
            <p:ph type="body" idx="1"/>
          </p:nvPr>
        </p:nvSpPr>
        <p:spPr>
          <a:xfrm>
            <a:off x="311700" y="1246817"/>
            <a:ext cx="8520600" cy="3416400"/>
          </a:xfrm>
        </p:spPr>
        <p:txBody>
          <a:bodyPr>
            <a:normAutofit/>
          </a:bodyPr>
          <a:lstStyle/>
          <a:p>
            <a:pPr lvl="0">
              <a:buFont typeface="Wingdings" panose="05000000000000000000" pitchFamily="2" charset="2"/>
              <a:buChar char="ü"/>
            </a:pPr>
            <a:r>
              <a:rPr lang="en-IN" sz="1600" dirty="0">
                <a:solidFill>
                  <a:schemeClr val="tx1"/>
                </a:solidFill>
              </a:rPr>
              <a:t>Smoke Testing confirms the basic functionality works for a product. Smoke Testing verify the stability of the build</a:t>
            </a:r>
            <a:r>
              <a:rPr lang="en-IN" dirty="0"/>
              <a:t>.</a:t>
            </a:r>
          </a:p>
          <a:p>
            <a:pPr lvl="0">
              <a:buFont typeface="Wingdings" panose="05000000000000000000" pitchFamily="2" charset="2"/>
              <a:buChar char="ü"/>
            </a:pPr>
            <a:r>
              <a:rPr lang="en-IN" sz="1600" dirty="0">
                <a:solidFill>
                  <a:schemeClr val="tx1"/>
                </a:solidFill>
              </a:rPr>
              <a:t>Smoke Testing is a type of software testing, and it is performed to check that the new build is stable and further testing can be performed.</a:t>
            </a:r>
          </a:p>
          <a:p>
            <a:pPr lvl="0">
              <a:buFont typeface="Wingdings" panose="05000000000000000000" pitchFamily="2" charset="2"/>
              <a:buChar char="ü"/>
            </a:pPr>
            <a:r>
              <a:rPr lang="en-IN" sz="1600" dirty="0">
                <a:solidFill>
                  <a:schemeClr val="tx1"/>
                </a:solidFill>
              </a:rPr>
              <a:t>Smoke Testing perform before sanity testing.</a:t>
            </a:r>
          </a:p>
          <a:p>
            <a:pPr lvl="0">
              <a:buFont typeface="Wingdings" panose="05000000000000000000" pitchFamily="2" charset="2"/>
              <a:buChar char="ü"/>
            </a:pPr>
            <a:r>
              <a:rPr lang="en-IN" sz="1600" dirty="0">
                <a:solidFill>
                  <a:schemeClr val="tx1"/>
                </a:solidFill>
              </a:rPr>
              <a:t>Smoke Testing is performed every time when there is a new build.</a:t>
            </a:r>
          </a:p>
          <a:p>
            <a:pPr lvl="0">
              <a:buFont typeface="Wingdings" panose="05000000000000000000" pitchFamily="2" charset="2"/>
              <a:buChar char="ü"/>
            </a:pPr>
            <a:r>
              <a:rPr lang="en-IN" sz="1600" dirty="0">
                <a:solidFill>
                  <a:schemeClr val="tx1"/>
                </a:solidFill>
              </a:rPr>
              <a:t>The actual concept of smoke testing is to check whether there is any code crack or leakage in the new build.</a:t>
            </a:r>
          </a:p>
          <a:p>
            <a:pPr lvl="0">
              <a:buFont typeface="Wingdings" panose="05000000000000000000" pitchFamily="2" charset="2"/>
              <a:buChar char="ü"/>
            </a:pPr>
            <a:r>
              <a:rPr lang="en-IN" sz="1600" dirty="0">
                <a:solidFill>
                  <a:schemeClr val="tx1"/>
                </a:solidFill>
              </a:rPr>
              <a:t>Smoke Testing is also called Build Verification Testing</a:t>
            </a:r>
          </a:p>
          <a:p>
            <a:pPr marL="114300" lvl="0" indent="0">
              <a:buNone/>
            </a:pPr>
            <a:endParaRPr lang="en-IN" dirty="0"/>
          </a:p>
          <a:p>
            <a:pPr marL="114300" lvl="0" indent="0">
              <a:buNone/>
            </a:pPr>
            <a:endParaRPr lang="en-IN" sz="1600" dirty="0">
              <a:ea typeface="Fira Sans"/>
              <a:cs typeface="Fira Sans"/>
              <a:sym typeface="Fira Sans"/>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extLst>
      <p:ext uri="{BB962C8B-B14F-4D97-AF65-F5344CB8AC3E}">
        <p14:creationId xmlns="" xmlns:p14="http://schemas.microsoft.com/office/powerpoint/2010/main" val="160779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Points to Rember for Sanity Testing</a:t>
            </a:r>
          </a:p>
        </p:txBody>
      </p:sp>
      <p:sp>
        <p:nvSpPr>
          <p:cNvPr id="3" name="Text Placeholder 2"/>
          <p:cNvSpPr>
            <a:spLocks noGrp="1"/>
          </p:cNvSpPr>
          <p:nvPr>
            <p:ph type="body" idx="1"/>
          </p:nvPr>
        </p:nvSpPr>
        <p:spPr>
          <a:xfrm>
            <a:off x="311700" y="1246817"/>
            <a:ext cx="8520600" cy="3416400"/>
          </a:xfrm>
        </p:spPr>
        <p:txBody>
          <a:bodyPr>
            <a:normAutofit/>
          </a:bodyPr>
          <a:lstStyle/>
          <a:p>
            <a:pPr>
              <a:buFont typeface="Wingdings" panose="05000000000000000000" pitchFamily="2" charset="2"/>
              <a:buChar char="ü"/>
            </a:pPr>
            <a:r>
              <a:rPr lang="en-IN" sz="1600" dirty="0">
                <a:solidFill>
                  <a:schemeClr val="dk1"/>
                </a:solidFill>
              </a:rPr>
              <a:t>Sanity testing is detailed testing of each functionality to ensure that product/software runs without any logical error.</a:t>
            </a:r>
            <a:endParaRPr lang="en-IN" sz="1600" dirty="0">
              <a:solidFill>
                <a:schemeClr val="tx1"/>
              </a:solidFill>
            </a:endParaRPr>
          </a:p>
          <a:p>
            <a:pPr lvl="0">
              <a:buFont typeface="Wingdings" panose="05000000000000000000" pitchFamily="2" charset="2"/>
              <a:buChar char="ü"/>
            </a:pPr>
            <a:r>
              <a:rPr lang="en-IN" sz="1600" dirty="0">
                <a:solidFill>
                  <a:schemeClr val="tx1"/>
                </a:solidFill>
              </a:rPr>
              <a:t>Sanity Testing is a type of software testing, and it is performed at the end to check that the build is as expected, and all the flows are working correctly after bug fix or code changes. </a:t>
            </a:r>
          </a:p>
          <a:p>
            <a:pPr lvl="0">
              <a:buFont typeface="Wingdings" panose="05000000000000000000" pitchFamily="2" charset="2"/>
              <a:buChar char="ü"/>
            </a:pPr>
            <a:r>
              <a:rPr lang="en-IN" sz="1600" dirty="0">
                <a:solidFill>
                  <a:schemeClr val="tx1"/>
                </a:solidFill>
              </a:rPr>
              <a:t>Sanity Testing performed after Smoke Testing.</a:t>
            </a:r>
          </a:p>
          <a:p>
            <a:pPr lvl="0">
              <a:buFont typeface="Wingdings" panose="05000000000000000000" pitchFamily="2" charset="2"/>
              <a:buChar char="ü"/>
            </a:pPr>
            <a:r>
              <a:rPr lang="en-IN" sz="1600" dirty="0">
                <a:solidFill>
                  <a:schemeClr val="tx1"/>
                </a:solidFill>
              </a:rPr>
              <a:t>Sanity Testing is performed at the end or after the code changes or bug fix.</a:t>
            </a:r>
          </a:p>
          <a:p>
            <a:pPr lvl="0">
              <a:buFont typeface="Wingdings" panose="05000000000000000000" pitchFamily="2" charset="2"/>
              <a:buChar char="ü"/>
            </a:pPr>
            <a:r>
              <a:rPr lang="en-IN" sz="1600" dirty="0">
                <a:solidFill>
                  <a:schemeClr val="tx1"/>
                </a:solidFill>
              </a:rPr>
              <a:t>The actual concept of Sanity Testing is to check the build is working smoothly and as expected with new changes or after bug fixes.</a:t>
            </a:r>
          </a:p>
          <a:p>
            <a:pPr marL="114300" lvl="0" indent="0">
              <a:buNone/>
            </a:pPr>
            <a:endParaRPr lang="en-IN" sz="1600" dirty="0">
              <a:ea typeface="Fira Sans"/>
              <a:cs typeface="Fira Sans"/>
              <a:sym typeface="Fira Sans"/>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extLst>
      <p:ext uri="{BB962C8B-B14F-4D97-AF65-F5344CB8AC3E}">
        <p14:creationId xmlns="" xmlns:p14="http://schemas.microsoft.com/office/powerpoint/2010/main" val="161766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IN" b="1" dirty="0">
                <a:latin typeface="Fira Sans"/>
                <a:ea typeface="Fira Sans"/>
                <a:cs typeface="Fira Sans"/>
                <a:sym typeface="Fira Sans"/>
              </a:rPr>
              <a:t>Difference Between Sanity Testing and Smoke Testing</a:t>
            </a:r>
            <a:endParaRPr b="1" dirty="0">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pPr marL="0" lvl="0" indent="0" algn="r" rtl="0">
                <a:lnSpc>
                  <a:spcPct val="100000"/>
                </a:lnSpc>
                <a:spcBef>
                  <a:spcPts val="0"/>
                </a:spcBef>
                <a:spcAft>
                  <a:spcPts val="0"/>
                </a:spcAft>
                <a:buSzPts val="1000"/>
                <a:buNone/>
              </a:pPr>
              <a:t>13</a:t>
            </a:fld>
            <a:endParaRPr/>
          </a:p>
        </p:txBody>
      </p:sp>
      <p:graphicFrame>
        <p:nvGraphicFramePr>
          <p:cNvPr id="87" name="Google Shape;87;p4"/>
          <p:cNvGraphicFramePr/>
          <p:nvPr/>
        </p:nvGraphicFramePr>
        <p:xfrm>
          <a:off x="538583" y="1169090"/>
          <a:ext cx="7707075" cy="3100421"/>
        </p:xfrm>
        <a:graphic>
          <a:graphicData uri="http://schemas.openxmlformats.org/drawingml/2006/table">
            <a:tbl>
              <a:tblPr firstRow="1" bandRow="1">
                <a:noFill/>
                <a:tableStyleId>{D99E39AB-BF7C-4983-8E33-9161A9736C17}</a:tableStyleId>
              </a:tblPr>
              <a:tblGrid>
                <a:gridCol w="3880791">
                  <a:extLst>
                    <a:ext uri="{9D8B030D-6E8A-4147-A177-3AD203B41FA5}">
                      <a16:colId xmlns="" xmlns:a16="http://schemas.microsoft.com/office/drawing/2014/main" val="20000"/>
                    </a:ext>
                  </a:extLst>
                </a:gridCol>
                <a:gridCol w="3826284">
                  <a:extLst>
                    <a:ext uri="{9D8B030D-6E8A-4147-A177-3AD203B41FA5}">
                      <a16:colId xmlns="" xmlns:a16="http://schemas.microsoft.com/office/drawing/2014/main" val="20001"/>
                    </a:ext>
                  </a:extLst>
                </a:gridCol>
              </a:tblGrid>
              <a:tr h="318125">
                <a:tc>
                  <a:txBody>
                    <a:bodyPr/>
                    <a:lstStyle/>
                    <a:p>
                      <a:pPr marL="0" marR="0" lvl="0" indent="0" algn="ctr" rtl="0">
                        <a:lnSpc>
                          <a:spcPct val="100000"/>
                        </a:lnSpc>
                        <a:spcBef>
                          <a:spcPts val="0"/>
                        </a:spcBef>
                        <a:spcAft>
                          <a:spcPts val="0"/>
                        </a:spcAft>
                        <a:buNone/>
                      </a:pPr>
                      <a:r>
                        <a:rPr lang="en-IN" sz="1600" u="none" strike="noStrike" cap="none" dirty="0">
                          <a:solidFill>
                            <a:schemeClr val="dk1"/>
                          </a:solidFill>
                          <a:latin typeface="Fira Sans"/>
                          <a:ea typeface="Fira Sans"/>
                          <a:cs typeface="Fira Sans"/>
                          <a:sym typeface="Fira Sans"/>
                        </a:rPr>
                        <a:t>Sanity Testing</a:t>
                      </a:r>
                      <a:endParaRPr sz="1600" u="none" strike="noStrike" cap="none" dirty="0">
                        <a:solidFill>
                          <a:schemeClr val="dk1"/>
                        </a:solidFill>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None/>
                      </a:pPr>
                      <a:r>
                        <a:rPr lang="en-IN" sz="1600" u="none" strike="noStrike" cap="none" dirty="0">
                          <a:solidFill>
                            <a:schemeClr val="dk1"/>
                          </a:solidFill>
                          <a:latin typeface="Fira Sans"/>
                          <a:ea typeface="Fira Sans"/>
                          <a:cs typeface="Fira Sans"/>
                          <a:sym typeface="Fira Sans"/>
                        </a:rPr>
                        <a:t>Smoke Testing</a:t>
                      </a:r>
                      <a:endParaRPr sz="1600" u="none" strike="noStrike" cap="none" dirty="0">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solidFill>
                      <a:srgbClr val="64E688"/>
                    </a:solidFill>
                  </a:tcPr>
                </a:tc>
                <a:extLst>
                  <a:ext uri="{0D108BD9-81ED-4DB2-BD59-A6C34878D82A}">
                    <a16:rowId xmlns="" xmlns:a16="http://schemas.microsoft.com/office/drawing/2014/main" val="10000"/>
                  </a:ext>
                </a:extLst>
              </a:tr>
              <a:tr h="619083">
                <a:tc>
                  <a:txBody>
                    <a:bodyPr/>
                    <a:lstStyle/>
                    <a:p>
                      <a:pPr marL="457200" marR="0" lvl="0" indent="-317500" algn="l" rtl="0">
                        <a:lnSpc>
                          <a:spcPct val="100000"/>
                        </a:lnSpc>
                        <a:spcBef>
                          <a:spcPts val="0"/>
                        </a:spcBef>
                        <a:spcAft>
                          <a:spcPts val="0"/>
                        </a:spcAft>
                        <a:buSzPts val="1400"/>
                        <a:buFont typeface="Fira Sans"/>
                        <a:buAutoNum type="arabicPeriod"/>
                      </a:pPr>
                      <a:r>
                        <a:rPr lang="en-US" sz="1200" b="0" i="0" u="none" strike="noStrike" cap="none" dirty="0">
                          <a:solidFill>
                            <a:schemeClr val="dk1"/>
                          </a:solidFill>
                          <a:effectLst/>
                          <a:latin typeface="+mn-lt"/>
                          <a:ea typeface="Arial"/>
                          <a:cs typeface="Arial"/>
                          <a:sym typeface="Arial"/>
                        </a:rPr>
                        <a:t>Sanity testing is detailed testing of each functionality to ensure that product/software runs without any logical error.</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marR="0" lvl="0" indent="-317500" algn="l" rtl="0">
                        <a:lnSpc>
                          <a:spcPct val="100000"/>
                        </a:lnSpc>
                        <a:spcBef>
                          <a:spcPts val="0"/>
                        </a:spcBef>
                        <a:spcAft>
                          <a:spcPts val="0"/>
                        </a:spcAft>
                        <a:buSzPts val="1400"/>
                        <a:buFont typeface="Fira Sans"/>
                        <a:buAutoNum type="arabicPeriod"/>
                      </a:pPr>
                      <a:r>
                        <a:rPr lang="en-US" sz="1200" b="0" i="0" u="none" strike="noStrike" cap="none" dirty="0">
                          <a:solidFill>
                            <a:schemeClr val="dk1"/>
                          </a:solidFill>
                          <a:effectLst/>
                          <a:latin typeface="+mn-lt"/>
                          <a:ea typeface="Arial"/>
                          <a:cs typeface="Arial"/>
                          <a:sym typeface="Arial"/>
                        </a:rPr>
                        <a:t>Smoke Testing confirms the basic functionality works for a product.</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1"/>
                  </a:ext>
                </a:extLst>
              </a:tr>
              <a:tr h="433803">
                <a:tc>
                  <a:txBody>
                    <a:bodyPr/>
                    <a:lstStyle/>
                    <a:p>
                      <a:pPr marL="457200" lvl="0" indent="-317500" algn="l" rtl="0">
                        <a:spcBef>
                          <a:spcPts val="0"/>
                        </a:spcBef>
                        <a:spcAft>
                          <a:spcPts val="0"/>
                        </a:spcAft>
                        <a:buClr>
                          <a:schemeClr val="dk1"/>
                        </a:buClr>
                        <a:buSzPts val="1400"/>
                        <a:buFont typeface="Fira Sans"/>
                        <a:buAutoNum type="arabicPeriod" startAt="2"/>
                      </a:pPr>
                      <a:r>
                        <a:rPr lang="en-US" sz="1200" b="0" i="0" u="none" strike="noStrike" cap="none" dirty="0">
                          <a:solidFill>
                            <a:schemeClr val="dk1"/>
                          </a:solidFill>
                          <a:effectLst/>
                          <a:latin typeface="+mn-lt"/>
                          <a:ea typeface="Arial"/>
                          <a:cs typeface="Arial"/>
                          <a:sym typeface="Arial"/>
                        </a:rPr>
                        <a:t>This testing is performed by the testers</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2"/>
                      </a:pPr>
                      <a:r>
                        <a:rPr lang="en-US" sz="1200" b="0" i="0" u="none" strike="noStrike" cap="none" dirty="0">
                          <a:solidFill>
                            <a:schemeClr val="dk1"/>
                          </a:solidFill>
                          <a:effectLst/>
                          <a:latin typeface="+mn-lt"/>
                          <a:ea typeface="Arial"/>
                          <a:cs typeface="Arial"/>
                          <a:sym typeface="Arial"/>
                        </a:rPr>
                        <a:t>Smoke testing is performed by the developers or testers</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2"/>
                  </a:ext>
                </a:extLst>
              </a:tr>
              <a:tr h="865058">
                <a:tc>
                  <a:txBody>
                    <a:bodyPr/>
                    <a:lstStyle/>
                    <a:p>
                      <a:pPr marL="457200" lvl="0" indent="-317500" algn="l" rtl="0">
                        <a:spcBef>
                          <a:spcPts val="0"/>
                        </a:spcBef>
                        <a:spcAft>
                          <a:spcPts val="0"/>
                        </a:spcAft>
                        <a:buClr>
                          <a:schemeClr val="dk1"/>
                        </a:buClr>
                        <a:buSzPts val="1400"/>
                        <a:buFont typeface="Fira Sans"/>
                        <a:buAutoNum type="arabicPeriod" startAt="3"/>
                      </a:pPr>
                      <a:r>
                        <a:rPr lang="en-US" sz="1200" b="0" i="0" u="none" strike="noStrike" cap="none" dirty="0">
                          <a:solidFill>
                            <a:schemeClr val="dk1"/>
                          </a:solidFill>
                          <a:effectLst/>
                          <a:latin typeface="+mn-lt"/>
                          <a:ea typeface="Arial"/>
                          <a:cs typeface="Arial"/>
                          <a:sym typeface="Arial"/>
                        </a:rPr>
                        <a:t>The objective of the testing is to verify the “functionality” of the system in order to proceed with more rigorous testing</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3"/>
                      </a:pPr>
                      <a:r>
                        <a:rPr lang="en-US" sz="1200" b="0" i="0" u="none" strike="noStrike" cap="none" dirty="0">
                          <a:solidFill>
                            <a:schemeClr val="dk1"/>
                          </a:solidFill>
                          <a:effectLst/>
                          <a:highlight>
                            <a:srgbClr val="FFFFFF"/>
                          </a:highlight>
                          <a:latin typeface="+mn-lt"/>
                          <a:ea typeface="Arial"/>
                          <a:cs typeface="Arial"/>
                          <a:sym typeface="Arial"/>
                        </a:rPr>
                        <a:t>The objective of this testing is to verify the “stability” of the system in order to proceed with more rigorous testing</a:t>
                      </a:r>
                      <a:endParaRPr sz="1200" dirty="0">
                        <a:highlight>
                          <a:srgbClr val="FFFFFF"/>
                        </a:highlight>
                        <a:latin typeface="+mn-lt"/>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3"/>
                  </a:ext>
                </a:extLst>
              </a:tr>
              <a:tr h="802773">
                <a:tc>
                  <a:txBody>
                    <a:bodyPr/>
                    <a:lstStyle/>
                    <a:p>
                      <a:pPr marL="457200" lvl="0" indent="-317500" algn="l" rtl="0">
                        <a:spcBef>
                          <a:spcPts val="0"/>
                        </a:spcBef>
                        <a:spcAft>
                          <a:spcPts val="0"/>
                        </a:spcAft>
                        <a:buClr>
                          <a:schemeClr val="dk1"/>
                        </a:buClr>
                        <a:buSzPts val="1400"/>
                        <a:buFont typeface="Fira Sans"/>
                        <a:buAutoNum type="arabicPeriod" startAt="4"/>
                      </a:pPr>
                      <a:r>
                        <a:rPr lang="en-US" sz="1200" b="0" i="0" u="none" strike="noStrike" cap="none" dirty="0">
                          <a:solidFill>
                            <a:schemeClr val="dk1"/>
                          </a:solidFill>
                          <a:effectLst/>
                          <a:latin typeface="+mn-lt"/>
                          <a:ea typeface="Arial"/>
                          <a:cs typeface="Arial"/>
                          <a:sym typeface="Arial"/>
                        </a:rPr>
                        <a:t>Sanity Testing is like specialized health check up</a:t>
                      </a:r>
                      <a:endParaRPr sz="1200" dirty="0">
                        <a:latin typeface="+mn-lt"/>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4"/>
                      </a:pPr>
                      <a:r>
                        <a:rPr lang="en-US" sz="1200" b="0" i="0" u="none" strike="noStrike" cap="none" dirty="0">
                          <a:solidFill>
                            <a:schemeClr val="dk1"/>
                          </a:solidFill>
                          <a:effectLst/>
                          <a:latin typeface="+mn-lt"/>
                          <a:ea typeface="Arial"/>
                          <a:cs typeface="Arial"/>
                          <a:sym typeface="Arial"/>
                        </a:rPr>
                        <a:t>Smoke testing is like General Health Check Up</a:t>
                      </a:r>
                      <a:endParaRPr sz="1200" dirty="0">
                        <a:latin typeface="+mn-lt"/>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Different Environment in Project</a:t>
            </a:r>
          </a:p>
        </p:txBody>
      </p:sp>
      <p:sp>
        <p:nvSpPr>
          <p:cNvPr id="3" name="Text Placeholder 2"/>
          <p:cNvSpPr>
            <a:spLocks noGrp="1"/>
          </p:cNvSpPr>
          <p:nvPr>
            <p:ph type="body" idx="1"/>
          </p:nvPr>
        </p:nvSpPr>
        <p:spPr/>
        <p:txBody>
          <a:bodyPr>
            <a:normAutofit/>
          </a:bodyPr>
          <a:lstStyle/>
          <a:p>
            <a:pPr marL="114300" indent="0">
              <a:buNone/>
            </a:pPr>
            <a:r>
              <a:rPr lang="en-IN" sz="1600" dirty="0">
                <a:solidFill>
                  <a:schemeClr val="tx1"/>
                </a:solidFill>
                <a:latin typeface="+mn-lt"/>
              </a:rPr>
              <a:t>There are 4 different environment available in project:</a:t>
            </a:r>
          </a:p>
          <a:p>
            <a:pPr marL="114300" indent="0">
              <a:buNone/>
            </a:pPr>
            <a:endParaRPr lang="en-IN" sz="1600" dirty="0">
              <a:solidFill>
                <a:schemeClr val="tx1"/>
              </a:solidFill>
              <a:latin typeface="+mn-lt"/>
            </a:endParaRPr>
          </a:p>
          <a:p>
            <a:pPr>
              <a:buAutoNum type="arabicPeriod"/>
            </a:pPr>
            <a:r>
              <a:rPr lang="en-IN" sz="1600" dirty="0">
                <a:solidFill>
                  <a:schemeClr val="tx1"/>
                </a:solidFill>
                <a:latin typeface="+mn-lt"/>
              </a:rPr>
              <a:t>Development E</a:t>
            </a:r>
            <a:r>
              <a:rPr lang="en-IN" sz="1600" dirty="0">
                <a:solidFill>
                  <a:schemeClr val="tx1"/>
                </a:solidFill>
              </a:rPr>
              <a:t>nvironment </a:t>
            </a:r>
            <a:endParaRPr lang="en-IN" sz="1600" dirty="0">
              <a:solidFill>
                <a:schemeClr val="tx1"/>
              </a:solidFill>
              <a:latin typeface="+mn-lt"/>
            </a:endParaRPr>
          </a:p>
          <a:p>
            <a:pPr>
              <a:buAutoNum type="arabicPeriod"/>
            </a:pPr>
            <a:endParaRPr lang="en-IN" sz="1600" dirty="0">
              <a:solidFill>
                <a:schemeClr val="tx1"/>
              </a:solidFill>
              <a:latin typeface="+mn-lt"/>
            </a:endParaRPr>
          </a:p>
          <a:p>
            <a:pPr>
              <a:buAutoNum type="arabicPeriod"/>
            </a:pPr>
            <a:r>
              <a:rPr lang="en-IN" sz="1600" dirty="0">
                <a:solidFill>
                  <a:schemeClr val="tx1"/>
                </a:solidFill>
                <a:latin typeface="+mn-lt"/>
              </a:rPr>
              <a:t>QA/Testing E</a:t>
            </a:r>
            <a:r>
              <a:rPr lang="en-IN" sz="1600" dirty="0">
                <a:solidFill>
                  <a:schemeClr val="tx1"/>
                </a:solidFill>
              </a:rPr>
              <a:t>nvironment </a:t>
            </a:r>
            <a:endParaRPr lang="en-IN" sz="1600" dirty="0">
              <a:solidFill>
                <a:schemeClr val="tx1"/>
              </a:solidFill>
              <a:latin typeface="+mn-lt"/>
            </a:endParaRPr>
          </a:p>
          <a:p>
            <a:pPr>
              <a:buAutoNum type="arabicPeriod"/>
            </a:pPr>
            <a:endParaRPr lang="en-IN" sz="1600" dirty="0">
              <a:solidFill>
                <a:schemeClr val="tx1"/>
              </a:solidFill>
              <a:latin typeface="+mn-lt"/>
            </a:endParaRPr>
          </a:p>
          <a:p>
            <a:pPr>
              <a:buAutoNum type="arabicPeriod"/>
            </a:pPr>
            <a:r>
              <a:rPr lang="en-IN" sz="1600" dirty="0">
                <a:solidFill>
                  <a:schemeClr val="tx1"/>
                </a:solidFill>
                <a:latin typeface="+mn-lt"/>
              </a:rPr>
              <a:t>UAT E</a:t>
            </a:r>
            <a:r>
              <a:rPr lang="en-IN" sz="1600" dirty="0">
                <a:solidFill>
                  <a:schemeClr val="tx1"/>
                </a:solidFill>
              </a:rPr>
              <a:t>nvironment </a:t>
            </a:r>
            <a:endParaRPr lang="en-IN" sz="1600" dirty="0">
              <a:solidFill>
                <a:schemeClr val="tx1"/>
              </a:solidFill>
              <a:latin typeface="+mn-lt"/>
            </a:endParaRPr>
          </a:p>
          <a:p>
            <a:pPr>
              <a:buAutoNum type="arabicPeriod"/>
            </a:pPr>
            <a:endParaRPr lang="en-IN" sz="1600" dirty="0">
              <a:solidFill>
                <a:schemeClr val="tx1"/>
              </a:solidFill>
              <a:latin typeface="+mn-lt"/>
            </a:endParaRPr>
          </a:p>
          <a:p>
            <a:pPr>
              <a:buAutoNum type="arabicPeriod"/>
            </a:pPr>
            <a:r>
              <a:rPr lang="en-IN" sz="1600" dirty="0">
                <a:solidFill>
                  <a:schemeClr val="tx1"/>
                </a:solidFill>
                <a:latin typeface="+mn-lt"/>
              </a:rPr>
              <a:t>Production </a:t>
            </a:r>
            <a:r>
              <a:rPr lang="en-IN" sz="1600" dirty="0">
                <a:solidFill>
                  <a:schemeClr val="tx1"/>
                </a:solidFill>
              </a:rPr>
              <a:t>Environment </a:t>
            </a:r>
            <a:endParaRPr lang="en-IN" sz="1600" dirty="0">
              <a:solidFill>
                <a:schemeClr val="tx1"/>
              </a:solidFill>
              <a:latin typeface="+mn-lt"/>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extLst>
      <p:ext uri="{BB962C8B-B14F-4D97-AF65-F5344CB8AC3E}">
        <p14:creationId xmlns="" xmlns:p14="http://schemas.microsoft.com/office/powerpoint/2010/main" val="387044682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5199</TotalTime>
  <Words>676</Words>
  <Application>Microsoft Office PowerPoint</Application>
  <PresentationFormat>On-screen Show (16:9)</PresentationFormat>
  <Paragraphs>121</Paragraphs>
  <Slides>14</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Kanit</vt:lpstr>
      <vt:lpstr>Fira Sans</vt:lpstr>
      <vt:lpstr>Calibri</vt:lpstr>
      <vt:lpstr>Wingdings</vt:lpstr>
      <vt:lpstr>Helvetica Neue</vt:lpstr>
      <vt:lpstr>Simple Light</vt:lpstr>
      <vt:lpstr>1_Simple Light</vt:lpstr>
      <vt:lpstr>Slide 1</vt:lpstr>
      <vt:lpstr>What is Software</vt:lpstr>
      <vt:lpstr> Product Software:  Product software is Developing software for segment of customer. (Group of customer)  Project Software:  Project software is Developing software for single Client.    </vt:lpstr>
      <vt:lpstr>As per the work there are two different types of companies  available in industries</vt:lpstr>
      <vt:lpstr>Slide 5</vt:lpstr>
      <vt:lpstr>Software Development Life Cycle (SDLC)</vt:lpstr>
      <vt:lpstr>Software Testing</vt:lpstr>
      <vt:lpstr>Manual Testing</vt:lpstr>
      <vt:lpstr>Levels of Testing</vt:lpstr>
      <vt:lpstr>Smoke Testing</vt:lpstr>
      <vt:lpstr>Points to Rember for Smoke Testing</vt:lpstr>
      <vt:lpstr>Points to Rember for Sanity Testing</vt:lpstr>
      <vt:lpstr>Difference Between Sanity Testing and Smoke Testing</vt:lpstr>
      <vt:lpstr>Different Environment in Project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Dell</cp:lastModifiedBy>
  <cp:revision>32</cp:revision>
  <dcterms:modified xsi:type="dcterms:W3CDTF">2025-10-06T14:44:02Z</dcterms:modified>
</cp:coreProperties>
</file>