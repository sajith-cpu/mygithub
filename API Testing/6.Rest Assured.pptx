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57" r:id="rId3"/>
    <p:sldId id="258" r:id="rId4"/>
    <p:sldId id="259" r:id="rId5"/>
    <p:sldId id="260" r:id="rId6"/>
    <p:sldId id="261" r:id="rId7"/>
    <p:sldId id="263" r:id="rId8"/>
    <p:sldId id="264" r:id="rId9"/>
    <p:sldId id="265" r:id="rId10"/>
    <p:sldId id="267" r:id="rId11"/>
    <p:sldId id="268" r:id="rId12"/>
    <p:sldId id="269" r:id="rId13"/>
    <p:sldId id="270" r:id="rId14"/>
    <p:sldId id="271" r:id="rId15"/>
    <p:sldId id="2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720" y="-86"/>
      </p:cViewPr>
      <p:guideLst>
        <p:guide orient="horz" pos="2160"/>
        <p:guide pos="3840"/>
      </p:guideLst>
    </p:cSldViewPr>
  </p:slideViewPr>
  <p:notesTextViewPr>
    <p:cViewPr>
      <p:scale>
        <a:sx n="1" d="1"/>
        <a:sy n="1" d="1"/>
      </p:scale>
      <p:origin x="0" y="0"/>
    </p:cViewPr>
  </p:notesTextViewPr>
  <p:sorterViewPr>
    <p:cViewPr>
      <p:scale>
        <a:sx n="100" d="100"/>
        <a:sy n="100" d="100"/>
      </p:scale>
      <p:origin x="0" y="-504"/>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A1576B6-9A41-D733-BFB5-9042C1A55C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A98E5918-39B4-E450-1ACD-BC209D1001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83038E07-D4BC-C03B-FF66-66B0A075FCD9}"/>
              </a:ext>
            </a:extLst>
          </p:cNvPr>
          <p:cNvSpPr>
            <a:spLocks noGrp="1"/>
          </p:cNvSpPr>
          <p:nvPr>
            <p:ph type="dt" sz="half" idx="10"/>
          </p:nvPr>
        </p:nvSpPr>
        <p:spPr/>
        <p:txBody>
          <a:bodyPr/>
          <a:lstStyle/>
          <a:p>
            <a:fld id="{A7525896-06DB-4A72-ADAB-DF948081D6C0}" type="datetimeFigureOut">
              <a:rPr lang="en-IN" smtClean="0"/>
              <a:pPr/>
              <a:t>26-11-2025</a:t>
            </a:fld>
            <a:endParaRPr lang="en-IN"/>
          </a:p>
        </p:txBody>
      </p:sp>
      <p:sp>
        <p:nvSpPr>
          <p:cNvPr id="5" name="Footer Placeholder 4">
            <a:extLst>
              <a:ext uri="{FF2B5EF4-FFF2-40B4-BE49-F238E27FC236}">
                <a16:creationId xmlns="" xmlns:a16="http://schemas.microsoft.com/office/drawing/2014/main" id="{C83037E8-17C5-F91F-C6C1-3918BB3FB7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9D829B11-1DC5-9051-803E-E6C78844A351}"/>
              </a:ext>
            </a:extLst>
          </p:cNvPr>
          <p:cNvSpPr>
            <a:spLocks noGrp="1"/>
          </p:cNvSpPr>
          <p:nvPr>
            <p:ph type="sldNum" sz="quarter" idx="12"/>
          </p:nvPr>
        </p:nvSpPr>
        <p:spPr/>
        <p:txBody>
          <a:bodyPr/>
          <a:lstStyle/>
          <a:p>
            <a:fld id="{AA967E39-58FB-48A8-B597-60326E495E35}" type="slidenum">
              <a:rPr lang="en-IN" smtClean="0"/>
              <a:pPr/>
              <a:t>‹#›</a:t>
            </a:fld>
            <a:endParaRPr lang="en-IN"/>
          </a:p>
        </p:txBody>
      </p:sp>
    </p:spTree>
    <p:extLst>
      <p:ext uri="{BB962C8B-B14F-4D97-AF65-F5344CB8AC3E}">
        <p14:creationId xmlns="" xmlns:p14="http://schemas.microsoft.com/office/powerpoint/2010/main" val="2572432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49713C3-9370-ADE2-2E3D-85A8E034B02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076D4300-D4FB-B5BB-9A11-A316E9D2F2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EDE36B2B-C0EF-85AF-071B-9D508A5E45B2}"/>
              </a:ext>
            </a:extLst>
          </p:cNvPr>
          <p:cNvSpPr>
            <a:spLocks noGrp="1"/>
          </p:cNvSpPr>
          <p:nvPr>
            <p:ph type="dt" sz="half" idx="10"/>
          </p:nvPr>
        </p:nvSpPr>
        <p:spPr/>
        <p:txBody>
          <a:bodyPr/>
          <a:lstStyle/>
          <a:p>
            <a:fld id="{A7525896-06DB-4A72-ADAB-DF948081D6C0}" type="datetimeFigureOut">
              <a:rPr lang="en-IN" smtClean="0"/>
              <a:pPr/>
              <a:t>26-11-2025</a:t>
            </a:fld>
            <a:endParaRPr lang="en-IN"/>
          </a:p>
        </p:txBody>
      </p:sp>
      <p:sp>
        <p:nvSpPr>
          <p:cNvPr id="5" name="Footer Placeholder 4">
            <a:extLst>
              <a:ext uri="{FF2B5EF4-FFF2-40B4-BE49-F238E27FC236}">
                <a16:creationId xmlns="" xmlns:a16="http://schemas.microsoft.com/office/drawing/2014/main" id="{A9E5A3E2-D845-3391-EDA8-4D34096186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FF90F317-93FC-72C7-C468-E908C8610C3A}"/>
              </a:ext>
            </a:extLst>
          </p:cNvPr>
          <p:cNvSpPr>
            <a:spLocks noGrp="1"/>
          </p:cNvSpPr>
          <p:nvPr>
            <p:ph type="sldNum" sz="quarter" idx="12"/>
          </p:nvPr>
        </p:nvSpPr>
        <p:spPr/>
        <p:txBody>
          <a:bodyPr/>
          <a:lstStyle/>
          <a:p>
            <a:fld id="{AA967E39-58FB-48A8-B597-60326E495E35}" type="slidenum">
              <a:rPr lang="en-IN" smtClean="0"/>
              <a:pPr/>
              <a:t>‹#›</a:t>
            </a:fld>
            <a:endParaRPr lang="en-IN"/>
          </a:p>
        </p:txBody>
      </p:sp>
    </p:spTree>
    <p:extLst>
      <p:ext uri="{BB962C8B-B14F-4D97-AF65-F5344CB8AC3E}">
        <p14:creationId xmlns="" xmlns:p14="http://schemas.microsoft.com/office/powerpoint/2010/main" val="4136063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237FEFA-6055-38B2-DC11-EF15CD9BA9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86667A12-4B82-142B-1BE6-CA0CE29B19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E2CBDD2F-7D0F-953F-F4FD-283612D8112D}"/>
              </a:ext>
            </a:extLst>
          </p:cNvPr>
          <p:cNvSpPr>
            <a:spLocks noGrp="1"/>
          </p:cNvSpPr>
          <p:nvPr>
            <p:ph type="dt" sz="half" idx="10"/>
          </p:nvPr>
        </p:nvSpPr>
        <p:spPr/>
        <p:txBody>
          <a:bodyPr/>
          <a:lstStyle/>
          <a:p>
            <a:fld id="{A7525896-06DB-4A72-ADAB-DF948081D6C0}" type="datetimeFigureOut">
              <a:rPr lang="en-IN" smtClean="0"/>
              <a:pPr/>
              <a:t>26-11-2025</a:t>
            </a:fld>
            <a:endParaRPr lang="en-IN"/>
          </a:p>
        </p:txBody>
      </p:sp>
      <p:sp>
        <p:nvSpPr>
          <p:cNvPr id="5" name="Footer Placeholder 4">
            <a:extLst>
              <a:ext uri="{FF2B5EF4-FFF2-40B4-BE49-F238E27FC236}">
                <a16:creationId xmlns="" xmlns:a16="http://schemas.microsoft.com/office/drawing/2014/main" id="{E4669432-342B-AC28-3675-C5C01E3D64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A35E187C-AB1B-E9E0-A32F-D6C6F5C879A7}"/>
              </a:ext>
            </a:extLst>
          </p:cNvPr>
          <p:cNvSpPr>
            <a:spLocks noGrp="1"/>
          </p:cNvSpPr>
          <p:nvPr>
            <p:ph type="sldNum" sz="quarter" idx="12"/>
          </p:nvPr>
        </p:nvSpPr>
        <p:spPr/>
        <p:txBody>
          <a:bodyPr/>
          <a:lstStyle/>
          <a:p>
            <a:fld id="{AA967E39-58FB-48A8-B597-60326E495E35}" type="slidenum">
              <a:rPr lang="en-IN" smtClean="0"/>
              <a:pPr/>
              <a:t>‹#›</a:t>
            </a:fld>
            <a:endParaRPr lang="en-IN"/>
          </a:p>
        </p:txBody>
      </p:sp>
    </p:spTree>
    <p:extLst>
      <p:ext uri="{BB962C8B-B14F-4D97-AF65-F5344CB8AC3E}">
        <p14:creationId xmlns="" xmlns:p14="http://schemas.microsoft.com/office/powerpoint/2010/main" val="2539115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2FA0978-8CD4-F0CD-F0A6-4F101F6BCA6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8E971471-E5FF-5E97-3470-8043E7666D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1C95E8B1-1759-4977-2887-C660F4D960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1C819056-DCED-BA31-765A-7BB9D94712F3}"/>
              </a:ext>
            </a:extLst>
          </p:cNvPr>
          <p:cNvSpPr>
            <a:spLocks noGrp="1"/>
          </p:cNvSpPr>
          <p:nvPr>
            <p:ph type="dt" sz="half" idx="10"/>
          </p:nvPr>
        </p:nvSpPr>
        <p:spPr/>
        <p:txBody>
          <a:bodyPr/>
          <a:lstStyle/>
          <a:p>
            <a:fld id="{A7525896-06DB-4A72-ADAB-DF948081D6C0}" type="datetimeFigureOut">
              <a:rPr lang="en-IN" smtClean="0"/>
              <a:pPr/>
              <a:t>26-11-2025</a:t>
            </a:fld>
            <a:endParaRPr lang="en-IN"/>
          </a:p>
        </p:txBody>
      </p:sp>
      <p:sp>
        <p:nvSpPr>
          <p:cNvPr id="6" name="Footer Placeholder 5">
            <a:extLst>
              <a:ext uri="{FF2B5EF4-FFF2-40B4-BE49-F238E27FC236}">
                <a16:creationId xmlns="" xmlns:a16="http://schemas.microsoft.com/office/drawing/2014/main" id="{FA719FB6-5052-E738-F4B8-21EC7D8607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0BC18F6E-2269-1056-F64D-02360EB42266}"/>
              </a:ext>
            </a:extLst>
          </p:cNvPr>
          <p:cNvSpPr>
            <a:spLocks noGrp="1"/>
          </p:cNvSpPr>
          <p:nvPr>
            <p:ph type="sldNum" sz="quarter" idx="12"/>
          </p:nvPr>
        </p:nvSpPr>
        <p:spPr/>
        <p:txBody>
          <a:bodyPr/>
          <a:lstStyle/>
          <a:p>
            <a:fld id="{AA967E39-58FB-48A8-B597-60326E495E35}" type="slidenum">
              <a:rPr lang="en-IN" smtClean="0"/>
              <a:pPr/>
              <a:t>‹#›</a:t>
            </a:fld>
            <a:endParaRPr lang="en-IN"/>
          </a:p>
        </p:txBody>
      </p:sp>
    </p:spTree>
    <p:extLst>
      <p:ext uri="{BB962C8B-B14F-4D97-AF65-F5344CB8AC3E}">
        <p14:creationId xmlns="" xmlns:p14="http://schemas.microsoft.com/office/powerpoint/2010/main" val="11985781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6F1D123-F649-0500-B3DE-13076B712E7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0C3578F3-2A9B-2EA5-7BF6-ED281B48B9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A3511717-003A-BE1E-38DF-DA8DE608AB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BD01557F-F6D1-106A-8800-A9119097ED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C99E52C0-50C9-E313-5DB3-2923A6551E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2DF41747-D58C-FD5E-5119-53C7BB1613BF}"/>
              </a:ext>
            </a:extLst>
          </p:cNvPr>
          <p:cNvSpPr>
            <a:spLocks noGrp="1"/>
          </p:cNvSpPr>
          <p:nvPr>
            <p:ph type="dt" sz="half" idx="10"/>
          </p:nvPr>
        </p:nvSpPr>
        <p:spPr/>
        <p:txBody>
          <a:bodyPr/>
          <a:lstStyle/>
          <a:p>
            <a:fld id="{A7525896-06DB-4A72-ADAB-DF948081D6C0}" type="datetimeFigureOut">
              <a:rPr lang="en-IN" smtClean="0"/>
              <a:pPr/>
              <a:t>26-11-2025</a:t>
            </a:fld>
            <a:endParaRPr lang="en-IN"/>
          </a:p>
        </p:txBody>
      </p:sp>
      <p:sp>
        <p:nvSpPr>
          <p:cNvPr id="8" name="Footer Placeholder 7">
            <a:extLst>
              <a:ext uri="{FF2B5EF4-FFF2-40B4-BE49-F238E27FC236}">
                <a16:creationId xmlns="" xmlns:a16="http://schemas.microsoft.com/office/drawing/2014/main" id="{EA35DD17-3991-93E9-3A0B-F9DBC838AE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A7D75FD0-5DE9-0331-7DBA-56F52CEFA5F3}"/>
              </a:ext>
            </a:extLst>
          </p:cNvPr>
          <p:cNvSpPr>
            <a:spLocks noGrp="1"/>
          </p:cNvSpPr>
          <p:nvPr>
            <p:ph type="sldNum" sz="quarter" idx="12"/>
          </p:nvPr>
        </p:nvSpPr>
        <p:spPr/>
        <p:txBody>
          <a:bodyPr/>
          <a:lstStyle/>
          <a:p>
            <a:fld id="{AA967E39-58FB-48A8-B597-60326E495E35}" type="slidenum">
              <a:rPr lang="en-IN" smtClean="0"/>
              <a:pPr/>
              <a:t>‹#›</a:t>
            </a:fld>
            <a:endParaRPr lang="en-IN"/>
          </a:p>
        </p:txBody>
      </p:sp>
    </p:spTree>
    <p:extLst>
      <p:ext uri="{BB962C8B-B14F-4D97-AF65-F5344CB8AC3E}">
        <p14:creationId xmlns="" xmlns:p14="http://schemas.microsoft.com/office/powerpoint/2010/main" val="2801893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9287E2E-C38E-48B6-E19E-CB69B2F07C9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469963F6-AEF0-CA80-BEFB-FB3529A0C6D5}"/>
              </a:ext>
            </a:extLst>
          </p:cNvPr>
          <p:cNvSpPr>
            <a:spLocks noGrp="1"/>
          </p:cNvSpPr>
          <p:nvPr>
            <p:ph type="dt" sz="half" idx="10"/>
          </p:nvPr>
        </p:nvSpPr>
        <p:spPr/>
        <p:txBody>
          <a:bodyPr/>
          <a:lstStyle/>
          <a:p>
            <a:fld id="{A7525896-06DB-4A72-ADAB-DF948081D6C0}" type="datetimeFigureOut">
              <a:rPr lang="en-IN" smtClean="0"/>
              <a:pPr/>
              <a:t>26-11-2025</a:t>
            </a:fld>
            <a:endParaRPr lang="en-IN"/>
          </a:p>
        </p:txBody>
      </p:sp>
      <p:sp>
        <p:nvSpPr>
          <p:cNvPr id="4" name="Footer Placeholder 3">
            <a:extLst>
              <a:ext uri="{FF2B5EF4-FFF2-40B4-BE49-F238E27FC236}">
                <a16:creationId xmlns="" xmlns:a16="http://schemas.microsoft.com/office/drawing/2014/main" id="{E68A169B-4FBB-8C17-2FE4-BD6752322E7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652F49D5-4963-B67E-148F-36C8FA91C700}"/>
              </a:ext>
            </a:extLst>
          </p:cNvPr>
          <p:cNvSpPr>
            <a:spLocks noGrp="1"/>
          </p:cNvSpPr>
          <p:nvPr>
            <p:ph type="sldNum" sz="quarter" idx="12"/>
          </p:nvPr>
        </p:nvSpPr>
        <p:spPr/>
        <p:txBody>
          <a:bodyPr/>
          <a:lstStyle/>
          <a:p>
            <a:fld id="{AA967E39-58FB-48A8-B597-60326E495E35}" type="slidenum">
              <a:rPr lang="en-IN" smtClean="0"/>
              <a:pPr/>
              <a:t>‹#›</a:t>
            </a:fld>
            <a:endParaRPr lang="en-IN"/>
          </a:p>
        </p:txBody>
      </p:sp>
    </p:spTree>
    <p:extLst>
      <p:ext uri="{BB962C8B-B14F-4D97-AF65-F5344CB8AC3E}">
        <p14:creationId xmlns="" xmlns:p14="http://schemas.microsoft.com/office/powerpoint/2010/main" val="42330091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07491E77-69D8-F527-A68E-5B7A8EB49995}"/>
              </a:ext>
            </a:extLst>
          </p:cNvPr>
          <p:cNvSpPr>
            <a:spLocks noGrp="1"/>
          </p:cNvSpPr>
          <p:nvPr>
            <p:ph type="dt" sz="half" idx="10"/>
          </p:nvPr>
        </p:nvSpPr>
        <p:spPr/>
        <p:txBody>
          <a:bodyPr/>
          <a:lstStyle/>
          <a:p>
            <a:fld id="{A7525896-06DB-4A72-ADAB-DF948081D6C0}" type="datetimeFigureOut">
              <a:rPr lang="en-IN" smtClean="0"/>
              <a:pPr/>
              <a:t>26-11-2025</a:t>
            </a:fld>
            <a:endParaRPr lang="en-IN"/>
          </a:p>
        </p:txBody>
      </p:sp>
      <p:sp>
        <p:nvSpPr>
          <p:cNvPr id="3" name="Footer Placeholder 2">
            <a:extLst>
              <a:ext uri="{FF2B5EF4-FFF2-40B4-BE49-F238E27FC236}">
                <a16:creationId xmlns="" xmlns:a16="http://schemas.microsoft.com/office/drawing/2014/main" id="{C2406572-DBE0-7647-89C2-D2416650366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1F155CFE-1D7D-D176-7502-B8C72C502C1C}"/>
              </a:ext>
            </a:extLst>
          </p:cNvPr>
          <p:cNvSpPr>
            <a:spLocks noGrp="1"/>
          </p:cNvSpPr>
          <p:nvPr>
            <p:ph type="sldNum" sz="quarter" idx="12"/>
          </p:nvPr>
        </p:nvSpPr>
        <p:spPr/>
        <p:txBody>
          <a:bodyPr/>
          <a:lstStyle/>
          <a:p>
            <a:fld id="{AA967E39-58FB-48A8-B597-60326E495E35}" type="slidenum">
              <a:rPr lang="en-IN" smtClean="0"/>
              <a:pPr/>
              <a:t>‹#›</a:t>
            </a:fld>
            <a:endParaRPr lang="en-IN"/>
          </a:p>
        </p:txBody>
      </p:sp>
    </p:spTree>
    <p:extLst>
      <p:ext uri="{BB962C8B-B14F-4D97-AF65-F5344CB8AC3E}">
        <p14:creationId xmlns="" xmlns:p14="http://schemas.microsoft.com/office/powerpoint/2010/main" val="1369640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F83D23F-3186-152D-62B0-3EFEE183F5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73E32C58-0C05-0D72-054A-F815CA41F7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26BD69D2-9B61-2849-050B-A521BD511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8988CAD5-D3EF-0F48-829F-9A3A6BB0E952}"/>
              </a:ext>
            </a:extLst>
          </p:cNvPr>
          <p:cNvSpPr>
            <a:spLocks noGrp="1"/>
          </p:cNvSpPr>
          <p:nvPr>
            <p:ph type="dt" sz="half" idx="10"/>
          </p:nvPr>
        </p:nvSpPr>
        <p:spPr/>
        <p:txBody>
          <a:bodyPr/>
          <a:lstStyle/>
          <a:p>
            <a:fld id="{A7525896-06DB-4A72-ADAB-DF948081D6C0}" type="datetimeFigureOut">
              <a:rPr lang="en-IN" smtClean="0"/>
              <a:pPr/>
              <a:t>26-11-2025</a:t>
            </a:fld>
            <a:endParaRPr lang="en-IN"/>
          </a:p>
        </p:txBody>
      </p:sp>
      <p:sp>
        <p:nvSpPr>
          <p:cNvPr id="6" name="Footer Placeholder 5">
            <a:extLst>
              <a:ext uri="{FF2B5EF4-FFF2-40B4-BE49-F238E27FC236}">
                <a16:creationId xmlns="" xmlns:a16="http://schemas.microsoft.com/office/drawing/2014/main" id="{BB151B5C-C7E2-64B7-ED59-70197F7D96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28764523-34FA-D0C0-9031-1A28B2AD8128}"/>
              </a:ext>
            </a:extLst>
          </p:cNvPr>
          <p:cNvSpPr>
            <a:spLocks noGrp="1"/>
          </p:cNvSpPr>
          <p:nvPr>
            <p:ph type="sldNum" sz="quarter" idx="12"/>
          </p:nvPr>
        </p:nvSpPr>
        <p:spPr/>
        <p:txBody>
          <a:bodyPr/>
          <a:lstStyle/>
          <a:p>
            <a:fld id="{AA967E39-58FB-48A8-B597-60326E495E35}" type="slidenum">
              <a:rPr lang="en-IN" smtClean="0"/>
              <a:pPr/>
              <a:t>‹#›</a:t>
            </a:fld>
            <a:endParaRPr lang="en-IN"/>
          </a:p>
        </p:txBody>
      </p:sp>
    </p:spTree>
    <p:extLst>
      <p:ext uri="{BB962C8B-B14F-4D97-AF65-F5344CB8AC3E}">
        <p14:creationId xmlns="" xmlns:p14="http://schemas.microsoft.com/office/powerpoint/2010/main" val="33507530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D67423F-BC07-20D7-D0A8-0B45BF2728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0A6C0C33-45A8-488E-2549-FF01089C1F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F51C7F58-4F4F-9D3C-3EBD-8BBB468204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9FE7573C-51BC-8FD4-B14B-AFB89AB54B48}"/>
              </a:ext>
            </a:extLst>
          </p:cNvPr>
          <p:cNvSpPr>
            <a:spLocks noGrp="1"/>
          </p:cNvSpPr>
          <p:nvPr>
            <p:ph type="dt" sz="half" idx="10"/>
          </p:nvPr>
        </p:nvSpPr>
        <p:spPr/>
        <p:txBody>
          <a:bodyPr/>
          <a:lstStyle/>
          <a:p>
            <a:fld id="{A7525896-06DB-4A72-ADAB-DF948081D6C0}" type="datetimeFigureOut">
              <a:rPr lang="en-IN" smtClean="0"/>
              <a:pPr/>
              <a:t>26-11-2025</a:t>
            </a:fld>
            <a:endParaRPr lang="en-IN"/>
          </a:p>
        </p:txBody>
      </p:sp>
      <p:sp>
        <p:nvSpPr>
          <p:cNvPr id="6" name="Footer Placeholder 5">
            <a:extLst>
              <a:ext uri="{FF2B5EF4-FFF2-40B4-BE49-F238E27FC236}">
                <a16:creationId xmlns="" xmlns:a16="http://schemas.microsoft.com/office/drawing/2014/main" id="{92846CA5-832E-BCCD-01EF-4952829BF5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DDA22F02-DD6E-086B-1D37-2779E584F3C4}"/>
              </a:ext>
            </a:extLst>
          </p:cNvPr>
          <p:cNvSpPr>
            <a:spLocks noGrp="1"/>
          </p:cNvSpPr>
          <p:nvPr>
            <p:ph type="sldNum" sz="quarter" idx="12"/>
          </p:nvPr>
        </p:nvSpPr>
        <p:spPr/>
        <p:txBody>
          <a:bodyPr/>
          <a:lstStyle/>
          <a:p>
            <a:fld id="{AA967E39-58FB-48A8-B597-60326E495E35}" type="slidenum">
              <a:rPr lang="en-IN" smtClean="0"/>
              <a:pPr/>
              <a:t>‹#›</a:t>
            </a:fld>
            <a:endParaRPr lang="en-IN"/>
          </a:p>
        </p:txBody>
      </p:sp>
    </p:spTree>
    <p:extLst>
      <p:ext uri="{BB962C8B-B14F-4D97-AF65-F5344CB8AC3E}">
        <p14:creationId xmlns="" xmlns:p14="http://schemas.microsoft.com/office/powerpoint/2010/main" val="3447865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01B3C63-C0FA-A95A-6111-8FFDB73C022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23BDEAF0-41BD-8C25-F30E-DC811AFA001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1F73D4E3-6BB4-A686-11F9-9666BA6B1703}"/>
              </a:ext>
            </a:extLst>
          </p:cNvPr>
          <p:cNvSpPr>
            <a:spLocks noGrp="1"/>
          </p:cNvSpPr>
          <p:nvPr>
            <p:ph type="dt" sz="half" idx="10"/>
          </p:nvPr>
        </p:nvSpPr>
        <p:spPr/>
        <p:txBody>
          <a:bodyPr/>
          <a:lstStyle/>
          <a:p>
            <a:fld id="{A7525896-06DB-4A72-ADAB-DF948081D6C0}" type="datetimeFigureOut">
              <a:rPr lang="en-IN" smtClean="0"/>
              <a:pPr/>
              <a:t>26-11-2025</a:t>
            </a:fld>
            <a:endParaRPr lang="en-IN"/>
          </a:p>
        </p:txBody>
      </p:sp>
      <p:sp>
        <p:nvSpPr>
          <p:cNvPr id="5" name="Footer Placeholder 4">
            <a:extLst>
              <a:ext uri="{FF2B5EF4-FFF2-40B4-BE49-F238E27FC236}">
                <a16:creationId xmlns="" xmlns:a16="http://schemas.microsoft.com/office/drawing/2014/main" id="{7FBEBFBC-6F96-4AE2-1E0A-F1954424AE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2E63FD79-DDE8-077A-CDDF-1B6935AA7998}"/>
              </a:ext>
            </a:extLst>
          </p:cNvPr>
          <p:cNvSpPr>
            <a:spLocks noGrp="1"/>
          </p:cNvSpPr>
          <p:nvPr>
            <p:ph type="sldNum" sz="quarter" idx="12"/>
          </p:nvPr>
        </p:nvSpPr>
        <p:spPr/>
        <p:txBody>
          <a:bodyPr/>
          <a:lstStyle/>
          <a:p>
            <a:fld id="{AA967E39-58FB-48A8-B597-60326E495E35}" type="slidenum">
              <a:rPr lang="en-IN" smtClean="0"/>
              <a:pPr/>
              <a:t>‹#›</a:t>
            </a:fld>
            <a:endParaRPr lang="en-IN"/>
          </a:p>
        </p:txBody>
      </p:sp>
    </p:spTree>
    <p:extLst>
      <p:ext uri="{BB962C8B-B14F-4D97-AF65-F5344CB8AC3E}">
        <p14:creationId xmlns="" xmlns:p14="http://schemas.microsoft.com/office/powerpoint/2010/main" val="2395222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6FADB498-19D3-332C-11AE-FCD3A268647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E55F5994-D21A-6BDE-2247-90D8C6C403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90FA4B32-AD4D-DE4D-2613-D5EB224B1DF3}"/>
              </a:ext>
            </a:extLst>
          </p:cNvPr>
          <p:cNvSpPr>
            <a:spLocks noGrp="1"/>
          </p:cNvSpPr>
          <p:nvPr>
            <p:ph type="dt" sz="half" idx="10"/>
          </p:nvPr>
        </p:nvSpPr>
        <p:spPr/>
        <p:txBody>
          <a:bodyPr/>
          <a:lstStyle/>
          <a:p>
            <a:fld id="{A7525896-06DB-4A72-ADAB-DF948081D6C0}" type="datetimeFigureOut">
              <a:rPr lang="en-IN" smtClean="0"/>
              <a:pPr/>
              <a:t>26-11-2025</a:t>
            </a:fld>
            <a:endParaRPr lang="en-IN"/>
          </a:p>
        </p:txBody>
      </p:sp>
      <p:sp>
        <p:nvSpPr>
          <p:cNvPr id="5" name="Footer Placeholder 4">
            <a:extLst>
              <a:ext uri="{FF2B5EF4-FFF2-40B4-BE49-F238E27FC236}">
                <a16:creationId xmlns="" xmlns:a16="http://schemas.microsoft.com/office/drawing/2014/main" id="{70CD91D8-48B7-7078-F0C8-75EA2F370B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E4DEEF4E-B91B-CA5C-9D5E-EE132BE465E0}"/>
              </a:ext>
            </a:extLst>
          </p:cNvPr>
          <p:cNvSpPr>
            <a:spLocks noGrp="1"/>
          </p:cNvSpPr>
          <p:nvPr>
            <p:ph type="sldNum" sz="quarter" idx="12"/>
          </p:nvPr>
        </p:nvSpPr>
        <p:spPr/>
        <p:txBody>
          <a:bodyPr/>
          <a:lstStyle/>
          <a:p>
            <a:fld id="{AA967E39-58FB-48A8-B597-60326E495E35}" type="slidenum">
              <a:rPr lang="en-IN" smtClean="0"/>
              <a:pPr/>
              <a:t>‹#›</a:t>
            </a:fld>
            <a:endParaRPr lang="en-IN"/>
          </a:p>
        </p:txBody>
      </p:sp>
    </p:spTree>
    <p:extLst>
      <p:ext uri="{BB962C8B-B14F-4D97-AF65-F5344CB8AC3E}">
        <p14:creationId xmlns="" xmlns:p14="http://schemas.microsoft.com/office/powerpoint/2010/main" val="19156549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AD87FF21-88C9-1035-32C8-6C14BEBC14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B0193AB0-E875-6E5C-3D07-531AAFA911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2D236C1A-5CFC-2D60-364B-876A3D394D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525896-06DB-4A72-ADAB-DF948081D6C0}" type="datetimeFigureOut">
              <a:rPr lang="en-IN" smtClean="0"/>
              <a:pPr/>
              <a:t>26-11-2025</a:t>
            </a:fld>
            <a:endParaRPr lang="en-IN"/>
          </a:p>
        </p:txBody>
      </p:sp>
      <p:sp>
        <p:nvSpPr>
          <p:cNvPr id="5" name="Footer Placeholder 4">
            <a:extLst>
              <a:ext uri="{FF2B5EF4-FFF2-40B4-BE49-F238E27FC236}">
                <a16:creationId xmlns="" xmlns:a16="http://schemas.microsoft.com/office/drawing/2014/main" id="{EB1BA2DD-E21A-1CBA-35AF-57A7400989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CB890FD9-F07D-3463-F67F-F3B631BC45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967E39-58FB-48A8-B597-60326E495E35}" type="slidenum">
              <a:rPr lang="en-IN" smtClean="0"/>
              <a:pPr/>
              <a:t>‹#›</a:t>
            </a:fld>
            <a:endParaRPr lang="en-IN"/>
          </a:p>
        </p:txBody>
      </p:sp>
    </p:spTree>
    <p:extLst>
      <p:ext uri="{BB962C8B-B14F-4D97-AF65-F5344CB8AC3E}">
        <p14:creationId xmlns="" xmlns:p14="http://schemas.microsoft.com/office/powerpoint/2010/main" val="26088711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axresdefault.jpg"/>
          <p:cNvPicPr>
            <a:picLocks noChangeAspect="1"/>
          </p:cNvPicPr>
          <p:nvPr/>
        </p:nvPicPr>
        <p:blipFill>
          <a:blip r:embed="rId2" cstate="print"/>
          <a:stretch>
            <a:fillRect/>
          </a:stretch>
        </p:blipFill>
        <p:spPr>
          <a:xfrm>
            <a:off x="485192" y="382555"/>
            <a:ext cx="11196735" cy="6139543"/>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F7E32F3-35CA-FC93-A719-7A3A03BBB209}"/>
              </a:ext>
            </a:extLst>
          </p:cNvPr>
          <p:cNvSpPr>
            <a:spLocks noGrp="1"/>
          </p:cNvSpPr>
          <p:nvPr>
            <p:ph type="title"/>
          </p:nvPr>
        </p:nvSpPr>
        <p:spPr/>
        <p:txBody>
          <a:bodyPr>
            <a:normAutofit/>
          </a:bodyPr>
          <a:lstStyle/>
          <a:p>
            <a:r>
              <a:rPr lang="en-IN" sz="3600" b="1" dirty="0"/>
              <a:t>Rest Assured Introduction</a:t>
            </a:r>
          </a:p>
        </p:txBody>
      </p:sp>
      <p:sp>
        <p:nvSpPr>
          <p:cNvPr id="3" name="Content Placeholder 2">
            <a:extLst>
              <a:ext uri="{FF2B5EF4-FFF2-40B4-BE49-F238E27FC236}">
                <a16:creationId xmlns="" xmlns:a16="http://schemas.microsoft.com/office/drawing/2014/main" id="{80D4E7A8-8D8C-F912-CFB2-936765240E27}"/>
              </a:ext>
            </a:extLst>
          </p:cNvPr>
          <p:cNvSpPr>
            <a:spLocks noGrp="1"/>
          </p:cNvSpPr>
          <p:nvPr>
            <p:ph idx="1"/>
          </p:nvPr>
        </p:nvSpPr>
        <p:spPr>
          <a:xfrm>
            <a:off x="838200" y="1855441"/>
            <a:ext cx="10515600" cy="4637433"/>
          </a:xfrm>
        </p:spPr>
        <p:txBody>
          <a:bodyPr>
            <a:normAutofit/>
          </a:bodyPr>
          <a:lstStyle/>
          <a:p>
            <a:pPr marL="0" indent="0">
              <a:buNone/>
            </a:pPr>
            <a:r>
              <a:rPr lang="en-US" sz="2400" dirty="0"/>
              <a:t>Rest Assured is a popular open-source Java library specifically designed to make testing and validating REST (Representational State Transfer) APIs simple and efficient.</a:t>
            </a:r>
          </a:p>
          <a:p>
            <a:pPr marL="0" indent="0">
              <a:buNone/>
            </a:pPr>
            <a:r>
              <a:rPr lang="en-US" sz="2400" dirty="0"/>
              <a:t>Think of it as a tool that lets you write automated tests for your web services in a way that is highly readable and easy to maintain.</a:t>
            </a:r>
          </a:p>
          <a:p>
            <a:pPr marL="0" indent="0">
              <a:buNone/>
            </a:pPr>
            <a:endParaRPr lang="en-US" sz="2400" dirty="0"/>
          </a:p>
          <a:p>
            <a:pPr marL="0" indent="0">
              <a:buNone/>
            </a:pPr>
            <a:r>
              <a:rPr lang="en-US" sz="2400" dirty="0"/>
              <a:t>Rest Assured is a Java-based library used for testing and validating RESTful APIs.</a:t>
            </a:r>
            <a:br>
              <a:rPr lang="en-US" sz="2400" dirty="0"/>
            </a:br>
            <a:r>
              <a:rPr lang="en-US" sz="2400" dirty="0"/>
              <a:t>It makes it easy to send HTTP requests (like GET, POST, PUT, DELETE) and verify responses in a simple, readable, and BDD-style syntax.</a:t>
            </a:r>
            <a:endParaRPr lang="en-IN" sz="2400" dirty="0"/>
          </a:p>
        </p:txBody>
      </p:sp>
    </p:spTree>
    <p:extLst>
      <p:ext uri="{BB962C8B-B14F-4D97-AF65-F5344CB8AC3E}">
        <p14:creationId xmlns="" xmlns:p14="http://schemas.microsoft.com/office/powerpoint/2010/main" val="91110919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4B69428-4161-F98F-B89C-33EA3DB836B4}"/>
              </a:ext>
            </a:extLst>
          </p:cNvPr>
          <p:cNvSpPr>
            <a:spLocks noGrp="1"/>
          </p:cNvSpPr>
          <p:nvPr>
            <p:ph type="title"/>
          </p:nvPr>
        </p:nvSpPr>
        <p:spPr/>
        <p:txBody>
          <a:bodyPr>
            <a:normAutofit/>
          </a:bodyPr>
          <a:lstStyle/>
          <a:p>
            <a:r>
              <a:rPr lang="en-IN" sz="3200" b="1" dirty="0"/>
              <a:t>given(), when(), and then()</a:t>
            </a:r>
          </a:p>
        </p:txBody>
      </p:sp>
      <p:sp>
        <p:nvSpPr>
          <p:cNvPr id="3" name="Content Placeholder 2">
            <a:extLst>
              <a:ext uri="{FF2B5EF4-FFF2-40B4-BE49-F238E27FC236}">
                <a16:creationId xmlns="" xmlns:a16="http://schemas.microsoft.com/office/drawing/2014/main" id="{9C5B8F7B-10F5-C38E-47EA-8CD78F9A9973}"/>
              </a:ext>
            </a:extLst>
          </p:cNvPr>
          <p:cNvSpPr>
            <a:spLocks noGrp="1"/>
          </p:cNvSpPr>
          <p:nvPr>
            <p:ph idx="1"/>
          </p:nvPr>
        </p:nvSpPr>
        <p:spPr/>
        <p:txBody>
          <a:bodyPr/>
          <a:lstStyle/>
          <a:p>
            <a:pPr marL="0" indent="0">
              <a:buNone/>
            </a:pPr>
            <a:r>
              <a:rPr lang="en-US" dirty="0"/>
              <a:t>The most defining feature of Rest Assured is its BDD (Behavior-Driven Development) style syntax. It structures your tests into three clear parts, making them read almost like plain English.</a:t>
            </a:r>
          </a:p>
          <a:p>
            <a:pPr marL="0" indent="0">
              <a:buNone/>
            </a:pPr>
            <a:endParaRPr lang="en-IN" dirty="0"/>
          </a:p>
          <a:p>
            <a:pPr>
              <a:buFont typeface="Wingdings" panose="05000000000000000000" pitchFamily="2" charset="2"/>
              <a:buChar char="Ø"/>
            </a:pPr>
            <a:r>
              <a:rPr lang="en-IN" dirty="0"/>
              <a:t>given()</a:t>
            </a:r>
          </a:p>
          <a:p>
            <a:pPr>
              <a:buFont typeface="Wingdings" panose="05000000000000000000" pitchFamily="2" charset="2"/>
              <a:buChar char="Ø"/>
            </a:pPr>
            <a:r>
              <a:rPr lang="en-IN" dirty="0"/>
              <a:t>when()</a:t>
            </a:r>
          </a:p>
          <a:p>
            <a:pPr>
              <a:buFont typeface="Wingdings" panose="05000000000000000000" pitchFamily="2" charset="2"/>
              <a:buChar char="Ø"/>
            </a:pPr>
            <a:r>
              <a:rPr lang="en-IN" dirty="0"/>
              <a:t>then()</a:t>
            </a:r>
          </a:p>
        </p:txBody>
      </p:sp>
    </p:spTree>
    <p:extLst>
      <p:ext uri="{BB962C8B-B14F-4D97-AF65-F5344CB8AC3E}">
        <p14:creationId xmlns="" xmlns:p14="http://schemas.microsoft.com/office/powerpoint/2010/main" val="23655613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DD1A53A3-1478-203C-FDEB-28E07EE1F295}"/>
              </a:ext>
            </a:extLst>
          </p:cNvPr>
          <p:cNvSpPr>
            <a:spLocks noGrp="1"/>
          </p:cNvSpPr>
          <p:nvPr>
            <p:ph idx="1"/>
          </p:nvPr>
        </p:nvSpPr>
        <p:spPr>
          <a:xfrm>
            <a:off x="838200" y="218661"/>
            <a:ext cx="10515600" cy="6639339"/>
          </a:xfrm>
        </p:spPr>
        <p:txBody>
          <a:bodyPr>
            <a:normAutofit fontScale="70000" lnSpcReduction="20000"/>
          </a:bodyPr>
          <a:lstStyle/>
          <a:p>
            <a:pPr marL="0" indent="0">
              <a:buNone/>
            </a:pPr>
            <a:r>
              <a:rPr lang="en-IN" sz="3600" b="1" dirty="0"/>
              <a:t> </a:t>
            </a:r>
            <a:r>
              <a:rPr lang="en-US" sz="4000" b="1" dirty="0"/>
              <a:t>given() - The Setup or </a:t>
            </a:r>
            <a:r>
              <a:rPr lang="en-IN" sz="4000" b="1" dirty="0"/>
              <a:t>Precondition</a:t>
            </a:r>
            <a:r>
              <a:rPr lang="en-US" sz="4000" b="1" dirty="0"/>
              <a:t> </a:t>
            </a:r>
          </a:p>
          <a:p>
            <a:pPr marL="0" indent="0">
              <a:buNone/>
            </a:pPr>
            <a:endParaRPr lang="en-US" b="1" dirty="0"/>
          </a:p>
          <a:p>
            <a:r>
              <a:rPr lang="en-US" dirty="0"/>
              <a:t>The given() method is used to </a:t>
            </a:r>
            <a:r>
              <a:rPr lang="en-US" b="1" dirty="0"/>
              <a:t>prepare the request</a:t>
            </a:r>
            <a:r>
              <a:rPr lang="en-US" dirty="0"/>
              <a:t>. This is where you set all preconditions and provide the data that needs to be sent to the server.</a:t>
            </a:r>
          </a:p>
          <a:p>
            <a:r>
              <a:rPr lang="en-US" dirty="0"/>
              <a:t>This defines the </a:t>
            </a:r>
            <a:r>
              <a:rPr lang="en-US" b="1" dirty="0"/>
              <a:t>request setup</a:t>
            </a:r>
            <a:r>
              <a:rPr lang="en-US" dirty="0"/>
              <a:t> — such as headers, parameters, body, authentication, etc.</a:t>
            </a:r>
          </a:p>
          <a:p>
            <a:endParaRPr lang="en-US" dirty="0"/>
          </a:p>
          <a:p>
            <a:pPr marL="0" indent="0">
              <a:buNone/>
            </a:pPr>
            <a:r>
              <a:rPr lang="en-US" dirty="0"/>
              <a:t>Syntax: given()</a:t>
            </a:r>
          </a:p>
          <a:p>
            <a:pPr marL="0" indent="0">
              <a:buNone/>
            </a:pPr>
            <a:r>
              <a:rPr lang="en-US" dirty="0"/>
              <a:t>             .baseUri("https://growskillit.com")</a:t>
            </a:r>
          </a:p>
          <a:p>
            <a:pPr marL="0" indent="0">
              <a:buNone/>
            </a:pPr>
            <a:r>
              <a:rPr lang="en-US" dirty="0"/>
              <a:t>             .header("Content-Type", "application/</a:t>
            </a:r>
            <a:r>
              <a:rPr lang="en-US" dirty="0" err="1"/>
              <a:t>json</a:t>
            </a:r>
            <a:r>
              <a:rPr lang="en-US" dirty="0"/>
              <a:t>")</a:t>
            </a:r>
          </a:p>
          <a:p>
            <a:pPr marL="0" indent="0">
              <a:buNone/>
            </a:pPr>
            <a:r>
              <a:rPr lang="en-US" dirty="0"/>
              <a:t>             .body("{ \"name\": \"Manas\" }");</a:t>
            </a:r>
            <a:br>
              <a:rPr lang="en-US" dirty="0"/>
            </a:br>
            <a:endParaRPr lang="en-US" dirty="0"/>
          </a:p>
          <a:p>
            <a:pPr marL="0" indent="0">
              <a:buNone/>
            </a:pPr>
            <a:r>
              <a:rPr lang="en-US" u="sng" dirty="0"/>
              <a:t>Use given() for:</a:t>
            </a:r>
          </a:p>
          <a:p>
            <a:pPr marL="0" indent="0">
              <a:buNone/>
            </a:pPr>
            <a:endParaRPr lang="en-US" u="sng" dirty="0"/>
          </a:p>
          <a:p>
            <a:pPr>
              <a:buFont typeface="Wingdings" panose="05000000000000000000" pitchFamily="2" charset="2"/>
              <a:buChar char="Ø"/>
            </a:pPr>
            <a:r>
              <a:rPr lang="en-US" dirty="0"/>
              <a:t>Base URI / Base Path</a:t>
            </a:r>
          </a:p>
          <a:p>
            <a:pPr>
              <a:buFont typeface="Wingdings" panose="05000000000000000000" pitchFamily="2" charset="2"/>
              <a:buChar char="Ø"/>
            </a:pPr>
            <a:r>
              <a:rPr lang="en-US" dirty="0"/>
              <a:t>Query parameters</a:t>
            </a:r>
          </a:p>
          <a:p>
            <a:pPr>
              <a:buFont typeface="Wingdings" panose="05000000000000000000" pitchFamily="2" charset="2"/>
              <a:buChar char="Ø"/>
            </a:pPr>
            <a:r>
              <a:rPr lang="en-US" dirty="0"/>
              <a:t>Path parameters</a:t>
            </a:r>
          </a:p>
          <a:p>
            <a:pPr>
              <a:buFont typeface="Wingdings" panose="05000000000000000000" pitchFamily="2" charset="2"/>
              <a:buChar char="Ø"/>
            </a:pPr>
            <a:r>
              <a:rPr lang="en-US" dirty="0"/>
              <a:t>Request body</a:t>
            </a:r>
          </a:p>
          <a:p>
            <a:pPr>
              <a:buFont typeface="Wingdings" panose="05000000000000000000" pitchFamily="2" charset="2"/>
              <a:buChar char="Ø"/>
            </a:pPr>
            <a:r>
              <a:rPr lang="en-US" dirty="0"/>
              <a:t>Authentication</a:t>
            </a:r>
          </a:p>
          <a:p>
            <a:pPr>
              <a:buFont typeface="Wingdings" panose="05000000000000000000" pitchFamily="2" charset="2"/>
              <a:buChar char="Ø"/>
            </a:pPr>
            <a:r>
              <a:rPr lang="en-US" dirty="0"/>
              <a:t>Headers</a:t>
            </a:r>
          </a:p>
          <a:p>
            <a:pPr marL="0" indent="0">
              <a:buNone/>
            </a:pPr>
            <a:endParaRPr lang="en-US" dirty="0"/>
          </a:p>
          <a:p>
            <a:pPr marL="0" indent="0">
              <a:buNone/>
            </a:pPr>
            <a:endParaRPr lang="en-IN" dirty="0"/>
          </a:p>
        </p:txBody>
      </p:sp>
    </p:spTree>
    <p:extLst>
      <p:ext uri="{BB962C8B-B14F-4D97-AF65-F5344CB8AC3E}">
        <p14:creationId xmlns="" xmlns:p14="http://schemas.microsoft.com/office/powerpoint/2010/main" val="37578076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51BB433-C3FD-E1F4-219B-7760798D74A0}"/>
              </a:ext>
            </a:extLst>
          </p:cNvPr>
          <p:cNvSpPr>
            <a:spLocks noGrp="1"/>
          </p:cNvSpPr>
          <p:nvPr>
            <p:ph idx="1"/>
          </p:nvPr>
        </p:nvSpPr>
        <p:spPr>
          <a:xfrm>
            <a:off x="625151" y="475862"/>
            <a:ext cx="10728649" cy="5701102"/>
          </a:xfrm>
        </p:spPr>
        <p:txBody>
          <a:bodyPr>
            <a:normAutofit/>
          </a:bodyPr>
          <a:lstStyle/>
          <a:p>
            <a:pPr marL="0" indent="0">
              <a:buNone/>
            </a:pPr>
            <a:r>
              <a:rPr lang="en-IN" b="1" dirty="0"/>
              <a:t>when() — Action / Request Execution</a:t>
            </a:r>
          </a:p>
          <a:p>
            <a:pPr marL="0" indent="0">
              <a:buNone/>
            </a:pPr>
            <a:endParaRPr lang="en-IN" b="1" dirty="0"/>
          </a:p>
          <a:p>
            <a:r>
              <a:rPr lang="en-US" sz="2000" dirty="0"/>
              <a:t>The when() method signifies the execution of the HTTP request. It's the "action" part of the test. You chain the specific HTTP method you want to perform (like GET, POST, PUT, DELETE) onto the when() method.</a:t>
            </a:r>
          </a:p>
          <a:p>
            <a:pPr marL="0" indent="0">
              <a:buNone/>
            </a:pPr>
            <a:endParaRPr lang="en-US" sz="2000" dirty="0"/>
          </a:p>
          <a:p>
            <a:r>
              <a:rPr lang="en-US" sz="2000" dirty="0"/>
              <a:t>This specifies what action you’re performing — the actual HTTP request.</a:t>
            </a:r>
          </a:p>
          <a:p>
            <a:endParaRPr lang="en-US" sz="2000" dirty="0"/>
          </a:p>
          <a:p>
            <a:pPr marL="0" indent="0">
              <a:buNone/>
            </a:pPr>
            <a:r>
              <a:rPr lang="en-US" sz="2000" dirty="0"/>
              <a:t>Syntax: when(). post("/api/users") // Perform the POST request on this endpoint</a:t>
            </a:r>
          </a:p>
          <a:p>
            <a:pPr marL="0" indent="0">
              <a:buNone/>
            </a:pPr>
            <a:endParaRPr lang="en-US" sz="2000" dirty="0"/>
          </a:p>
          <a:p>
            <a:pPr marL="0" indent="0">
              <a:buNone/>
            </a:pPr>
            <a:r>
              <a:rPr lang="en-US" sz="2000" u="sng" dirty="0"/>
              <a:t>Use when() for:</a:t>
            </a:r>
          </a:p>
          <a:p>
            <a:pPr marL="0" indent="0">
              <a:buNone/>
            </a:pPr>
            <a:endParaRPr lang="en-US" sz="2000" u="sng" dirty="0"/>
          </a:p>
          <a:p>
            <a:pPr>
              <a:buFont typeface="Wingdings" panose="05000000000000000000" pitchFamily="2" charset="2"/>
              <a:buChar char="Ø"/>
            </a:pPr>
            <a:r>
              <a:rPr lang="en-US" sz="2000" dirty="0"/>
              <a:t>Sending HTTP requests (get(), post(), put(), delete(), etc.)</a:t>
            </a:r>
          </a:p>
          <a:p>
            <a:pPr>
              <a:buFont typeface="Wingdings" panose="05000000000000000000" pitchFamily="2" charset="2"/>
              <a:buChar char="Ø"/>
            </a:pPr>
            <a:r>
              <a:rPr lang="en-US" sz="2000" dirty="0"/>
              <a:t>Including the Resource in method/request</a:t>
            </a:r>
          </a:p>
          <a:p>
            <a:pPr marL="0" indent="0">
              <a:buNone/>
            </a:pPr>
            <a:endParaRPr lang="en-IN" sz="2000" dirty="0"/>
          </a:p>
        </p:txBody>
      </p:sp>
    </p:spTree>
    <p:extLst>
      <p:ext uri="{BB962C8B-B14F-4D97-AF65-F5344CB8AC3E}">
        <p14:creationId xmlns="" xmlns:p14="http://schemas.microsoft.com/office/powerpoint/2010/main" val="5457948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03B77C1A-8DE5-A13B-58B7-7CC4CCE4777E}"/>
              </a:ext>
            </a:extLst>
          </p:cNvPr>
          <p:cNvSpPr>
            <a:spLocks noGrp="1"/>
          </p:cNvSpPr>
          <p:nvPr>
            <p:ph idx="1"/>
          </p:nvPr>
        </p:nvSpPr>
        <p:spPr>
          <a:xfrm>
            <a:off x="838200" y="506896"/>
            <a:ext cx="10515600" cy="5670067"/>
          </a:xfrm>
        </p:spPr>
        <p:txBody>
          <a:bodyPr>
            <a:normAutofit fontScale="92500" lnSpcReduction="10000"/>
          </a:bodyPr>
          <a:lstStyle/>
          <a:p>
            <a:pPr marL="0" indent="0">
              <a:buNone/>
            </a:pPr>
            <a:r>
              <a:rPr lang="en-US" sz="3000" b="1" dirty="0"/>
              <a:t>then() - Validation</a:t>
            </a:r>
          </a:p>
          <a:p>
            <a:pPr marL="0" indent="0">
              <a:buNone/>
            </a:pPr>
            <a:endParaRPr lang="en-US" b="1" dirty="0"/>
          </a:p>
          <a:p>
            <a:r>
              <a:rPr lang="en-US" sz="2000" dirty="0"/>
              <a:t>The then() method is where </a:t>
            </a:r>
            <a:r>
              <a:rPr lang="en-US" sz="2000" dirty="0" smtClean="0"/>
              <a:t>we </a:t>
            </a:r>
            <a:r>
              <a:rPr lang="en-US" sz="2000" b="1" dirty="0" smtClean="0"/>
              <a:t>validate </a:t>
            </a:r>
            <a:r>
              <a:rPr lang="en-US" sz="2000" b="1" dirty="0"/>
              <a:t>the </a:t>
            </a:r>
            <a:r>
              <a:rPr lang="en-US" sz="2000" b="1"/>
              <a:t>response</a:t>
            </a:r>
            <a:r>
              <a:rPr lang="en-US" sz="2000"/>
              <a:t> </a:t>
            </a:r>
            <a:r>
              <a:rPr lang="en-US" sz="2000" smtClean="0"/>
              <a:t>we get </a:t>
            </a:r>
            <a:r>
              <a:rPr lang="en-US" sz="2000" dirty="0"/>
              <a:t>back from the server. This is the "assertion" part of your </a:t>
            </a:r>
            <a:r>
              <a:rPr lang="en-US" sz="2000" dirty="0" smtClean="0"/>
              <a:t>test script, </a:t>
            </a:r>
            <a:r>
              <a:rPr lang="en-US" sz="2000" dirty="0"/>
              <a:t>where </a:t>
            </a:r>
            <a:r>
              <a:rPr lang="en-US" sz="2000" dirty="0" smtClean="0"/>
              <a:t>we will check </a:t>
            </a:r>
            <a:r>
              <a:rPr lang="en-US" sz="2000" dirty="0"/>
              <a:t>if </a:t>
            </a:r>
            <a:r>
              <a:rPr lang="en-US" sz="2000" dirty="0" smtClean="0"/>
              <a:t>we</a:t>
            </a:r>
            <a:r>
              <a:rPr lang="en-US" sz="2000" dirty="0" smtClean="0"/>
              <a:t> </a:t>
            </a:r>
            <a:r>
              <a:rPr lang="en-US" sz="2000" dirty="0"/>
              <a:t>received what </a:t>
            </a:r>
            <a:r>
              <a:rPr lang="en-US" sz="2000" dirty="0" smtClean="0"/>
              <a:t>we expected</a:t>
            </a:r>
            <a:r>
              <a:rPr lang="en-US" sz="2000" dirty="0"/>
              <a:t>.</a:t>
            </a:r>
          </a:p>
          <a:p>
            <a:endParaRPr lang="en-US" sz="2000" dirty="0"/>
          </a:p>
          <a:p>
            <a:pPr marL="0" indent="0">
              <a:buNone/>
            </a:pPr>
            <a:r>
              <a:rPr lang="en-US" sz="2000" dirty="0"/>
              <a:t>Syntax: then(). log().all(). </a:t>
            </a:r>
          </a:p>
          <a:p>
            <a:pPr marL="0" indent="0">
              <a:buNone/>
            </a:pPr>
            <a:r>
              <a:rPr lang="en-US" sz="2000" dirty="0"/>
              <a:t>              statusCode(200). </a:t>
            </a:r>
          </a:p>
          <a:p>
            <a:pPr marL="0" indent="0">
              <a:buNone/>
            </a:pPr>
            <a:r>
              <a:rPr lang="en-US" sz="2000" dirty="0"/>
              <a:t>              body("job", equalTo("leader")). </a:t>
            </a:r>
          </a:p>
          <a:p>
            <a:pPr marL="0" indent="0">
              <a:buNone/>
            </a:pPr>
            <a:r>
              <a:rPr lang="en-US" sz="2000" dirty="0"/>
              <a:t>              body("id", “1342" ) // Using Hamcrest matchers</a:t>
            </a:r>
          </a:p>
          <a:p>
            <a:pPr marL="0" indent="0">
              <a:buNone/>
            </a:pPr>
            <a:endParaRPr lang="en-IN" dirty="0"/>
          </a:p>
          <a:p>
            <a:pPr marL="0" indent="0">
              <a:buNone/>
            </a:pPr>
            <a:r>
              <a:rPr lang="en-US" sz="2200" dirty="0"/>
              <a:t>Use then() for:</a:t>
            </a:r>
          </a:p>
          <a:p>
            <a:pPr>
              <a:buFont typeface="Wingdings" panose="05000000000000000000" pitchFamily="2" charset="2"/>
              <a:buChar char="Ø"/>
            </a:pPr>
            <a:r>
              <a:rPr lang="en-US" sz="2200" dirty="0"/>
              <a:t>Verifying status code</a:t>
            </a:r>
          </a:p>
          <a:p>
            <a:pPr>
              <a:buFont typeface="Wingdings" panose="05000000000000000000" pitchFamily="2" charset="2"/>
              <a:buChar char="Ø"/>
            </a:pPr>
            <a:r>
              <a:rPr lang="en-US" sz="2200" dirty="0"/>
              <a:t>Validating response body</a:t>
            </a:r>
          </a:p>
          <a:p>
            <a:pPr>
              <a:buFont typeface="Wingdings" panose="05000000000000000000" pitchFamily="2" charset="2"/>
              <a:buChar char="Ø"/>
            </a:pPr>
            <a:r>
              <a:rPr lang="en-US" sz="2200" dirty="0"/>
              <a:t>Checking headers</a:t>
            </a:r>
          </a:p>
          <a:p>
            <a:pPr>
              <a:buFont typeface="Wingdings" panose="05000000000000000000" pitchFamily="2" charset="2"/>
              <a:buChar char="Ø"/>
            </a:pPr>
            <a:r>
              <a:rPr lang="en-US" sz="2200" dirty="0"/>
              <a:t>Extracting response data for further checks</a:t>
            </a:r>
          </a:p>
          <a:p>
            <a:pPr marL="0" indent="0">
              <a:buNone/>
            </a:pPr>
            <a:endParaRPr lang="en-IN" dirty="0"/>
          </a:p>
        </p:txBody>
      </p:sp>
    </p:spTree>
    <p:extLst>
      <p:ext uri="{BB962C8B-B14F-4D97-AF65-F5344CB8AC3E}">
        <p14:creationId xmlns="" xmlns:p14="http://schemas.microsoft.com/office/powerpoint/2010/main" val="19652277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602776-9FF6-B465-FE11-684CA45AA0CD}"/>
              </a:ext>
            </a:extLst>
          </p:cNvPr>
          <p:cNvSpPr>
            <a:spLocks noGrp="1"/>
          </p:cNvSpPr>
          <p:nvPr>
            <p:ph type="title"/>
          </p:nvPr>
        </p:nvSpPr>
        <p:spPr>
          <a:xfrm>
            <a:off x="838200" y="603665"/>
            <a:ext cx="10515600" cy="1105866"/>
          </a:xfrm>
        </p:spPr>
        <p:txBody>
          <a:bodyPr>
            <a:normAutofit/>
          </a:bodyPr>
          <a:lstStyle/>
          <a:p>
            <a:r>
              <a:rPr lang="en-IN" sz="3600" b="1" u="sng" dirty="0"/>
              <a:t>Summary</a:t>
            </a:r>
          </a:p>
        </p:txBody>
      </p:sp>
      <p:sp>
        <p:nvSpPr>
          <p:cNvPr id="3" name="Content Placeholder 2">
            <a:extLst>
              <a:ext uri="{FF2B5EF4-FFF2-40B4-BE49-F238E27FC236}">
                <a16:creationId xmlns="" xmlns:a16="http://schemas.microsoft.com/office/drawing/2014/main" id="{468872ED-CD33-7711-F4C0-E6512630CAF3}"/>
              </a:ext>
            </a:extLst>
          </p:cNvPr>
          <p:cNvSpPr>
            <a:spLocks noGrp="1"/>
          </p:cNvSpPr>
          <p:nvPr>
            <p:ph idx="1"/>
          </p:nvPr>
        </p:nvSpPr>
        <p:spPr/>
        <p:txBody>
          <a:bodyPr/>
          <a:lstStyle/>
          <a:p>
            <a:pPr marL="0" indent="0">
              <a:buNone/>
            </a:pPr>
            <a:endParaRPr lang="en-IN" dirty="0"/>
          </a:p>
          <a:p>
            <a:pPr marL="0" indent="0">
              <a:buNone/>
            </a:pPr>
            <a:endParaRPr lang="en-IN" dirty="0"/>
          </a:p>
        </p:txBody>
      </p:sp>
      <p:graphicFrame>
        <p:nvGraphicFramePr>
          <p:cNvPr id="4" name="Table 3">
            <a:extLst>
              <a:ext uri="{FF2B5EF4-FFF2-40B4-BE49-F238E27FC236}">
                <a16:creationId xmlns="" xmlns:a16="http://schemas.microsoft.com/office/drawing/2014/main" id="{A406F7A7-91C4-9230-1E72-DA41ADB3CAA8}"/>
              </a:ext>
            </a:extLst>
          </p:cNvPr>
          <p:cNvGraphicFramePr>
            <a:graphicFrameLocks noGrp="1"/>
          </p:cNvGraphicFramePr>
          <p:nvPr>
            <p:extLst>
              <p:ext uri="{D42A27DB-BD31-4B8C-83A1-F6EECF244321}">
                <p14:modId xmlns="" xmlns:p14="http://schemas.microsoft.com/office/powerpoint/2010/main" val="1999559956"/>
              </p:ext>
            </p:extLst>
          </p:nvPr>
        </p:nvGraphicFramePr>
        <p:xfrm>
          <a:off x="838200" y="2067339"/>
          <a:ext cx="10515600" cy="2802634"/>
        </p:xfrm>
        <a:graphic>
          <a:graphicData uri="http://schemas.openxmlformats.org/drawingml/2006/table">
            <a:tbl>
              <a:tblPr>
                <a:tableStyleId>{5940675A-B579-460E-94D1-54222C63F5DA}</a:tableStyleId>
              </a:tblPr>
              <a:tblGrid>
                <a:gridCol w="3505200">
                  <a:extLst>
                    <a:ext uri="{9D8B030D-6E8A-4147-A177-3AD203B41FA5}">
                      <a16:colId xmlns="" xmlns:a16="http://schemas.microsoft.com/office/drawing/2014/main" val="4227869247"/>
                    </a:ext>
                  </a:extLst>
                </a:gridCol>
                <a:gridCol w="3505200">
                  <a:extLst>
                    <a:ext uri="{9D8B030D-6E8A-4147-A177-3AD203B41FA5}">
                      <a16:colId xmlns="" xmlns:a16="http://schemas.microsoft.com/office/drawing/2014/main" val="4036859391"/>
                    </a:ext>
                  </a:extLst>
                </a:gridCol>
                <a:gridCol w="3505200">
                  <a:extLst>
                    <a:ext uri="{9D8B030D-6E8A-4147-A177-3AD203B41FA5}">
                      <a16:colId xmlns="" xmlns:a16="http://schemas.microsoft.com/office/drawing/2014/main" val="1238428623"/>
                    </a:ext>
                  </a:extLst>
                </a:gridCol>
              </a:tblGrid>
              <a:tr h="590028">
                <a:tc>
                  <a:txBody>
                    <a:bodyPr/>
                    <a:lstStyle/>
                    <a:p>
                      <a:pPr>
                        <a:buNone/>
                      </a:pPr>
                      <a:r>
                        <a:rPr lang="en-IN" sz="2200" b="1" dirty="0"/>
                        <a:t>Keyword</a:t>
                      </a:r>
                    </a:p>
                  </a:txBody>
                  <a:tcPr anchor="ctr"/>
                </a:tc>
                <a:tc>
                  <a:txBody>
                    <a:bodyPr/>
                    <a:lstStyle/>
                    <a:p>
                      <a:pPr>
                        <a:buNone/>
                      </a:pPr>
                      <a:r>
                        <a:rPr lang="en-IN" sz="2200" b="1"/>
                        <a:t>Purpose</a:t>
                      </a:r>
                    </a:p>
                  </a:txBody>
                  <a:tcPr anchor="ctr"/>
                </a:tc>
                <a:tc>
                  <a:txBody>
                    <a:bodyPr/>
                    <a:lstStyle/>
                    <a:p>
                      <a:pPr>
                        <a:buNone/>
                      </a:pPr>
                      <a:r>
                        <a:rPr lang="en-IN" sz="2200" b="1" dirty="0"/>
                        <a:t>Typical Use</a:t>
                      </a:r>
                    </a:p>
                  </a:txBody>
                  <a:tcPr anchor="ctr"/>
                </a:tc>
                <a:extLst>
                  <a:ext uri="{0D108BD9-81ED-4DB2-BD59-A6C34878D82A}">
                    <a16:rowId xmlns="" xmlns:a16="http://schemas.microsoft.com/office/drawing/2014/main" val="3821444182"/>
                  </a:ext>
                </a:extLst>
              </a:tr>
              <a:tr h="590028">
                <a:tc>
                  <a:txBody>
                    <a:bodyPr/>
                    <a:lstStyle/>
                    <a:p>
                      <a:pPr>
                        <a:buNone/>
                      </a:pPr>
                      <a:r>
                        <a:rPr lang="en-IN" b="0"/>
                        <a:t>given()</a:t>
                      </a:r>
                    </a:p>
                  </a:txBody>
                  <a:tcPr anchor="ctr"/>
                </a:tc>
                <a:tc>
                  <a:txBody>
                    <a:bodyPr/>
                    <a:lstStyle/>
                    <a:p>
                      <a:pPr>
                        <a:buNone/>
                      </a:pPr>
                      <a:r>
                        <a:rPr lang="en-IN" b="0" dirty="0"/>
                        <a:t>Setup/Preconditions</a:t>
                      </a:r>
                    </a:p>
                  </a:txBody>
                  <a:tcPr anchor="ctr"/>
                </a:tc>
                <a:tc>
                  <a:txBody>
                    <a:bodyPr/>
                    <a:lstStyle/>
                    <a:p>
                      <a:pPr>
                        <a:buNone/>
                      </a:pPr>
                      <a:r>
                        <a:rPr lang="en-US" b="0"/>
                        <a:t>Base URI, headers, body, params</a:t>
                      </a:r>
                    </a:p>
                  </a:txBody>
                  <a:tcPr anchor="ctr"/>
                </a:tc>
                <a:extLst>
                  <a:ext uri="{0D108BD9-81ED-4DB2-BD59-A6C34878D82A}">
                    <a16:rowId xmlns="" xmlns:a16="http://schemas.microsoft.com/office/drawing/2014/main" val="2856587272"/>
                  </a:ext>
                </a:extLst>
              </a:tr>
              <a:tr h="1032550">
                <a:tc>
                  <a:txBody>
                    <a:bodyPr/>
                    <a:lstStyle/>
                    <a:p>
                      <a:pPr>
                        <a:buNone/>
                      </a:pPr>
                      <a:r>
                        <a:rPr lang="en-IN" b="0" dirty="0"/>
                        <a:t>when()</a:t>
                      </a:r>
                    </a:p>
                  </a:txBody>
                  <a:tcPr anchor="ctr"/>
                </a:tc>
                <a:tc>
                  <a:txBody>
                    <a:bodyPr/>
                    <a:lstStyle/>
                    <a:p>
                      <a:pPr>
                        <a:buNone/>
                      </a:pPr>
                      <a:r>
                        <a:rPr lang="en-IN" b="0" dirty="0"/>
                        <a:t>Performing Action</a:t>
                      </a:r>
                    </a:p>
                  </a:txBody>
                  <a:tcPr anchor="ctr"/>
                </a:tc>
                <a:tc>
                  <a:txBody>
                    <a:bodyPr/>
                    <a:lstStyle/>
                    <a:p>
                      <a:pPr>
                        <a:buNone/>
                      </a:pPr>
                      <a:r>
                        <a:rPr lang="en-US" b="0" dirty="0"/>
                        <a:t>Send GET, POST, PUT, DELETE request</a:t>
                      </a:r>
                    </a:p>
                  </a:txBody>
                  <a:tcPr anchor="ctr"/>
                </a:tc>
                <a:extLst>
                  <a:ext uri="{0D108BD9-81ED-4DB2-BD59-A6C34878D82A}">
                    <a16:rowId xmlns="" xmlns:a16="http://schemas.microsoft.com/office/drawing/2014/main" val="4231491583"/>
                  </a:ext>
                </a:extLst>
              </a:tr>
              <a:tr h="590028">
                <a:tc>
                  <a:txBody>
                    <a:bodyPr/>
                    <a:lstStyle/>
                    <a:p>
                      <a:pPr>
                        <a:buNone/>
                      </a:pPr>
                      <a:r>
                        <a:rPr lang="en-IN" b="0"/>
                        <a:t>then()</a:t>
                      </a:r>
                    </a:p>
                  </a:txBody>
                  <a:tcPr anchor="ctr"/>
                </a:tc>
                <a:tc>
                  <a:txBody>
                    <a:bodyPr/>
                    <a:lstStyle/>
                    <a:p>
                      <a:pPr>
                        <a:buNone/>
                      </a:pPr>
                      <a:r>
                        <a:rPr lang="en-IN" b="0" dirty="0"/>
                        <a:t>Verify response/Validation</a:t>
                      </a:r>
                    </a:p>
                  </a:txBody>
                  <a:tcPr anchor="ctr"/>
                </a:tc>
                <a:tc>
                  <a:txBody>
                    <a:bodyPr/>
                    <a:lstStyle/>
                    <a:p>
                      <a:pPr>
                        <a:buNone/>
                      </a:pPr>
                      <a:r>
                        <a:rPr lang="en-US" b="0" dirty="0"/>
                        <a:t>Check status code, body, headers</a:t>
                      </a:r>
                    </a:p>
                  </a:txBody>
                  <a:tcPr anchor="ctr"/>
                </a:tc>
                <a:extLst>
                  <a:ext uri="{0D108BD9-81ED-4DB2-BD59-A6C34878D82A}">
                    <a16:rowId xmlns="" xmlns:a16="http://schemas.microsoft.com/office/drawing/2014/main" val="3357835877"/>
                  </a:ext>
                </a:extLst>
              </a:tr>
            </a:tbl>
          </a:graphicData>
        </a:graphic>
      </p:graphicFrame>
    </p:spTree>
    <p:extLst>
      <p:ext uri="{BB962C8B-B14F-4D97-AF65-F5344CB8AC3E}">
        <p14:creationId xmlns="" xmlns:p14="http://schemas.microsoft.com/office/powerpoint/2010/main" val="30469551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F5EADCD-5955-42F7-8871-06F28A80F1C6}"/>
              </a:ext>
            </a:extLst>
          </p:cNvPr>
          <p:cNvSpPr>
            <a:spLocks noGrp="1"/>
          </p:cNvSpPr>
          <p:nvPr>
            <p:ph type="title"/>
          </p:nvPr>
        </p:nvSpPr>
        <p:spPr>
          <a:xfrm>
            <a:off x="838199" y="156403"/>
            <a:ext cx="10515600" cy="1325563"/>
          </a:xfrm>
        </p:spPr>
        <p:txBody>
          <a:bodyPr>
            <a:normAutofit/>
          </a:bodyPr>
          <a:lstStyle/>
          <a:p>
            <a:r>
              <a:rPr lang="en-IN" sz="3600" b="1" dirty="0">
                <a:latin typeface="+mn-lt"/>
              </a:rPr>
              <a:t>Why Use Rest Assured? </a:t>
            </a:r>
          </a:p>
        </p:txBody>
      </p:sp>
      <p:sp>
        <p:nvSpPr>
          <p:cNvPr id="4" name="Rectangle 1">
            <a:extLst>
              <a:ext uri="{FF2B5EF4-FFF2-40B4-BE49-F238E27FC236}">
                <a16:creationId xmlns="" xmlns:a16="http://schemas.microsoft.com/office/drawing/2014/main" id="{07B88430-9AF0-9296-EA92-68B5B0CC0CDB}"/>
              </a:ext>
            </a:extLst>
          </p:cNvPr>
          <p:cNvSpPr>
            <a:spLocks noGrp="1" noChangeArrowheads="1"/>
          </p:cNvSpPr>
          <p:nvPr>
            <p:ph idx="1"/>
          </p:nvPr>
        </p:nvSpPr>
        <p:spPr bwMode="auto">
          <a:xfrm>
            <a:off x="838199" y="1725982"/>
            <a:ext cx="10432775" cy="409342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rPr>
              <a:t> Excellent Readability:</a:t>
            </a:r>
            <a:r>
              <a:rPr kumimoji="0" lang="en-US" altLang="en-US" sz="2000" b="0" i="0" u="none" strike="noStrike" cap="none" normalizeH="0" baseline="0" dirty="0">
                <a:ln>
                  <a:noFill/>
                </a:ln>
                <a:solidFill>
                  <a:schemeClr val="tx1"/>
                </a:solidFill>
                <a:effectLst/>
              </a:rPr>
              <a:t> The given/when/then syntax makes tests self-documenting and easy for anyone (even non-technical stakeholders) to understand.</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rPr>
              <a:t> Seamless Integration:</a:t>
            </a:r>
            <a:r>
              <a:rPr kumimoji="0" lang="en-US" altLang="en-US" sz="2000" b="0" i="0" u="none" strike="noStrike" cap="none" normalizeH="0" baseline="0" dirty="0">
                <a:ln>
                  <a:noFill/>
                </a:ln>
                <a:solidFill>
                  <a:schemeClr val="tx1"/>
                </a:solidFill>
                <a:effectLst/>
              </a:rPr>
              <a:t> It's a Java library, so it integrates perfectly with popular testing frameworks like </a:t>
            </a:r>
            <a:r>
              <a:rPr kumimoji="0" lang="en-US" altLang="en-US" sz="2000" b="1" i="0" u="none" strike="noStrike" cap="none" normalizeH="0" baseline="0" dirty="0">
                <a:ln>
                  <a:noFill/>
                </a:ln>
                <a:solidFill>
                  <a:schemeClr val="tx1"/>
                </a:solidFill>
                <a:effectLst/>
              </a:rPr>
              <a:t>JUnit</a:t>
            </a:r>
            <a:r>
              <a:rPr kumimoji="0" lang="en-US" altLang="en-US" sz="2000" b="0" i="0" u="none" strike="noStrike" cap="none" normalizeH="0" baseline="0" dirty="0">
                <a:ln>
                  <a:noFill/>
                </a:ln>
                <a:solidFill>
                  <a:schemeClr val="tx1"/>
                </a:solidFill>
                <a:effectLst/>
              </a:rPr>
              <a:t> and </a:t>
            </a:r>
            <a:r>
              <a:rPr kumimoji="0" lang="en-US" altLang="en-US" sz="2000" b="1" i="0" u="none" strike="noStrike" cap="none" normalizeH="0" baseline="0" dirty="0">
                <a:ln>
                  <a:noFill/>
                </a:ln>
                <a:solidFill>
                  <a:schemeClr val="tx1"/>
                </a:solidFill>
                <a:effectLst/>
              </a:rPr>
              <a:t>TestNG</a:t>
            </a:r>
            <a:r>
              <a:rPr kumimoji="0" lang="en-US" altLang="en-US" sz="2000" b="0" i="0" u="none" strike="noStrike" cap="none" normalizeH="0" baseline="0" dirty="0">
                <a:ln>
                  <a:noFill/>
                </a:ln>
                <a:solidFill>
                  <a:schemeClr val="tx1"/>
                </a:solidFill>
                <a:effectLst/>
              </a:rPr>
              <a:t>. You can run your API tests as part of your standard build and CI/CD (Continuous Integration/Continuous Deployment) pipeline.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rPr>
              <a:t> Powerful Validations:</a:t>
            </a:r>
            <a:r>
              <a:rPr kumimoji="0" lang="en-US" altLang="en-US" sz="2000" b="0" i="0" u="none" strike="noStrike" cap="none" normalizeH="0" baseline="0" dirty="0">
                <a:ln>
                  <a:noFill/>
                </a:ln>
                <a:solidFill>
                  <a:schemeClr val="tx1"/>
                </a:solidFill>
                <a:effectLst/>
              </a:rPr>
              <a:t> Rest Assured has built-in support for powerful assertion matchers (using Hamcrest) and allows for easy validation of JSON and XML responses using "path" expressions (like </a:t>
            </a:r>
            <a:r>
              <a:rPr kumimoji="0" lang="en-US" altLang="en-US" sz="2000" b="1" i="0" u="none" strike="noStrike" cap="none" normalizeH="0" baseline="0" dirty="0" err="1">
                <a:ln>
                  <a:noFill/>
                </a:ln>
                <a:solidFill>
                  <a:schemeClr val="tx1"/>
                </a:solidFill>
                <a:effectLst/>
              </a:rPr>
              <a:t>JSONPath</a:t>
            </a:r>
            <a:r>
              <a:rPr kumimoji="0" lang="en-US" altLang="en-US" sz="2000" b="0" i="0" u="none" strike="noStrike" cap="none" normalizeH="0" baseline="0" dirty="0">
                <a:ln>
                  <a:noFill/>
                </a:ln>
                <a:solidFill>
                  <a:schemeClr val="tx1"/>
                </a:solidFill>
                <a:effectLst/>
              </a:rPr>
              <a:t> and </a:t>
            </a:r>
            <a:r>
              <a:rPr kumimoji="0" lang="en-US" altLang="en-US" sz="2000" b="1" i="0" u="none" strike="noStrike" cap="none" normalizeH="0" baseline="0" dirty="0" err="1">
                <a:ln>
                  <a:noFill/>
                </a:ln>
                <a:solidFill>
                  <a:schemeClr val="tx1"/>
                </a:solidFill>
                <a:effectLst/>
              </a:rPr>
              <a:t>XMLPath</a:t>
            </a:r>
            <a:r>
              <a:rPr kumimoji="0" lang="en-US" altLang="en-US" sz="2000" b="0" i="0" u="none" strike="noStrike" cap="none" normalizeH="0" baseline="0" dirty="0">
                <a:ln>
                  <a:noFill/>
                </a:ln>
                <a:solidFill>
                  <a:schemeClr val="tx1"/>
                </a:solidFill>
                <a:effectLst/>
              </a:rPr>
              <a: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rPr>
              <a:t> Easy to Set Up:</a:t>
            </a:r>
            <a:r>
              <a:rPr kumimoji="0" lang="en-US" altLang="en-US" sz="2000" b="0" i="0" u="none" strike="noStrike" cap="none" normalizeH="0" baseline="0" dirty="0">
                <a:ln>
                  <a:noFill/>
                </a:ln>
                <a:solidFill>
                  <a:schemeClr val="tx1"/>
                </a:solidFill>
                <a:effectLst/>
              </a:rPr>
              <a:t> You just need to add it as a dependency (e.g., in your Maven pom.xml or Gradle file). There's no complex setup required.</a:t>
            </a:r>
          </a:p>
        </p:txBody>
      </p:sp>
    </p:spTree>
    <p:extLst>
      <p:ext uri="{BB962C8B-B14F-4D97-AF65-F5344CB8AC3E}">
        <p14:creationId xmlns="" xmlns:p14="http://schemas.microsoft.com/office/powerpoint/2010/main" val="8465453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5D7F7A4-4056-3ED7-D960-93652BA7FB02}"/>
              </a:ext>
            </a:extLst>
          </p:cNvPr>
          <p:cNvSpPr>
            <a:spLocks noGrp="1"/>
          </p:cNvSpPr>
          <p:nvPr>
            <p:ph type="title"/>
          </p:nvPr>
        </p:nvSpPr>
        <p:spPr>
          <a:xfrm>
            <a:off x="838198" y="76892"/>
            <a:ext cx="10515600" cy="668543"/>
          </a:xfrm>
        </p:spPr>
        <p:txBody>
          <a:bodyPr>
            <a:normAutofit/>
          </a:bodyPr>
          <a:lstStyle/>
          <a:p>
            <a:r>
              <a:rPr lang="en-US" sz="2400" b="1" u="sng" dirty="0"/>
              <a:t>How to Add Rest Assured (Maven)</a:t>
            </a:r>
            <a:endParaRPr lang="en-IN" sz="2400" b="1" u="sng" dirty="0"/>
          </a:p>
        </p:txBody>
      </p:sp>
      <p:sp>
        <p:nvSpPr>
          <p:cNvPr id="4" name="TextBox 3">
            <a:extLst>
              <a:ext uri="{FF2B5EF4-FFF2-40B4-BE49-F238E27FC236}">
                <a16:creationId xmlns="" xmlns:a16="http://schemas.microsoft.com/office/drawing/2014/main" id="{5D2663A3-0E73-460C-46BC-1FA5EFB278D8}"/>
              </a:ext>
            </a:extLst>
          </p:cNvPr>
          <p:cNvSpPr txBox="1"/>
          <p:nvPr/>
        </p:nvSpPr>
        <p:spPr>
          <a:xfrm>
            <a:off x="947530" y="934280"/>
            <a:ext cx="5006010" cy="1846659"/>
          </a:xfrm>
          <a:prstGeom prst="rect">
            <a:avLst/>
          </a:prstGeom>
          <a:noFill/>
        </p:spPr>
        <p:txBody>
          <a:bodyPr wrap="square" rtlCol="0">
            <a:spAutoFit/>
          </a:bodyPr>
          <a:lstStyle/>
          <a:p>
            <a:r>
              <a:rPr lang="en-US" sz="1900" dirty="0"/>
              <a:t>&lt;dependency&gt;</a:t>
            </a:r>
          </a:p>
          <a:p>
            <a:r>
              <a:rPr lang="en-US" sz="1900" dirty="0"/>
              <a:t>    &lt;</a:t>
            </a:r>
            <a:r>
              <a:rPr lang="en-US" sz="1900" dirty="0" err="1"/>
              <a:t>groupId</a:t>
            </a:r>
            <a:r>
              <a:rPr lang="en-US" sz="1900" dirty="0"/>
              <a:t>&gt;</a:t>
            </a:r>
            <a:r>
              <a:rPr lang="en-US" sz="1900" dirty="0" err="1"/>
              <a:t>io.rest</a:t>
            </a:r>
            <a:r>
              <a:rPr lang="en-US" sz="1900" dirty="0"/>
              <a:t>-assured&lt;/</a:t>
            </a:r>
            <a:r>
              <a:rPr lang="en-US" sz="1900" dirty="0" err="1"/>
              <a:t>groupId</a:t>
            </a:r>
            <a:r>
              <a:rPr lang="en-US" sz="1900" dirty="0"/>
              <a:t>&gt;</a:t>
            </a:r>
          </a:p>
          <a:p>
            <a:r>
              <a:rPr lang="en-US" sz="1900" dirty="0"/>
              <a:t>    &lt;</a:t>
            </a:r>
            <a:r>
              <a:rPr lang="en-US" sz="1900" dirty="0" err="1"/>
              <a:t>artifactId</a:t>
            </a:r>
            <a:r>
              <a:rPr lang="en-US" sz="1900" dirty="0"/>
              <a:t>&gt;rest-assured&lt;/</a:t>
            </a:r>
            <a:r>
              <a:rPr lang="en-US" sz="1900" dirty="0" err="1"/>
              <a:t>artifactId</a:t>
            </a:r>
            <a:r>
              <a:rPr lang="en-US" sz="1900" dirty="0"/>
              <a:t>&gt;</a:t>
            </a:r>
          </a:p>
          <a:p>
            <a:r>
              <a:rPr lang="en-US" sz="1900" dirty="0"/>
              <a:t>    &lt;version&gt;5.4.0&lt;/version&gt;</a:t>
            </a:r>
          </a:p>
          <a:p>
            <a:r>
              <a:rPr lang="en-US" sz="1900" dirty="0"/>
              <a:t>    &lt;scope&gt;test&lt;/scope&gt;</a:t>
            </a:r>
          </a:p>
          <a:p>
            <a:r>
              <a:rPr lang="en-US" sz="1900" dirty="0"/>
              <a:t>&lt;/dependency&gt;</a:t>
            </a:r>
            <a:endParaRPr lang="en-IN" sz="1900" dirty="0"/>
          </a:p>
        </p:txBody>
      </p:sp>
      <p:sp>
        <p:nvSpPr>
          <p:cNvPr id="5" name="Rectangle 4">
            <a:extLst>
              <a:ext uri="{FF2B5EF4-FFF2-40B4-BE49-F238E27FC236}">
                <a16:creationId xmlns="" xmlns:a16="http://schemas.microsoft.com/office/drawing/2014/main" id="{BA85086C-1686-4417-6680-1E461B4226E3}"/>
              </a:ext>
            </a:extLst>
          </p:cNvPr>
          <p:cNvSpPr/>
          <p:nvPr/>
        </p:nvSpPr>
        <p:spPr>
          <a:xfrm>
            <a:off x="838199" y="934280"/>
            <a:ext cx="5850836" cy="184665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 xmlns:a16="http://schemas.microsoft.com/office/drawing/2014/main" id="{D4D57058-705C-9C6A-BE6A-1160A9747996}"/>
              </a:ext>
            </a:extLst>
          </p:cNvPr>
          <p:cNvPicPr>
            <a:picLocks noChangeAspect="1"/>
          </p:cNvPicPr>
          <p:nvPr/>
        </p:nvPicPr>
        <p:blipFill>
          <a:blip r:embed="rId2" cstate="print"/>
          <a:stretch>
            <a:fillRect/>
          </a:stretch>
        </p:blipFill>
        <p:spPr>
          <a:xfrm>
            <a:off x="838198" y="3071190"/>
            <a:ext cx="6536637" cy="3620465"/>
          </a:xfrm>
          <a:prstGeom prst="rect">
            <a:avLst/>
          </a:prstGeom>
        </p:spPr>
      </p:pic>
    </p:spTree>
    <p:extLst>
      <p:ext uri="{BB962C8B-B14F-4D97-AF65-F5344CB8AC3E}">
        <p14:creationId xmlns="" xmlns:p14="http://schemas.microsoft.com/office/powerpoint/2010/main" val="19397377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438540" y="347371"/>
            <a:ext cx="11271378" cy="622138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279919" y="279917"/>
            <a:ext cx="11551298" cy="6316825"/>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298580" y="204755"/>
            <a:ext cx="11476654" cy="6297613"/>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289249" y="231322"/>
            <a:ext cx="11523305" cy="6290776"/>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srcRect/>
          <a:stretch>
            <a:fillRect/>
          </a:stretch>
        </p:blipFill>
        <p:spPr bwMode="auto">
          <a:xfrm>
            <a:off x="335902" y="354563"/>
            <a:ext cx="11569959" cy="6316825"/>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srcRect/>
          <a:stretch>
            <a:fillRect/>
          </a:stretch>
        </p:blipFill>
        <p:spPr bwMode="auto">
          <a:xfrm>
            <a:off x="134744" y="337846"/>
            <a:ext cx="11640490" cy="6109607"/>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TotalTime>
  <Words>628</Words>
  <Application>Microsoft Office PowerPoint</Application>
  <PresentationFormat>Custom</PresentationFormat>
  <Paragraphs>82</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Slide 1</vt:lpstr>
      <vt:lpstr>Rest Assured Introduction</vt:lpstr>
      <vt:lpstr>given(), when(), and then()</vt:lpstr>
      <vt:lpstr>Slide 4</vt:lpstr>
      <vt:lpstr>Slide 5</vt:lpstr>
      <vt:lpstr>Slide 6</vt:lpstr>
      <vt:lpstr>Summary</vt:lpstr>
      <vt:lpstr>Why Use Rest Assured? </vt:lpstr>
      <vt:lpstr>How to Add Rest Assured (Maven)</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Manas Tuwani</dc:creator>
  <cp:lastModifiedBy>Manas Tuwani</cp:lastModifiedBy>
  <cp:revision>8</cp:revision>
  <dcterms:created xsi:type="dcterms:W3CDTF">2025-11-08T13:54:49Z</dcterms:created>
  <dcterms:modified xsi:type="dcterms:W3CDTF">2025-11-26T02:24:38Z</dcterms:modified>
</cp:coreProperties>
</file>