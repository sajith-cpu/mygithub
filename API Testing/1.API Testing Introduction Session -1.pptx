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1"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F9467BFD-DBC7-43DD-94DF-ACBE8AAC81EB}"/>
    <pc:docChg chg="modSld sldOrd">
      <pc:chgData name="Manas Tuwani" userId="5d421215-a11f-4a6e-90ca-e8ac2213fab6" providerId="ADAL" clId="{F9467BFD-DBC7-43DD-94DF-ACBE8AAC81EB}" dt="2022-12-22T13:29:22.498" v="14"/>
      <pc:docMkLst>
        <pc:docMk/>
      </pc:docMkLst>
      <pc:sldChg chg="ord">
        <pc:chgData name="Manas Tuwani" userId="5d421215-a11f-4a6e-90ca-e8ac2213fab6" providerId="ADAL" clId="{F9467BFD-DBC7-43DD-94DF-ACBE8AAC81EB}" dt="2022-12-22T13:29:22.498" v="14"/>
        <pc:sldMkLst>
          <pc:docMk/>
          <pc:sldMk cId="846810554" sldId="257"/>
        </pc:sldMkLst>
      </pc:sldChg>
      <pc:sldChg chg="ord">
        <pc:chgData name="Manas Tuwani" userId="5d421215-a11f-4a6e-90ca-e8ac2213fab6" providerId="ADAL" clId="{F9467BFD-DBC7-43DD-94DF-ACBE8AAC81EB}" dt="2022-12-22T13:18:36.656" v="12"/>
        <pc:sldMkLst>
          <pc:docMk/>
          <pc:sldMk cId="737213912" sldId="258"/>
        </pc:sldMkLst>
      </pc:sldChg>
      <pc:sldChg chg="ord">
        <pc:chgData name="Manas Tuwani" userId="5d421215-a11f-4a6e-90ca-e8ac2213fab6" providerId="ADAL" clId="{F9467BFD-DBC7-43DD-94DF-ACBE8AAC81EB}" dt="2022-12-22T12:13:55.671" v="5"/>
        <pc:sldMkLst>
          <pc:docMk/>
          <pc:sldMk cId="773796794" sldId="261"/>
        </pc:sldMkLst>
      </pc:sldChg>
      <pc:sldChg chg="modSp mod">
        <pc:chgData name="Manas Tuwani" userId="5d421215-a11f-4a6e-90ca-e8ac2213fab6" providerId="ADAL" clId="{F9467BFD-DBC7-43DD-94DF-ACBE8AAC81EB}" dt="2022-12-22T12:54:55.954" v="10" actId="20577"/>
        <pc:sldMkLst>
          <pc:docMk/>
          <pc:sldMk cId="1763686623" sldId="262"/>
        </pc:sldMkLst>
        <pc:spChg chg="mod">
          <ac:chgData name="Manas Tuwani" userId="5d421215-a11f-4a6e-90ca-e8ac2213fab6" providerId="ADAL" clId="{F9467BFD-DBC7-43DD-94DF-ACBE8AAC81EB}" dt="2022-12-22T12:54:55.954" v="10" actId="20577"/>
          <ac:spMkLst>
            <pc:docMk/>
            <pc:sldMk cId="1763686623" sldId="262"/>
            <ac:spMk id="3" creationId="{9F554CD9-35F1-8BDA-C30D-6CE58ABB68D2}"/>
          </ac:spMkLst>
        </pc:spChg>
      </pc:sldChg>
      <pc:sldChg chg="modSp mod">
        <pc:chgData name="Manas Tuwani" userId="5d421215-a11f-4a6e-90ca-e8ac2213fab6" providerId="ADAL" clId="{F9467BFD-DBC7-43DD-94DF-ACBE8AAC81EB}" dt="2022-12-17T12:22:07.441" v="1" actId="14100"/>
        <pc:sldMkLst>
          <pc:docMk/>
          <pc:sldMk cId="3861066402" sldId="264"/>
        </pc:sldMkLst>
        <pc:picChg chg="mod">
          <ac:chgData name="Manas Tuwani" userId="5d421215-a11f-4a6e-90ca-e8ac2213fab6" providerId="ADAL" clId="{F9467BFD-DBC7-43DD-94DF-ACBE8AAC81EB}" dt="2022-12-17T12:22:07.441" v="1" actId="14100"/>
          <ac:picMkLst>
            <pc:docMk/>
            <pc:sldMk cId="3861066402" sldId="264"/>
            <ac:picMk id="4" creationId="{328CEFC1-ED86-9782-D9E9-94D7DAE8F5BD}"/>
          </ac:picMkLst>
        </pc:picChg>
      </pc:sldChg>
      <pc:sldChg chg="modSp mod">
        <pc:chgData name="Manas Tuwani" userId="5d421215-a11f-4a6e-90ca-e8ac2213fab6" providerId="ADAL" clId="{F9467BFD-DBC7-43DD-94DF-ACBE8AAC81EB}" dt="2022-12-17T12:22:16.235" v="3" actId="14100"/>
        <pc:sldMkLst>
          <pc:docMk/>
          <pc:sldMk cId="1997595142" sldId="266"/>
        </pc:sldMkLst>
        <pc:picChg chg="mod">
          <ac:chgData name="Manas Tuwani" userId="5d421215-a11f-4a6e-90ca-e8ac2213fab6" providerId="ADAL" clId="{F9467BFD-DBC7-43DD-94DF-ACBE8AAC81EB}" dt="2022-12-17T12:22:16.235" v="3" actId="14100"/>
          <ac:picMkLst>
            <pc:docMk/>
            <pc:sldMk cId="1997595142" sldId="266"/>
            <ac:picMk id="4" creationId="{E4B7550D-F64D-3C07-25CA-5508B18A9E2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876BE-9B80-4ED0-4118-E133BBA56F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51BB8B-196C-46B4-1AE0-2F1D7E7AF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5E994D-6415-27A8-534E-518C49CD34EB}"/>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5" name="Footer Placeholder 4">
            <a:extLst>
              <a:ext uri="{FF2B5EF4-FFF2-40B4-BE49-F238E27FC236}">
                <a16:creationId xmlns:a16="http://schemas.microsoft.com/office/drawing/2014/main" id="{E9DB91E2-B7B2-2487-0C2D-B6B09B4302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96FBB6-74CF-5029-5B93-9A7BB5456D46}"/>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3923738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9B35B-6875-7E4E-09D2-E045CB0481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01D6CB-0AEB-FC91-A587-E510B230DA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CC620A-2091-B4FF-D2AE-BCE17FA2FF2B}"/>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5" name="Footer Placeholder 4">
            <a:extLst>
              <a:ext uri="{FF2B5EF4-FFF2-40B4-BE49-F238E27FC236}">
                <a16:creationId xmlns:a16="http://schemas.microsoft.com/office/drawing/2014/main" id="{BBAAF191-38C8-E4AE-F712-85ACB0DDC6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46F260-E4AE-1B26-DCDF-05113081561D}"/>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2539652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46527-278B-361B-687C-1E8D216EFB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5D5665C-9BC5-D06E-20D1-4F36EC1B16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03C9A4-A840-C3F6-C9FD-5786235C5859}"/>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5" name="Footer Placeholder 4">
            <a:extLst>
              <a:ext uri="{FF2B5EF4-FFF2-40B4-BE49-F238E27FC236}">
                <a16:creationId xmlns:a16="http://schemas.microsoft.com/office/drawing/2014/main" id="{4463C6C4-56E5-D29F-4445-BCDA4F4086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76DA29-A285-7F15-825D-F2AC039C51DE}"/>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3047004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3C0F9-1EEC-BA4A-7E5E-143F81944F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E58B0D-2F73-3EBB-0CFE-EAF9FDE9E5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B30AD4-AE37-E167-7B40-93C1DD4267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9F1961-0A5D-D1B3-4D66-E7ACA2ACCB51}"/>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6" name="Footer Placeholder 5">
            <a:extLst>
              <a:ext uri="{FF2B5EF4-FFF2-40B4-BE49-F238E27FC236}">
                <a16:creationId xmlns:a16="http://schemas.microsoft.com/office/drawing/2014/main" id="{FD451223-FC52-FCC4-384C-B1C3522DEC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5E3F4F-B217-7547-B0A5-554158AE7BEC}"/>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2767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DD573-C04B-8AB1-2A13-6D9B898692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503465-8C51-E30D-CAB6-B6C0C1CAAB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EA6C5E-8A95-7176-F6DA-6E6C0B8E23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3DE22-0A06-E9F7-6C2E-3142276B4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039AD5-34CA-D1B7-357E-34C9FD3EB1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CB68B0-D4AC-0D19-33F6-CFA49741DB26}"/>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8" name="Footer Placeholder 7">
            <a:extLst>
              <a:ext uri="{FF2B5EF4-FFF2-40B4-BE49-F238E27FC236}">
                <a16:creationId xmlns:a16="http://schemas.microsoft.com/office/drawing/2014/main" id="{71386DFD-3CDC-BCC9-19BA-2E1CA8212D2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D79262-057E-E671-C252-48E4624A9E3A}"/>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2546652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6C12-550E-53C2-7C57-D575A81637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A63F7D3-6BA6-035F-3AB2-EFE8DFF5D67A}"/>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4" name="Footer Placeholder 3">
            <a:extLst>
              <a:ext uri="{FF2B5EF4-FFF2-40B4-BE49-F238E27FC236}">
                <a16:creationId xmlns:a16="http://schemas.microsoft.com/office/drawing/2014/main" id="{00531735-0320-94C5-5CF6-C34806C87B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364E89-8FFC-7B08-9E76-6E1167E4EF7E}"/>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1239774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EE997E-6A3A-E166-FAA8-F763C10D99A7}"/>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3" name="Footer Placeholder 2">
            <a:extLst>
              <a:ext uri="{FF2B5EF4-FFF2-40B4-BE49-F238E27FC236}">
                <a16:creationId xmlns:a16="http://schemas.microsoft.com/office/drawing/2014/main" id="{8F41DFC9-21AB-8A3D-3B5D-AEE93305746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3841AD-EAC6-C201-E38E-27EB9332CCC4}"/>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1959651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BDBA0-BADE-9E2D-C76C-7DC28A0005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75F8DCA-6804-190D-3A79-3F7CEA48BF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047DE9-841A-A94C-7D1A-86FE6318DE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93AD80-F93B-AB4E-9C68-153CE69F0272}"/>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6" name="Footer Placeholder 5">
            <a:extLst>
              <a:ext uri="{FF2B5EF4-FFF2-40B4-BE49-F238E27FC236}">
                <a16:creationId xmlns:a16="http://schemas.microsoft.com/office/drawing/2014/main" id="{DDEA7559-E566-CF23-F6F9-A14457FB14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6D5D7F-52FB-B7D2-5044-8C33A6089084}"/>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3324253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89C-7E0E-A832-D37F-F4027FA85B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22F6C8F-F22B-9BD1-FB75-FA063FE3C9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322923F-7DD2-32D5-6FB9-189D39BC61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CAF830-53E1-06B2-722D-E7C97F48BC59}"/>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6" name="Footer Placeholder 5">
            <a:extLst>
              <a:ext uri="{FF2B5EF4-FFF2-40B4-BE49-F238E27FC236}">
                <a16:creationId xmlns:a16="http://schemas.microsoft.com/office/drawing/2014/main" id="{C579CFE8-803A-9797-F8D2-F379A7F5F5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5943D3-B778-67A0-732E-402F7BE40814}"/>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67804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9BDF-3BE3-252D-FAE1-966A5BB30F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E17135-303A-48D5-9F5F-D258461B1F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57B80C-00CA-6F8A-09A4-BDC2F3E0B000}"/>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5" name="Footer Placeholder 4">
            <a:extLst>
              <a:ext uri="{FF2B5EF4-FFF2-40B4-BE49-F238E27FC236}">
                <a16:creationId xmlns:a16="http://schemas.microsoft.com/office/drawing/2014/main" id="{8862D538-73F0-45AD-5BF2-FB23176426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F72D8-9DB0-6ED1-EC90-DA363D5C8969}"/>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654320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BBAAA9-637D-C5A7-3F87-371F255CEA4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736B1C-83C8-7254-0D86-CEEBD53462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917035-9010-8665-8D2A-28FA5F444043}"/>
              </a:ext>
            </a:extLst>
          </p:cNvPr>
          <p:cNvSpPr>
            <a:spLocks noGrp="1"/>
          </p:cNvSpPr>
          <p:nvPr>
            <p:ph type="dt" sz="half" idx="10"/>
          </p:nvPr>
        </p:nvSpPr>
        <p:spPr/>
        <p:txBody>
          <a:bodyPr/>
          <a:lstStyle/>
          <a:p>
            <a:fld id="{77EE81C8-BD16-4EA3-B4EE-9B09E937E413}" type="datetimeFigureOut">
              <a:rPr lang="en-IN" smtClean="0"/>
              <a:pPr/>
              <a:t>22-02-2026</a:t>
            </a:fld>
            <a:endParaRPr lang="en-IN"/>
          </a:p>
        </p:txBody>
      </p:sp>
      <p:sp>
        <p:nvSpPr>
          <p:cNvPr id="5" name="Footer Placeholder 4">
            <a:extLst>
              <a:ext uri="{FF2B5EF4-FFF2-40B4-BE49-F238E27FC236}">
                <a16:creationId xmlns:a16="http://schemas.microsoft.com/office/drawing/2014/main" id="{33149DED-49AB-0BAA-0940-744E4FE3E3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A5DDAC-AED5-23B2-57A1-0832D6EB4F43}"/>
              </a:ext>
            </a:extLst>
          </p:cNvPr>
          <p:cNvSpPr>
            <a:spLocks noGrp="1"/>
          </p:cNvSpPr>
          <p:nvPr>
            <p:ph type="sldNum" sz="quarter" idx="12"/>
          </p:nvPr>
        </p:nvSpPr>
        <p:spPr/>
        <p:txBody>
          <a:bodyPr/>
          <a:lstStyle/>
          <a:p>
            <a:fld id="{955EBD4A-7265-42C9-93AC-E6057FAA1216}" type="slidenum">
              <a:rPr lang="en-IN" smtClean="0"/>
              <a:pPr/>
              <a:t>‹#›</a:t>
            </a:fld>
            <a:endParaRPr lang="en-IN"/>
          </a:p>
        </p:txBody>
      </p:sp>
    </p:spTree>
    <p:extLst>
      <p:ext uri="{BB962C8B-B14F-4D97-AF65-F5344CB8AC3E}">
        <p14:creationId xmlns:p14="http://schemas.microsoft.com/office/powerpoint/2010/main" val="457736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C30E1-F9E5-F246-E926-9E332AD428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789CE7-74EA-0011-1E70-FD8B31A616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308329-3A31-952D-057C-D6984EFEBF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E81C8-BD16-4EA3-B4EE-9B09E937E413}" type="datetimeFigureOut">
              <a:rPr lang="en-IN" smtClean="0"/>
              <a:pPr/>
              <a:t>22-02-2026</a:t>
            </a:fld>
            <a:endParaRPr lang="en-IN"/>
          </a:p>
        </p:txBody>
      </p:sp>
      <p:sp>
        <p:nvSpPr>
          <p:cNvPr id="5" name="Footer Placeholder 4">
            <a:extLst>
              <a:ext uri="{FF2B5EF4-FFF2-40B4-BE49-F238E27FC236}">
                <a16:creationId xmlns:a16="http://schemas.microsoft.com/office/drawing/2014/main" id="{FF8A2233-C380-21E6-06A4-71E15B3F10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532DB5-DA4C-F648-E970-DFB9B7B84B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5EBD4A-7265-42C9-93AC-E6057FAA1216}" type="slidenum">
              <a:rPr lang="en-IN" smtClean="0"/>
              <a:pPr/>
              <a:t>‹#›</a:t>
            </a:fld>
            <a:endParaRPr lang="en-IN"/>
          </a:p>
        </p:txBody>
      </p:sp>
    </p:spTree>
    <p:extLst>
      <p:ext uri="{BB962C8B-B14F-4D97-AF65-F5344CB8AC3E}">
        <p14:creationId xmlns:p14="http://schemas.microsoft.com/office/powerpoint/2010/main" val="3276061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Graphical user interface, text&#10;&#10;Description automatically generated">
            <a:extLst>
              <a:ext uri="{FF2B5EF4-FFF2-40B4-BE49-F238E27FC236}">
                <a16:creationId xmlns:a16="http://schemas.microsoft.com/office/drawing/2014/main" id="{075D0ED7-4BDC-F714-CE1E-375EF5B8D9F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427" r="1" b="1"/>
          <a:stretch/>
        </p:blipFill>
        <p:spPr>
          <a:xfrm>
            <a:off x="20" y="1282"/>
            <a:ext cx="12191980" cy="6856718"/>
          </a:xfrm>
          <a:prstGeom prst="rect">
            <a:avLst/>
          </a:prstGeom>
        </p:spPr>
      </p:pic>
      <p:sp>
        <p:nvSpPr>
          <p:cNvPr id="6" name="TextBox 5">
            <a:extLst>
              <a:ext uri="{FF2B5EF4-FFF2-40B4-BE49-F238E27FC236}">
                <a16:creationId xmlns:a16="http://schemas.microsoft.com/office/drawing/2014/main" id="{EF262FAE-F915-442A-A301-15C3AEBE421F}"/>
              </a:ext>
            </a:extLst>
          </p:cNvPr>
          <p:cNvSpPr txBox="1"/>
          <p:nvPr/>
        </p:nvSpPr>
        <p:spPr>
          <a:xfrm>
            <a:off x="3906173" y="5104474"/>
            <a:ext cx="3189952" cy="461665"/>
          </a:xfrm>
          <a:prstGeom prst="rect">
            <a:avLst/>
          </a:prstGeom>
          <a:noFill/>
        </p:spPr>
        <p:txBody>
          <a:bodyPr wrap="square" rtlCol="0">
            <a:spAutoFit/>
          </a:bodyPr>
          <a:lstStyle/>
          <a:p>
            <a:r>
              <a:rPr lang="en-US" sz="2400">
                <a:solidFill>
                  <a:schemeClr val="bg1"/>
                </a:solidFill>
              </a:rPr>
              <a:t>By - Manas Tuwani</a:t>
            </a:r>
            <a:endParaRPr lang="en-IN" sz="2400" dirty="0">
              <a:solidFill>
                <a:schemeClr val="bg1"/>
              </a:solidFill>
            </a:endParaRPr>
          </a:p>
        </p:txBody>
      </p:sp>
    </p:spTree>
    <p:extLst>
      <p:ext uri="{BB962C8B-B14F-4D97-AF65-F5344CB8AC3E}">
        <p14:creationId xmlns:p14="http://schemas.microsoft.com/office/powerpoint/2010/main" val="161076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0A1A03-55A9-7DA7-9D17-DBC8007AC432}"/>
              </a:ext>
            </a:extLst>
          </p:cNvPr>
          <p:cNvSpPr>
            <a:spLocks noGrp="1"/>
          </p:cNvSpPr>
          <p:nvPr>
            <p:ph type="title"/>
          </p:nvPr>
        </p:nvSpPr>
        <p:spPr>
          <a:xfrm>
            <a:off x="838200" y="365125"/>
            <a:ext cx="10515600" cy="1325563"/>
          </a:xfrm>
        </p:spPr>
        <p:txBody>
          <a:bodyPr>
            <a:normAutofit/>
          </a:bodyPr>
          <a:lstStyle/>
          <a:p>
            <a:r>
              <a:rPr lang="en-US" sz="5400" dirty="0"/>
              <a:t>What is an API ?</a:t>
            </a:r>
            <a:endParaRPr lang="en-IN" sz="5400" dirty="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D57686-D8D8-C9B1-FCF4-A01473B49750}"/>
              </a:ext>
            </a:extLst>
          </p:cNvPr>
          <p:cNvSpPr>
            <a:spLocks noGrp="1"/>
          </p:cNvSpPr>
          <p:nvPr>
            <p:ph idx="1"/>
          </p:nvPr>
        </p:nvSpPr>
        <p:spPr>
          <a:xfrm>
            <a:off x="600075" y="2055813"/>
            <a:ext cx="10515600" cy="4251960"/>
          </a:xfrm>
        </p:spPr>
        <p:txBody>
          <a:bodyPr>
            <a:normAutofit/>
          </a:bodyPr>
          <a:lstStyle/>
          <a:p>
            <a:pPr>
              <a:buFont typeface="Wingdings" panose="05000000000000000000" pitchFamily="2" charset="2"/>
              <a:buChar char="Ø"/>
            </a:pPr>
            <a:r>
              <a:rPr lang="en-US" sz="2200" dirty="0"/>
              <a:t>  API Stand for Application Programming Interface</a:t>
            </a:r>
          </a:p>
          <a:p>
            <a:pPr>
              <a:buFont typeface="Wingdings" panose="05000000000000000000" pitchFamily="2" charset="2"/>
              <a:buChar char="Ø"/>
            </a:pPr>
            <a:r>
              <a:rPr lang="en-US" sz="2200" dirty="0"/>
              <a:t> It enables data exchange between two separate software</a:t>
            </a:r>
          </a:p>
          <a:p>
            <a:pPr>
              <a:buFont typeface="Wingdings" panose="05000000000000000000" pitchFamily="2" charset="2"/>
              <a:buChar char="Ø"/>
            </a:pPr>
            <a:r>
              <a:rPr lang="en-IN" sz="2200" dirty="0"/>
              <a:t> </a:t>
            </a:r>
            <a:r>
              <a:rPr lang="en-IN" sz="2200" dirty="0">
                <a:effectLst/>
                <a:ea typeface="Calibri" panose="020F0502020204030204" pitchFamily="34" charset="0"/>
                <a:cs typeface="Times New Roman" panose="02020603050405020304" pitchFamily="18" charset="0"/>
              </a:rPr>
              <a:t>API stands for </a:t>
            </a:r>
            <a:r>
              <a:rPr lang="en-IN" sz="2200" b="1" dirty="0">
                <a:effectLst/>
                <a:ea typeface="Calibri" panose="020F0502020204030204" pitchFamily="34" charset="0"/>
                <a:cs typeface="Times New Roman" panose="02020603050405020304" pitchFamily="18" charset="0"/>
              </a:rPr>
              <a:t>A</a:t>
            </a:r>
            <a:r>
              <a:rPr lang="en-IN" sz="2200" dirty="0">
                <a:effectLst/>
                <a:ea typeface="Calibri" panose="020F0502020204030204" pitchFamily="34" charset="0"/>
                <a:cs typeface="Times New Roman" panose="02020603050405020304" pitchFamily="18" charset="0"/>
              </a:rPr>
              <a:t>pplication </a:t>
            </a:r>
            <a:r>
              <a:rPr lang="en-IN" sz="2200" b="1" dirty="0">
                <a:effectLst/>
                <a:ea typeface="Calibri" panose="020F0502020204030204" pitchFamily="34" charset="0"/>
                <a:cs typeface="Times New Roman" panose="02020603050405020304" pitchFamily="18" charset="0"/>
              </a:rPr>
              <a:t>P</a:t>
            </a:r>
            <a:r>
              <a:rPr lang="en-IN" sz="2200" dirty="0">
                <a:effectLst/>
                <a:ea typeface="Calibri" panose="020F0502020204030204" pitchFamily="34" charset="0"/>
                <a:cs typeface="Times New Roman" panose="02020603050405020304" pitchFamily="18" charset="0"/>
              </a:rPr>
              <a:t>rogramming </a:t>
            </a:r>
            <a:r>
              <a:rPr lang="en-IN" sz="2200" b="1" dirty="0">
                <a:effectLst/>
                <a:ea typeface="Calibri" panose="020F0502020204030204" pitchFamily="34" charset="0"/>
                <a:cs typeface="Times New Roman" panose="02020603050405020304" pitchFamily="18" charset="0"/>
              </a:rPr>
              <a:t>I</a:t>
            </a:r>
            <a:r>
              <a:rPr lang="en-IN" sz="2200" dirty="0">
                <a:effectLst/>
                <a:ea typeface="Calibri" panose="020F0502020204030204" pitchFamily="34" charset="0"/>
                <a:cs typeface="Times New Roman" panose="02020603050405020304" pitchFamily="18" charset="0"/>
              </a:rPr>
              <a:t>nterface. API acts as an interface between two software applications and allows the two software applications to communicate with each other. API is a collection of software functions that can be executed by another software program.</a:t>
            </a:r>
          </a:p>
          <a:p>
            <a:pPr marL="0" indent="0">
              <a:buNone/>
            </a:pPr>
            <a:endParaRPr lang="en-IN" sz="2200" dirty="0"/>
          </a:p>
        </p:txBody>
      </p:sp>
    </p:spTree>
    <p:extLst>
      <p:ext uri="{BB962C8B-B14F-4D97-AF65-F5344CB8AC3E}">
        <p14:creationId xmlns:p14="http://schemas.microsoft.com/office/powerpoint/2010/main" val="846810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6EE0B6E2-7CE8-4D86-87FC-4B58A7D8E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BD9D137-8087-A517-5E47-A986AC9BCC9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455" r="1" b="1"/>
          <a:stretch/>
        </p:blipFill>
        <p:spPr>
          <a:xfrm>
            <a:off x="577637" y="424330"/>
            <a:ext cx="11036726" cy="5869478"/>
          </a:xfrm>
          <a:custGeom>
            <a:avLst/>
            <a:gdLst/>
            <a:ahLst/>
            <a:cxnLst/>
            <a:rect l="l" t="t" r="r" b="b"/>
            <a:pathLst>
              <a:path w="10630858" h="5869478">
                <a:moveTo>
                  <a:pt x="5791061" y="218"/>
                </a:moveTo>
                <a:cubicBezTo>
                  <a:pt x="5877327" y="-560"/>
                  <a:pt x="5971399" y="626"/>
                  <a:pt x="6073275" y="5793"/>
                </a:cubicBezTo>
                <a:cubicBezTo>
                  <a:pt x="6098744" y="7086"/>
                  <a:pt x="6121786" y="8165"/>
                  <a:pt x="6142651" y="9057"/>
                </a:cubicBezTo>
                <a:lnTo>
                  <a:pt x="6164185" y="9874"/>
                </a:lnTo>
                <a:lnTo>
                  <a:pt x="6258731" y="5793"/>
                </a:lnTo>
                <a:lnTo>
                  <a:pt x="6319194" y="2002"/>
                </a:lnTo>
                <a:lnTo>
                  <a:pt x="6413049" y="11772"/>
                </a:lnTo>
                <a:cubicBezTo>
                  <a:pt x="6592720" y="42783"/>
                  <a:pt x="6774188" y="66100"/>
                  <a:pt x="6956654" y="46745"/>
                </a:cubicBezTo>
                <a:cubicBezTo>
                  <a:pt x="7082424" y="33223"/>
                  <a:pt x="7207994" y="25294"/>
                  <a:pt x="7334364" y="25763"/>
                </a:cubicBezTo>
                <a:cubicBezTo>
                  <a:pt x="7624835" y="25763"/>
                  <a:pt x="7915502" y="28559"/>
                  <a:pt x="8205974" y="22730"/>
                </a:cubicBezTo>
                <a:cubicBezTo>
                  <a:pt x="8464499" y="17601"/>
                  <a:pt x="8722029" y="6412"/>
                  <a:pt x="8980756" y="34620"/>
                </a:cubicBezTo>
                <a:cubicBezTo>
                  <a:pt x="9362658" y="76124"/>
                  <a:pt x="9746556" y="62832"/>
                  <a:pt x="10129655" y="57937"/>
                </a:cubicBezTo>
                <a:lnTo>
                  <a:pt x="10163726" y="56766"/>
                </a:lnTo>
                <a:lnTo>
                  <a:pt x="10254950" y="73131"/>
                </a:lnTo>
                <a:lnTo>
                  <a:pt x="10311819" y="101928"/>
                </a:lnTo>
                <a:cubicBezTo>
                  <a:pt x="10479504" y="200737"/>
                  <a:pt x="10591476" y="367254"/>
                  <a:pt x="10625532" y="561669"/>
                </a:cubicBezTo>
                <a:lnTo>
                  <a:pt x="10626834" y="578090"/>
                </a:lnTo>
                <a:lnTo>
                  <a:pt x="10611964" y="734537"/>
                </a:lnTo>
                <a:cubicBezTo>
                  <a:pt x="10602387" y="823467"/>
                  <a:pt x="10587763" y="913306"/>
                  <a:pt x="10611964" y="1001326"/>
                </a:cubicBezTo>
                <a:cubicBezTo>
                  <a:pt x="10628543" y="1062669"/>
                  <a:pt x="10632231" y="1127783"/>
                  <a:pt x="10622705" y="1191154"/>
                </a:cubicBezTo>
                <a:cubicBezTo>
                  <a:pt x="10606645" y="1303627"/>
                  <a:pt x="10603293" y="1418084"/>
                  <a:pt x="10612740" y="1531572"/>
                </a:cubicBezTo>
                <a:cubicBezTo>
                  <a:pt x="10618978" y="1606398"/>
                  <a:pt x="10618020" y="1681815"/>
                  <a:pt x="10609893" y="1756397"/>
                </a:cubicBezTo>
                <a:cubicBezTo>
                  <a:pt x="10599152" y="1856690"/>
                  <a:pt x="10582457" y="1958800"/>
                  <a:pt x="10602776" y="2059394"/>
                </a:cubicBezTo>
                <a:cubicBezTo>
                  <a:pt x="10635130" y="2219226"/>
                  <a:pt x="10628659" y="2378906"/>
                  <a:pt x="10615717" y="2539949"/>
                </a:cubicBezTo>
                <a:cubicBezTo>
                  <a:pt x="10606011" y="2659785"/>
                  <a:pt x="10595269" y="2780984"/>
                  <a:pt x="10614682" y="2902183"/>
                </a:cubicBezTo>
                <a:cubicBezTo>
                  <a:pt x="10623029" y="2958418"/>
                  <a:pt x="10623029" y="3015928"/>
                  <a:pt x="10614682" y="3072165"/>
                </a:cubicBezTo>
                <a:cubicBezTo>
                  <a:pt x="10604587" y="3147914"/>
                  <a:pt x="10595010" y="3222907"/>
                  <a:pt x="10607952" y="3299413"/>
                </a:cubicBezTo>
                <a:cubicBezTo>
                  <a:pt x="10613646" y="3332743"/>
                  <a:pt x="10617917" y="3366376"/>
                  <a:pt x="10620894" y="3400009"/>
                </a:cubicBezTo>
                <a:cubicBezTo>
                  <a:pt x="10626822" y="3485877"/>
                  <a:pt x="10624699" y="3572233"/>
                  <a:pt x="10614553" y="3657556"/>
                </a:cubicBezTo>
                <a:cubicBezTo>
                  <a:pt x="10604846" y="3756637"/>
                  <a:pt x="10620635" y="3856323"/>
                  <a:pt x="10607694" y="3955100"/>
                </a:cubicBezTo>
                <a:cubicBezTo>
                  <a:pt x="10598504" y="4034653"/>
                  <a:pt x="10598155" y="4115265"/>
                  <a:pt x="10606658" y="4194923"/>
                </a:cubicBezTo>
                <a:cubicBezTo>
                  <a:pt x="10621954" y="4345512"/>
                  <a:pt x="10620998" y="4497755"/>
                  <a:pt x="10603811" y="4648057"/>
                </a:cubicBezTo>
                <a:cubicBezTo>
                  <a:pt x="10593198" y="4735775"/>
                  <a:pt x="10587116" y="4826067"/>
                  <a:pt x="10606140" y="4912119"/>
                </a:cubicBezTo>
                <a:cubicBezTo>
                  <a:pt x="10628530" y="5013245"/>
                  <a:pt x="10633189" y="5114446"/>
                  <a:pt x="10629921" y="5215515"/>
                </a:cubicBezTo>
                <a:lnTo>
                  <a:pt x="10625356" y="5273604"/>
                </a:lnTo>
                <a:lnTo>
                  <a:pt x="10624284" y="5284086"/>
                </a:lnTo>
                <a:cubicBezTo>
                  <a:pt x="10601148" y="5404993"/>
                  <a:pt x="10545219" y="5529874"/>
                  <a:pt x="10458692" y="5632218"/>
                </a:cubicBezTo>
                <a:lnTo>
                  <a:pt x="10418904" y="5670857"/>
                </a:lnTo>
                <a:lnTo>
                  <a:pt x="10417064" y="5673484"/>
                </a:lnTo>
                <a:cubicBezTo>
                  <a:pt x="10307992" y="5802550"/>
                  <a:pt x="10158402" y="5877799"/>
                  <a:pt x="9954609" y="5858572"/>
                </a:cubicBezTo>
                <a:cubicBezTo>
                  <a:pt x="9860355" y="5870096"/>
                  <a:pt x="9750551" y="5855439"/>
                  <a:pt x="9657171" y="5854061"/>
                </a:cubicBezTo>
                <a:lnTo>
                  <a:pt x="9612467" y="5856387"/>
                </a:lnTo>
                <a:lnTo>
                  <a:pt x="9279984" y="5838331"/>
                </a:lnTo>
                <a:cubicBezTo>
                  <a:pt x="9153141" y="5834280"/>
                  <a:pt x="9026273" y="5834164"/>
                  <a:pt x="8899305" y="5841275"/>
                </a:cubicBezTo>
                <a:cubicBezTo>
                  <a:pt x="8761407" y="5850940"/>
                  <a:pt x="8623304" y="5854733"/>
                  <a:pt x="8485266" y="5852671"/>
                </a:cubicBezTo>
                <a:lnTo>
                  <a:pt x="8314842" y="5842884"/>
                </a:lnTo>
                <a:lnTo>
                  <a:pt x="8193631" y="5825368"/>
                </a:lnTo>
                <a:lnTo>
                  <a:pt x="8029897" y="5818284"/>
                </a:lnTo>
                <a:lnTo>
                  <a:pt x="8028296" y="5817260"/>
                </a:lnTo>
                <a:lnTo>
                  <a:pt x="8008332" y="5817260"/>
                </a:lnTo>
                <a:lnTo>
                  <a:pt x="8006732" y="5818114"/>
                </a:lnTo>
                <a:lnTo>
                  <a:pt x="7839115" y="5825368"/>
                </a:lnTo>
                <a:lnTo>
                  <a:pt x="7801585" y="5830791"/>
                </a:lnTo>
                <a:lnTo>
                  <a:pt x="7734233" y="5834980"/>
                </a:lnTo>
                <a:lnTo>
                  <a:pt x="7482820" y="5855530"/>
                </a:lnTo>
                <a:lnTo>
                  <a:pt x="7445741" y="5854102"/>
                </a:lnTo>
                <a:lnTo>
                  <a:pt x="7403701" y="5858035"/>
                </a:lnTo>
                <a:lnTo>
                  <a:pt x="7155292" y="5854564"/>
                </a:lnTo>
                <a:cubicBezTo>
                  <a:pt x="6874805" y="5835913"/>
                  <a:pt x="6593917" y="5824488"/>
                  <a:pt x="6312830" y="5849900"/>
                </a:cubicBezTo>
                <a:lnTo>
                  <a:pt x="6232577" y="5855788"/>
                </a:lnTo>
                <a:lnTo>
                  <a:pt x="6231985" y="5855764"/>
                </a:lnTo>
                <a:lnTo>
                  <a:pt x="6166003" y="5858572"/>
                </a:lnTo>
                <a:cubicBezTo>
                  <a:pt x="6100624" y="5861901"/>
                  <a:pt x="6043822" y="5864887"/>
                  <a:pt x="5993271" y="5866513"/>
                </a:cubicBezTo>
                <a:lnTo>
                  <a:pt x="5925657" y="5866398"/>
                </a:lnTo>
                <a:lnTo>
                  <a:pt x="5833706" y="5859695"/>
                </a:lnTo>
                <a:cubicBezTo>
                  <a:pt x="5697214" y="5841788"/>
                  <a:pt x="5559607" y="5838897"/>
                  <a:pt x="5422657" y="5851067"/>
                </a:cubicBezTo>
                <a:lnTo>
                  <a:pt x="5250035" y="5858044"/>
                </a:lnTo>
                <a:lnTo>
                  <a:pt x="5151093" y="5858278"/>
                </a:lnTo>
                <a:lnTo>
                  <a:pt x="4972680" y="5851067"/>
                </a:lnTo>
                <a:cubicBezTo>
                  <a:pt x="4829141" y="5841741"/>
                  <a:pt x="4685204" y="5826120"/>
                  <a:pt x="4542066" y="5842905"/>
                </a:cubicBezTo>
                <a:cubicBezTo>
                  <a:pt x="4491758" y="5848734"/>
                  <a:pt x="4441488" y="5852626"/>
                  <a:pt x="4391242" y="5854962"/>
                </a:cubicBezTo>
                <a:lnTo>
                  <a:pt x="4246482" y="5857576"/>
                </a:lnTo>
                <a:lnTo>
                  <a:pt x="4221030" y="5856572"/>
                </a:lnTo>
                <a:lnTo>
                  <a:pt x="4218005" y="5856681"/>
                </a:lnTo>
                <a:lnTo>
                  <a:pt x="3939367" y="5844305"/>
                </a:lnTo>
                <a:cubicBezTo>
                  <a:pt x="3773470" y="5832648"/>
                  <a:pt x="3606974" y="5815626"/>
                  <a:pt x="3441875" y="5843140"/>
                </a:cubicBezTo>
                <a:cubicBezTo>
                  <a:pt x="3386806" y="5851400"/>
                  <a:pt x="3331601" y="5858126"/>
                  <a:pt x="3276306" y="5863318"/>
                </a:cubicBezTo>
                <a:lnTo>
                  <a:pt x="3225006" y="5866706"/>
                </a:lnTo>
                <a:lnTo>
                  <a:pt x="3194056" y="5866407"/>
                </a:lnTo>
                <a:lnTo>
                  <a:pt x="3082891" y="5863061"/>
                </a:lnTo>
                <a:lnTo>
                  <a:pt x="3013959" y="5869302"/>
                </a:lnTo>
                <a:cubicBezTo>
                  <a:pt x="2910698" y="5871464"/>
                  <a:pt x="2845426" y="5852913"/>
                  <a:pt x="2748311" y="5858572"/>
                </a:cubicBezTo>
                <a:cubicBezTo>
                  <a:pt x="2736171" y="5859279"/>
                  <a:pt x="2721419" y="5860082"/>
                  <a:pt x="2704411" y="5860936"/>
                </a:cubicBezTo>
                <a:lnTo>
                  <a:pt x="2650475" y="5863440"/>
                </a:lnTo>
                <a:lnTo>
                  <a:pt x="2436349" y="5854816"/>
                </a:lnTo>
                <a:cubicBezTo>
                  <a:pt x="2095150" y="5845165"/>
                  <a:pt x="1753811" y="5845122"/>
                  <a:pt x="1412584" y="5830782"/>
                </a:cubicBezTo>
                <a:cubicBezTo>
                  <a:pt x="1262458" y="5824256"/>
                  <a:pt x="1113131" y="5859227"/>
                  <a:pt x="963404" y="5861093"/>
                </a:cubicBezTo>
                <a:cubicBezTo>
                  <a:pt x="896140" y="5861967"/>
                  <a:pt x="828812" y="5861342"/>
                  <a:pt x="761431" y="5859896"/>
                </a:cubicBezTo>
                <a:lnTo>
                  <a:pt x="637698" y="5856158"/>
                </a:lnTo>
                <a:lnTo>
                  <a:pt x="592997" y="5853711"/>
                </a:lnTo>
                <a:cubicBezTo>
                  <a:pt x="391136" y="5830428"/>
                  <a:pt x="227663" y="5724844"/>
                  <a:pt x="123577" y="5564333"/>
                </a:cubicBezTo>
                <a:lnTo>
                  <a:pt x="99502" y="5518240"/>
                </a:lnTo>
                <a:lnTo>
                  <a:pt x="95609" y="5512764"/>
                </a:lnTo>
                <a:lnTo>
                  <a:pt x="86221" y="5492812"/>
                </a:lnTo>
                <a:lnTo>
                  <a:pt x="61763" y="5445986"/>
                </a:lnTo>
                <a:lnTo>
                  <a:pt x="56991" y="5430695"/>
                </a:lnTo>
                <a:lnTo>
                  <a:pt x="41922" y="5398673"/>
                </a:lnTo>
                <a:lnTo>
                  <a:pt x="25760" y="5339273"/>
                </a:lnTo>
                <a:lnTo>
                  <a:pt x="16811" y="5271956"/>
                </a:lnTo>
                <a:cubicBezTo>
                  <a:pt x="9305" y="5238090"/>
                  <a:pt x="4710" y="5203585"/>
                  <a:pt x="3092" y="5168860"/>
                </a:cubicBezTo>
                <a:cubicBezTo>
                  <a:pt x="-7132" y="5042101"/>
                  <a:pt x="10081" y="4917108"/>
                  <a:pt x="24446" y="4791844"/>
                </a:cubicBezTo>
                <a:cubicBezTo>
                  <a:pt x="34023" y="4712006"/>
                  <a:pt x="48647" y="4631352"/>
                  <a:pt x="24446" y="4552331"/>
                </a:cubicBezTo>
                <a:cubicBezTo>
                  <a:pt x="7867" y="4497261"/>
                  <a:pt x="4180" y="4438805"/>
                  <a:pt x="13705" y="4381912"/>
                </a:cubicBezTo>
                <a:cubicBezTo>
                  <a:pt x="29766" y="4280940"/>
                  <a:pt x="33117" y="4178184"/>
                  <a:pt x="23670" y="4076300"/>
                </a:cubicBezTo>
                <a:cubicBezTo>
                  <a:pt x="17432" y="4009125"/>
                  <a:pt x="18390" y="3941419"/>
                  <a:pt x="26517" y="3874462"/>
                </a:cubicBezTo>
                <a:cubicBezTo>
                  <a:pt x="37258" y="3784423"/>
                  <a:pt x="53954" y="3692752"/>
                  <a:pt x="33635" y="3602444"/>
                </a:cubicBezTo>
                <a:cubicBezTo>
                  <a:pt x="1280" y="3458954"/>
                  <a:pt x="7751" y="3315599"/>
                  <a:pt x="20694" y="3171022"/>
                </a:cubicBezTo>
                <a:cubicBezTo>
                  <a:pt x="30400" y="3063439"/>
                  <a:pt x="41141" y="2954632"/>
                  <a:pt x="21728" y="2845824"/>
                </a:cubicBezTo>
                <a:cubicBezTo>
                  <a:pt x="13381" y="2795337"/>
                  <a:pt x="13381" y="2743709"/>
                  <a:pt x="21728" y="2693221"/>
                </a:cubicBezTo>
                <a:cubicBezTo>
                  <a:pt x="31823" y="2625218"/>
                  <a:pt x="41400" y="2557892"/>
                  <a:pt x="28458" y="2489208"/>
                </a:cubicBezTo>
                <a:cubicBezTo>
                  <a:pt x="22764" y="2459285"/>
                  <a:pt x="18493" y="2429092"/>
                  <a:pt x="15516" y="2398898"/>
                </a:cubicBezTo>
                <a:cubicBezTo>
                  <a:pt x="9589" y="2321809"/>
                  <a:pt x="11711" y="2244283"/>
                  <a:pt x="21857" y="2167683"/>
                </a:cubicBezTo>
                <a:cubicBezTo>
                  <a:pt x="31564" y="2078733"/>
                  <a:pt x="15776" y="1989238"/>
                  <a:pt x="28717" y="1900560"/>
                </a:cubicBezTo>
                <a:cubicBezTo>
                  <a:pt x="37907" y="1829142"/>
                  <a:pt x="38255" y="1756772"/>
                  <a:pt x="29752" y="1685258"/>
                </a:cubicBezTo>
                <a:cubicBezTo>
                  <a:pt x="14456" y="1550065"/>
                  <a:pt x="15412" y="1413389"/>
                  <a:pt x="32599" y="1278454"/>
                </a:cubicBezTo>
                <a:cubicBezTo>
                  <a:pt x="43212" y="1199704"/>
                  <a:pt x="49294" y="1118644"/>
                  <a:pt x="30270" y="1041390"/>
                </a:cubicBezTo>
                <a:cubicBezTo>
                  <a:pt x="-14509" y="859818"/>
                  <a:pt x="11634" y="677973"/>
                  <a:pt x="30270" y="497354"/>
                </a:cubicBezTo>
                <a:lnTo>
                  <a:pt x="31725" y="472895"/>
                </a:lnTo>
                <a:lnTo>
                  <a:pt x="43781" y="427827"/>
                </a:lnTo>
                <a:lnTo>
                  <a:pt x="50994" y="413476"/>
                </a:lnTo>
                <a:lnTo>
                  <a:pt x="58372" y="387895"/>
                </a:lnTo>
                <a:cubicBezTo>
                  <a:pt x="111660" y="254431"/>
                  <a:pt x="198390" y="154469"/>
                  <a:pt x="306361" y="90092"/>
                </a:cubicBezTo>
                <a:lnTo>
                  <a:pt x="343340" y="71955"/>
                </a:lnTo>
                <a:lnTo>
                  <a:pt x="451947" y="55771"/>
                </a:lnTo>
                <a:lnTo>
                  <a:pt x="480681" y="50638"/>
                </a:lnTo>
                <a:lnTo>
                  <a:pt x="500476" y="51097"/>
                </a:lnTo>
                <a:cubicBezTo>
                  <a:pt x="614729" y="49684"/>
                  <a:pt x="728933" y="43772"/>
                  <a:pt x="843024" y="32056"/>
                </a:cubicBezTo>
                <a:cubicBezTo>
                  <a:pt x="1123212" y="7156"/>
                  <a:pt x="1404499" y="3566"/>
                  <a:pt x="1685086" y="21332"/>
                </a:cubicBezTo>
                <a:cubicBezTo>
                  <a:pt x="1938623" y="33688"/>
                  <a:pt x="2191759" y="64000"/>
                  <a:pt x="2445896" y="38121"/>
                </a:cubicBezTo>
                <a:cubicBezTo>
                  <a:pt x="2489616" y="33690"/>
                  <a:pt x="2532937" y="26111"/>
                  <a:pt x="2576333" y="19030"/>
                </a:cubicBezTo>
                <a:lnTo>
                  <a:pt x="2696353" y="4251"/>
                </a:lnTo>
                <a:lnTo>
                  <a:pt x="2745536" y="5232"/>
                </a:lnTo>
                <a:cubicBezTo>
                  <a:pt x="2818993" y="6452"/>
                  <a:pt x="2887864" y="7004"/>
                  <a:pt x="2947014" y="5793"/>
                </a:cubicBezTo>
                <a:cubicBezTo>
                  <a:pt x="3006163" y="4584"/>
                  <a:pt x="3060036" y="3178"/>
                  <a:pt x="3110399" y="1949"/>
                </a:cubicBezTo>
                <a:lnTo>
                  <a:pt x="3199002" y="221"/>
                </a:lnTo>
                <a:lnTo>
                  <a:pt x="3325015" y="3583"/>
                </a:lnTo>
                <a:cubicBezTo>
                  <a:pt x="3530714" y="12997"/>
                  <a:pt x="3736239" y="28910"/>
                  <a:pt x="3941762" y="43248"/>
                </a:cubicBezTo>
                <a:cubicBezTo>
                  <a:pt x="4091489" y="53739"/>
                  <a:pt x="4241215" y="66563"/>
                  <a:pt x="4390942" y="37886"/>
                </a:cubicBezTo>
                <a:cubicBezTo>
                  <a:pt x="4517292" y="15154"/>
                  <a:pt x="4645537" y="10467"/>
                  <a:pt x="4772844" y="23896"/>
                </a:cubicBezTo>
                <a:cubicBezTo>
                  <a:pt x="4885597" y="37327"/>
                  <a:pt x="4999052" y="40520"/>
                  <a:pt x="5112224" y="33456"/>
                </a:cubicBezTo>
                <a:lnTo>
                  <a:pt x="5477482" y="6922"/>
                </a:lnTo>
                <a:lnTo>
                  <a:pt x="5517883" y="7607"/>
                </a:lnTo>
                <a:lnTo>
                  <a:pt x="5555683" y="6426"/>
                </a:lnTo>
                <a:cubicBezTo>
                  <a:pt x="5626335" y="3737"/>
                  <a:pt x="5704795" y="995"/>
                  <a:pt x="5791061" y="218"/>
                </a:cubicBezTo>
                <a:close/>
              </a:path>
            </a:pathLst>
          </a:custGeom>
        </p:spPr>
      </p:pic>
    </p:spTree>
    <p:extLst>
      <p:ext uri="{BB962C8B-B14F-4D97-AF65-F5344CB8AC3E}">
        <p14:creationId xmlns:p14="http://schemas.microsoft.com/office/powerpoint/2010/main" val="737213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ED99D5-D152-FBB2-D760-BF2F4C968A10}"/>
              </a:ext>
            </a:extLst>
          </p:cNvPr>
          <p:cNvSpPr>
            <a:spLocks noGrp="1"/>
          </p:cNvSpPr>
          <p:nvPr>
            <p:ph type="title"/>
          </p:nvPr>
        </p:nvSpPr>
        <p:spPr>
          <a:xfrm>
            <a:off x="686834" y="1153572"/>
            <a:ext cx="3200400" cy="4461163"/>
          </a:xfrm>
        </p:spPr>
        <p:txBody>
          <a:bodyPr>
            <a:normAutofit/>
          </a:bodyPr>
          <a:lstStyle/>
          <a:p>
            <a:r>
              <a:rPr lang="en-IN" b="1">
                <a:solidFill>
                  <a:srgbClr val="FFFFFF"/>
                </a:solidFill>
                <a:effectLst/>
                <a:latin typeface="Calibri" panose="020F0502020204030204" pitchFamily="34" charset="0"/>
                <a:ea typeface="Times New Roman" panose="02020603050405020304" pitchFamily="18" charset="0"/>
              </a:rPr>
              <a:t>What is API Testing?</a:t>
            </a:r>
            <a:br>
              <a:rPr lang="en-IN" b="1">
                <a:solidFill>
                  <a:srgbClr val="FFFFFF"/>
                </a:solidFill>
                <a:effectLst/>
                <a:latin typeface="Times New Roman" panose="02020603050405020304" pitchFamily="18" charset="0"/>
                <a:ea typeface="Times New Roman" panose="02020603050405020304" pitchFamily="18" charset="0"/>
              </a:rPr>
            </a:br>
            <a:endParaRPr lang="en-IN"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25073C9-7674-E74E-3181-9CF834C141B7}"/>
              </a:ext>
            </a:extLst>
          </p:cNvPr>
          <p:cNvSpPr>
            <a:spLocks noGrp="1"/>
          </p:cNvSpPr>
          <p:nvPr>
            <p:ph idx="1"/>
          </p:nvPr>
        </p:nvSpPr>
        <p:spPr>
          <a:xfrm>
            <a:off x="4286250" y="591344"/>
            <a:ext cx="7791450" cy="5585619"/>
          </a:xfrm>
        </p:spPr>
        <p:txBody>
          <a:bodyPr anchor="ctr">
            <a:normAutofit/>
          </a:bodyPr>
          <a:lstStyle/>
          <a:p>
            <a:pPr marL="0" indent="0">
              <a:buNone/>
            </a:pPr>
            <a:r>
              <a:rPr lang="en-IN">
                <a:effectLst/>
                <a:latin typeface="Segoe UI" panose="020B0502040204020203" pitchFamily="34" charset="0"/>
                <a:ea typeface="Calibri" panose="020F0502020204030204" pitchFamily="34" charset="0"/>
              </a:rPr>
              <a:t>API testing is a type of software testing that involves testing APIs directly and also as a part of integration testing to check whether the API meets expectations in terms of functionality, reliability and providing correct response or not </a:t>
            </a:r>
            <a:endParaRPr lang="en-IN" dirty="0"/>
          </a:p>
        </p:txBody>
      </p:sp>
    </p:spTree>
    <p:extLst>
      <p:ext uri="{BB962C8B-B14F-4D97-AF65-F5344CB8AC3E}">
        <p14:creationId xmlns:p14="http://schemas.microsoft.com/office/powerpoint/2010/main" val="509461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858A5-F463-4BE4-E9BC-1B56142FE4C7}"/>
              </a:ext>
            </a:extLst>
          </p:cNvPr>
          <p:cNvSpPr>
            <a:spLocks noGrp="1"/>
          </p:cNvSpPr>
          <p:nvPr>
            <p:ph type="title"/>
          </p:nvPr>
        </p:nvSpPr>
        <p:spPr/>
        <p:txBody>
          <a:bodyPr/>
          <a:lstStyle/>
          <a:p>
            <a:r>
              <a:rPr lang="en-US" b="1" dirty="0"/>
              <a:t>Web Service</a:t>
            </a:r>
            <a:endParaRPr lang="en-IN" b="1" dirty="0"/>
          </a:p>
        </p:txBody>
      </p:sp>
      <p:sp>
        <p:nvSpPr>
          <p:cNvPr id="3" name="Content Placeholder 2">
            <a:extLst>
              <a:ext uri="{FF2B5EF4-FFF2-40B4-BE49-F238E27FC236}">
                <a16:creationId xmlns:a16="http://schemas.microsoft.com/office/drawing/2014/main" id="{9F554CD9-35F1-8BDA-C30D-6CE58ABB68D2}"/>
              </a:ext>
            </a:extLst>
          </p:cNvPr>
          <p:cNvSpPr>
            <a:spLocks noGrp="1"/>
          </p:cNvSpPr>
          <p:nvPr>
            <p:ph idx="1"/>
          </p:nvPr>
        </p:nvSpPr>
        <p:spPr/>
        <p:txBody>
          <a:bodyPr/>
          <a:lstStyle/>
          <a:p>
            <a:pPr>
              <a:lnSpc>
                <a:spcPct val="100000"/>
              </a:lnSpc>
              <a:buFont typeface="Wingdings" panose="05000000000000000000" pitchFamily="2" charset="2"/>
              <a:buChar char="§"/>
            </a:pPr>
            <a:r>
              <a:rPr lang="en-US" sz="1800" dirty="0">
                <a:effectLst/>
                <a:ea typeface="Calibri" panose="020F0502020204030204" pitchFamily="34" charset="0"/>
              </a:rPr>
              <a:t>When we move API from local to production environment then the API is called Web</a:t>
            </a:r>
            <a:r>
              <a:rPr lang="en-US" sz="1800" spc="-235" dirty="0">
                <a:effectLst/>
                <a:ea typeface="Calibri" panose="020F0502020204030204" pitchFamily="34" charset="0"/>
              </a:rPr>
              <a:t> </a:t>
            </a:r>
            <a:r>
              <a:rPr lang="en-US" sz="1800" dirty="0">
                <a:effectLst/>
                <a:ea typeface="Calibri" panose="020F0502020204030204" pitchFamily="34" charset="0"/>
              </a:rPr>
              <a:t>service.</a:t>
            </a:r>
            <a:r>
              <a:rPr lang="en-US" sz="1800" spc="-15" dirty="0">
                <a:effectLst/>
                <a:ea typeface="Calibri" panose="020F0502020204030204" pitchFamily="34" charset="0"/>
              </a:rPr>
              <a:t> </a:t>
            </a:r>
            <a:r>
              <a:rPr lang="en-US" sz="1800" dirty="0">
                <a:effectLst/>
                <a:ea typeface="Calibri" panose="020F0502020204030204" pitchFamily="34" charset="0"/>
              </a:rPr>
              <a:t>Web service</a:t>
            </a:r>
            <a:r>
              <a:rPr lang="en-US" sz="1800" spc="5" dirty="0">
                <a:effectLst/>
                <a:ea typeface="Calibri" panose="020F0502020204030204" pitchFamily="34" charset="0"/>
              </a:rPr>
              <a:t> </a:t>
            </a:r>
            <a:r>
              <a:rPr lang="en-US" sz="1800" dirty="0">
                <a:effectLst/>
                <a:ea typeface="Calibri" panose="020F0502020204030204" pitchFamily="34" charset="0"/>
              </a:rPr>
              <a:t>is</a:t>
            </a:r>
            <a:r>
              <a:rPr lang="en-US" sz="1800" spc="-15" dirty="0">
                <a:effectLst/>
                <a:ea typeface="Calibri" panose="020F0502020204030204" pitchFamily="34" charset="0"/>
              </a:rPr>
              <a:t> </a:t>
            </a:r>
            <a:r>
              <a:rPr lang="en-US" sz="1800" dirty="0">
                <a:effectLst/>
                <a:ea typeface="Calibri" panose="020F0502020204030204" pitchFamily="34" charset="0"/>
              </a:rPr>
              <a:t>an</a:t>
            </a:r>
            <a:r>
              <a:rPr lang="en-US" sz="1800" spc="-15" dirty="0">
                <a:effectLst/>
                <a:ea typeface="Calibri" panose="020F0502020204030204" pitchFamily="34" charset="0"/>
              </a:rPr>
              <a:t> </a:t>
            </a:r>
            <a:r>
              <a:rPr lang="en-US" sz="1800" dirty="0">
                <a:effectLst/>
                <a:ea typeface="Calibri" panose="020F0502020204030204" pitchFamily="34" charset="0"/>
              </a:rPr>
              <a:t>API which</a:t>
            </a:r>
            <a:r>
              <a:rPr lang="en-US" sz="1800" spc="-15" dirty="0">
                <a:effectLst/>
                <a:ea typeface="Calibri" panose="020F0502020204030204" pitchFamily="34" charset="0"/>
              </a:rPr>
              <a:t> </a:t>
            </a:r>
            <a:r>
              <a:rPr lang="en-US" sz="1800" dirty="0">
                <a:effectLst/>
                <a:ea typeface="Calibri" panose="020F0502020204030204" pitchFamily="34" charset="0"/>
              </a:rPr>
              <a:t>is</a:t>
            </a:r>
            <a:r>
              <a:rPr lang="en-US" sz="1800" spc="-25" dirty="0">
                <a:effectLst/>
                <a:ea typeface="Calibri" panose="020F0502020204030204" pitchFamily="34" charset="0"/>
              </a:rPr>
              <a:t> </a:t>
            </a:r>
            <a:r>
              <a:rPr lang="en-US" sz="1800" dirty="0">
                <a:effectLst/>
                <a:ea typeface="Calibri" panose="020F0502020204030204" pitchFamily="34" charset="0"/>
              </a:rPr>
              <a:t>wrap</a:t>
            </a:r>
            <a:r>
              <a:rPr lang="en-US" sz="1800" spc="-5" dirty="0">
                <a:effectLst/>
                <a:ea typeface="Calibri" panose="020F0502020204030204" pitchFamily="34" charset="0"/>
              </a:rPr>
              <a:t> </a:t>
            </a:r>
            <a:r>
              <a:rPr lang="en-US" sz="1800" dirty="0">
                <a:effectLst/>
                <a:ea typeface="Calibri" panose="020F0502020204030204" pitchFamily="34" charset="0"/>
              </a:rPr>
              <a:t>in</a:t>
            </a:r>
            <a:r>
              <a:rPr lang="en-US" sz="1800" spc="-25" dirty="0">
                <a:effectLst/>
                <a:ea typeface="Calibri" panose="020F0502020204030204" pitchFamily="34" charset="0"/>
              </a:rPr>
              <a:t> </a:t>
            </a:r>
            <a:r>
              <a:rPr lang="en-US" sz="1800" dirty="0">
                <a:effectLst/>
                <a:ea typeface="Calibri" panose="020F0502020204030204" pitchFamily="34" charset="0"/>
              </a:rPr>
              <a:t>HTTP.</a:t>
            </a:r>
          </a:p>
          <a:p>
            <a:pPr>
              <a:lnSpc>
                <a:spcPct val="100000"/>
              </a:lnSpc>
              <a:buFont typeface="Wingdings" panose="05000000000000000000" pitchFamily="2" charset="2"/>
              <a:buChar char="§"/>
            </a:pPr>
            <a:r>
              <a:rPr lang="en-US" sz="1800" dirty="0">
                <a:solidFill>
                  <a:srgbClr val="000000"/>
                </a:solidFill>
                <a:effectLst/>
                <a:ea typeface="Calibri" panose="020F0502020204030204" pitchFamily="34" charset="0"/>
              </a:rPr>
              <a:t>Services available over the web.</a:t>
            </a:r>
            <a:endParaRPr lang="en-IN" sz="1800" dirty="0">
              <a:solidFill>
                <a:srgbClr val="000000"/>
              </a:solidFill>
              <a:effectLst/>
              <a:ea typeface="Calibri" panose="020F0502020204030204" pitchFamily="34" charset="0"/>
            </a:endParaRPr>
          </a:p>
          <a:p>
            <a:pPr lvl="0">
              <a:lnSpc>
                <a:spcPct val="100000"/>
              </a:lnSpc>
              <a:spcBef>
                <a:spcPts val="300"/>
              </a:spcBef>
              <a:buFont typeface="Wingdings" panose="05000000000000000000" pitchFamily="2" charset="2"/>
              <a:buChar char="§"/>
            </a:pPr>
            <a:r>
              <a:rPr lang="en-US" sz="1800" dirty="0">
                <a:solidFill>
                  <a:srgbClr val="000000"/>
                </a:solidFill>
                <a:effectLst/>
                <a:ea typeface="Times New Roman" panose="02020603050405020304" pitchFamily="18" charset="0"/>
                <a:cs typeface="Times New Roman" panose="02020603050405020304" pitchFamily="18" charset="0"/>
              </a:rPr>
              <a:t>The method of communication between two devices or application over the network.</a:t>
            </a:r>
            <a:endParaRPr lang="en-IN" sz="1800" dirty="0">
              <a:effectLst/>
              <a:ea typeface="Calibri" panose="020F0502020204030204" pitchFamily="34" charset="0"/>
              <a:cs typeface="Times New Roman" panose="02020603050405020304" pitchFamily="18" charset="0"/>
            </a:endParaRPr>
          </a:p>
          <a:p>
            <a:pPr lvl="0">
              <a:lnSpc>
                <a:spcPct val="100000"/>
              </a:lnSpc>
              <a:spcBef>
                <a:spcPts val="300"/>
              </a:spcBef>
              <a:buFont typeface="Wingdings" panose="05000000000000000000" pitchFamily="2" charset="2"/>
              <a:buChar char="§"/>
            </a:pPr>
            <a:r>
              <a:rPr lang="en-US" sz="1800" dirty="0">
                <a:solidFill>
                  <a:srgbClr val="000000"/>
                </a:solidFill>
                <a:effectLst/>
                <a:ea typeface="Times New Roman" panose="02020603050405020304" pitchFamily="18" charset="0"/>
                <a:cs typeface="Times New Roman" panose="02020603050405020304" pitchFamily="18" charset="0"/>
              </a:rPr>
              <a:t>Enable communications between applications over the web.</a:t>
            </a:r>
            <a:endParaRPr lang="en-IN" sz="1800" dirty="0">
              <a:effectLst/>
              <a:ea typeface="Calibri" panose="020F0502020204030204" pitchFamily="34" charset="0"/>
              <a:cs typeface="Times New Roman" panose="02020603050405020304" pitchFamily="18" charset="0"/>
            </a:endParaRPr>
          </a:p>
          <a:p>
            <a:pPr lvl="0">
              <a:lnSpc>
                <a:spcPct val="100000"/>
              </a:lnSpc>
              <a:spcBef>
                <a:spcPts val="300"/>
              </a:spcBef>
              <a:buFont typeface="Wingdings" panose="05000000000000000000" pitchFamily="2" charset="2"/>
              <a:buChar char="§"/>
            </a:pPr>
            <a:r>
              <a:rPr lang="en-US" sz="1800" dirty="0">
                <a:solidFill>
                  <a:srgbClr val="000000"/>
                </a:solidFill>
                <a:effectLst/>
                <a:ea typeface="Times New Roman" panose="02020603050405020304" pitchFamily="18" charset="0"/>
                <a:cs typeface="Times New Roman" panose="02020603050405020304" pitchFamily="18" charset="0"/>
              </a:rPr>
              <a:t>Platform independent communication.</a:t>
            </a:r>
            <a:endParaRPr lang="en-IN" sz="1800" dirty="0">
              <a:effectLst/>
              <a:ea typeface="Calibri" panose="020F0502020204030204" pitchFamily="34" charset="0"/>
              <a:cs typeface="Times New Roman" panose="02020603050405020304" pitchFamily="18" charset="0"/>
            </a:endParaRPr>
          </a:p>
          <a:p>
            <a:pPr lvl="0">
              <a:lnSpc>
                <a:spcPct val="100000"/>
              </a:lnSpc>
              <a:spcBef>
                <a:spcPts val="300"/>
              </a:spcBef>
              <a:spcAft>
                <a:spcPts val="1000"/>
              </a:spcAft>
              <a:buFont typeface="Wingdings" panose="05000000000000000000" pitchFamily="2" charset="2"/>
              <a:buChar char="§"/>
            </a:pPr>
            <a:r>
              <a:rPr lang="en-US" sz="1800" dirty="0">
                <a:solidFill>
                  <a:srgbClr val="000000"/>
                </a:solidFill>
                <a:effectLst/>
                <a:ea typeface="Times New Roman" panose="02020603050405020304" pitchFamily="18" charset="0"/>
                <a:cs typeface="Times New Roman" panose="02020603050405020304" pitchFamily="18" charset="0"/>
              </a:rPr>
              <a:t>Using web services two different applications(Implementation) can talk to each other and exchange data/information.</a:t>
            </a:r>
            <a:endParaRPr lang="en-IN" sz="1800" dirty="0">
              <a:effectLst/>
              <a:ea typeface="Calibri" panose="020F0502020204030204" pitchFamily="34" charset="0"/>
              <a:cs typeface="Times New Roman" panose="02020603050405020304" pitchFamily="18" charset="0"/>
            </a:endParaRPr>
          </a:p>
          <a:p>
            <a:pPr marL="0" indent="0">
              <a:buNone/>
            </a:pPr>
            <a:endParaRPr lang="en-IN" sz="1800" dirty="0">
              <a:effectLst/>
              <a:latin typeface="Calibri" panose="020F0502020204030204" pitchFamily="34" charset="0"/>
              <a:ea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1763686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image8.jpeg">
            <a:extLst>
              <a:ext uri="{FF2B5EF4-FFF2-40B4-BE49-F238E27FC236}">
                <a16:creationId xmlns:a16="http://schemas.microsoft.com/office/drawing/2014/main" id="{182A5718-A7DF-0563-76A4-9FAB17A33E88}"/>
              </a:ext>
            </a:extLst>
          </p:cNvPr>
          <p:cNvPicPr>
            <a:picLocks noGrp="1" noChangeAspect="1"/>
          </p:cNvPicPr>
          <p:nvPr>
            <p:ph idx="1"/>
          </p:nvPr>
        </p:nvPicPr>
        <p:blipFill>
          <a:blip r:embed="rId2" cstate="print"/>
          <a:stretch>
            <a:fillRect/>
          </a:stretch>
        </p:blipFill>
        <p:spPr>
          <a:xfrm>
            <a:off x="1080011" y="228600"/>
            <a:ext cx="10111864" cy="5279224"/>
          </a:xfrm>
          <a:prstGeom prst="rect">
            <a:avLst/>
          </a:prstGeom>
        </p:spPr>
      </p:pic>
    </p:spTree>
    <p:extLst>
      <p:ext uri="{BB962C8B-B14F-4D97-AF65-F5344CB8AC3E}">
        <p14:creationId xmlns:p14="http://schemas.microsoft.com/office/powerpoint/2010/main" val="773796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9.jpeg">
            <a:extLst>
              <a:ext uri="{FF2B5EF4-FFF2-40B4-BE49-F238E27FC236}">
                <a16:creationId xmlns:a16="http://schemas.microsoft.com/office/drawing/2014/main" id="{641734BC-06DB-FBE0-EB8D-7B314D38DB60}"/>
              </a:ext>
            </a:extLst>
          </p:cNvPr>
          <p:cNvPicPr>
            <a:picLocks noChangeAspect="1"/>
          </p:cNvPicPr>
          <p:nvPr/>
        </p:nvPicPr>
        <p:blipFill>
          <a:blip r:embed="rId2" cstate="print"/>
          <a:stretch>
            <a:fillRect/>
          </a:stretch>
        </p:blipFill>
        <p:spPr>
          <a:xfrm>
            <a:off x="643467" y="1207092"/>
            <a:ext cx="10905066" cy="4443814"/>
          </a:xfrm>
          <a:prstGeom prst="rect">
            <a:avLst/>
          </a:prstGeom>
        </p:spPr>
      </p:pic>
    </p:spTree>
    <p:extLst>
      <p:ext uri="{BB962C8B-B14F-4D97-AF65-F5344CB8AC3E}">
        <p14:creationId xmlns:p14="http://schemas.microsoft.com/office/powerpoint/2010/main" val="1443717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A6667-2EAE-0822-2175-59C30416302D}"/>
              </a:ext>
            </a:extLst>
          </p:cNvPr>
          <p:cNvSpPr>
            <a:spLocks noGrp="1"/>
          </p:cNvSpPr>
          <p:nvPr>
            <p:ph type="title"/>
          </p:nvPr>
        </p:nvSpPr>
        <p:spPr/>
        <p:txBody>
          <a:bodyPr/>
          <a:lstStyle/>
          <a:p>
            <a:r>
              <a:rPr lang="en-US" b="1" dirty="0"/>
              <a:t>SOAP API</a:t>
            </a:r>
            <a:endParaRPr lang="en-IN" b="1" dirty="0"/>
          </a:p>
        </p:txBody>
      </p:sp>
      <p:sp>
        <p:nvSpPr>
          <p:cNvPr id="3" name="Content Placeholder 2">
            <a:extLst>
              <a:ext uri="{FF2B5EF4-FFF2-40B4-BE49-F238E27FC236}">
                <a16:creationId xmlns:a16="http://schemas.microsoft.com/office/drawing/2014/main" id="{95D6DE10-3596-DE56-82D1-D770D786166C}"/>
              </a:ext>
            </a:extLst>
          </p:cNvPr>
          <p:cNvSpPr>
            <a:spLocks noGrp="1"/>
          </p:cNvSpPr>
          <p:nvPr>
            <p:ph idx="1"/>
          </p:nvPr>
        </p:nvSpPr>
        <p:spPr/>
        <p:txBody>
          <a:bodyPr/>
          <a:lstStyle/>
          <a:p>
            <a:pPr marL="0" indent="0">
              <a:buNone/>
            </a:pPr>
            <a:r>
              <a:rPr lang="en-US" sz="2000" dirty="0">
                <a:effectLst/>
                <a:ea typeface="Calibri" panose="020F0502020204030204" pitchFamily="34" charset="0"/>
              </a:rPr>
              <a:t>SOAP is a very old and complex technology and its only supports XML for communication. It supports</a:t>
            </a:r>
            <a:r>
              <a:rPr lang="en-US" sz="2000" spc="-235" dirty="0">
                <a:effectLst/>
                <a:ea typeface="Calibri" panose="020F0502020204030204" pitchFamily="34" charset="0"/>
              </a:rPr>
              <a:t> </a:t>
            </a:r>
            <a:r>
              <a:rPr lang="en-US" sz="2000">
                <a:effectLst/>
                <a:ea typeface="Calibri" panose="020F0502020204030204" pitchFamily="34" charset="0"/>
              </a:rPr>
              <a:t>only</a:t>
            </a:r>
            <a:r>
              <a:rPr lang="en-US" sz="2000" spc="5">
                <a:effectLst/>
                <a:ea typeface="Calibri" panose="020F0502020204030204" pitchFamily="34" charset="0"/>
              </a:rPr>
              <a:t> </a:t>
            </a:r>
            <a:r>
              <a:rPr lang="en-US" sz="2000">
                <a:ea typeface="Calibri" panose="020F0502020204030204" pitchFamily="34" charset="0"/>
              </a:rPr>
              <a:t>POST</a:t>
            </a:r>
            <a:r>
              <a:rPr lang="en-US" sz="2000">
                <a:effectLst/>
                <a:ea typeface="Calibri" panose="020F0502020204030204" pitchFamily="34" charset="0"/>
              </a:rPr>
              <a:t> </a:t>
            </a:r>
            <a:r>
              <a:rPr lang="en-US" sz="2000" dirty="0">
                <a:effectLst/>
                <a:ea typeface="Calibri" panose="020F0502020204030204" pitchFamily="34" charset="0"/>
              </a:rPr>
              <a:t>requests</a:t>
            </a:r>
            <a:r>
              <a:rPr lang="en-US" sz="2000" spc="-10" dirty="0">
                <a:effectLst/>
                <a:ea typeface="Calibri" panose="020F0502020204030204" pitchFamily="34" charset="0"/>
              </a:rPr>
              <a:t> </a:t>
            </a:r>
            <a:r>
              <a:rPr lang="en-US" sz="2000" dirty="0">
                <a:effectLst/>
                <a:ea typeface="Calibri" panose="020F0502020204030204" pitchFamily="34" charset="0"/>
              </a:rPr>
              <a:t>only.</a:t>
            </a:r>
          </a:p>
          <a:p>
            <a:pPr marL="0" indent="0">
              <a:buNone/>
            </a:pPr>
            <a:endParaRPr lang="en-US" sz="2000" dirty="0"/>
          </a:p>
          <a:p>
            <a:pPr marL="0" indent="0">
              <a:buNone/>
            </a:pPr>
            <a:r>
              <a:rPr lang="en-IN" sz="2000" dirty="0">
                <a:solidFill>
                  <a:srgbClr val="2D3748"/>
                </a:solidFill>
                <a:effectLst/>
                <a:ea typeface="Times New Roman" panose="02020603050405020304" pitchFamily="18" charset="0"/>
              </a:rPr>
              <a:t>SOAP stands for Simple Object Access Protocol. It is an XML based messaging protocol. It helps in exchanging information among computers.</a:t>
            </a:r>
            <a:endParaRPr lang="en-IN" sz="2000" dirty="0">
              <a:effectLst/>
              <a:ea typeface="Times New Roman" panose="02020603050405020304" pitchFamily="18" charset="0"/>
            </a:endParaRPr>
          </a:p>
          <a:p>
            <a:pPr marL="0" indent="0">
              <a:buNone/>
            </a:pPr>
            <a:endParaRPr lang="en-IN" dirty="0"/>
          </a:p>
          <a:p>
            <a:pPr marL="0" indent="0">
              <a:buNone/>
            </a:pPr>
            <a:endParaRPr lang="en-IN" dirty="0"/>
          </a:p>
        </p:txBody>
      </p:sp>
      <p:pic>
        <p:nvPicPr>
          <p:cNvPr id="4" name="Picture 3">
            <a:extLst>
              <a:ext uri="{FF2B5EF4-FFF2-40B4-BE49-F238E27FC236}">
                <a16:creationId xmlns:a16="http://schemas.microsoft.com/office/drawing/2014/main" id="{328CEFC1-ED86-9782-D9E9-94D7DAE8F5BD}"/>
              </a:ext>
            </a:extLst>
          </p:cNvPr>
          <p:cNvPicPr>
            <a:picLocks noChangeAspect="1"/>
          </p:cNvPicPr>
          <p:nvPr/>
        </p:nvPicPr>
        <p:blipFill>
          <a:blip r:embed="rId2" cstate="print"/>
          <a:stretch>
            <a:fillRect/>
          </a:stretch>
        </p:blipFill>
        <p:spPr>
          <a:xfrm>
            <a:off x="989121" y="3753954"/>
            <a:ext cx="4754731" cy="2256228"/>
          </a:xfrm>
          <a:prstGeom prst="rect">
            <a:avLst/>
          </a:prstGeom>
        </p:spPr>
      </p:pic>
    </p:spTree>
    <p:extLst>
      <p:ext uri="{BB962C8B-B14F-4D97-AF65-F5344CB8AC3E}">
        <p14:creationId xmlns:p14="http://schemas.microsoft.com/office/powerpoint/2010/main" val="3861066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ne in a crowd">
            <a:extLst>
              <a:ext uri="{FF2B5EF4-FFF2-40B4-BE49-F238E27FC236}">
                <a16:creationId xmlns:a16="http://schemas.microsoft.com/office/drawing/2014/main" id="{804DAC8E-90A5-6ECD-C353-5CD37376C585}"/>
              </a:ext>
            </a:extLst>
          </p:cNvPr>
          <p:cNvPicPr>
            <a:picLocks noChangeAspect="1"/>
          </p:cNvPicPr>
          <p:nvPr/>
        </p:nvPicPr>
        <p:blipFill rotWithShape="1">
          <a:blip r:embed="rId2" cstate="print"/>
          <a:srcRect t="2536" r="13818" b="6555"/>
          <a:stretch/>
        </p:blipFill>
        <p:spPr>
          <a:xfrm>
            <a:off x="3523488" y="10"/>
            <a:ext cx="8668512" cy="6857990"/>
          </a:xfrm>
          <a:prstGeom prst="rect">
            <a:avLst/>
          </a:prstGeom>
        </p:spPr>
      </p:pic>
      <p:sp>
        <p:nvSpPr>
          <p:cNvPr id="33" name="Rectangle 3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BFAFB9-92BD-0DAF-A046-3C86AB64D58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REST API</a:t>
            </a:r>
          </a:p>
        </p:txBody>
      </p:sp>
      <p:sp>
        <p:nvSpPr>
          <p:cNvPr id="35" name="Rectangle 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7" name="Rectangle 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4648968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80C6E-2C72-A838-BADD-C35C2DC84930}"/>
              </a:ext>
            </a:extLst>
          </p:cNvPr>
          <p:cNvSpPr>
            <a:spLocks noGrp="1"/>
          </p:cNvSpPr>
          <p:nvPr>
            <p:ph type="title"/>
          </p:nvPr>
        </p:nvSpPr>
        <p:spPr/>
        <p:txBody>
          <a:bodyPr/>
          <a:lstStyle/>
          <a:p>
            <a:r>
              <a:rPr lang="en-US" b="1" dirty="0"/>
              <a:t>REST API</a:t>
            </a:r>
            <a:endParaRPr lang="en-IN" b="1" dirty="0"/>
          </a:p>
        </p:txBody>
      </p:sp>
      <p:sp>
        <p:nvSpPr>
          <p:cNvPr id="3" name="Content Placeholder 2">
            <a:extLst>
              <a:ext uri="{FF2B5EF4-FFF2-40B4-BE49-F238E27FC236}">
                <a16:creationId xmlns:a16="http://schemas.microsoft.com/office/drawing/2014/main" id="{2945D86B-201C-2117-E7D0-5F928942F921}"/>
              </a:ext>
            </a:extLst>
          </p:cNvPr>
          <p:cNvSpPr>
            <a:spLocks noGrp="1"/>
          </p:cNvSpPr>
          <p:nvPr>
            <p:ph idx="1"/>
          </p:nvPr>
        </p:nvSpPr>
        <p:spPr/>
        <p:txBody>
          <a:bodyPr/>
          <a:lstStyle/>
          <a:p>
            <a:pPr marL="0" indent="0">
              <a:buNone/>
            </a:pPr>
            <a:r>
              <a:rPr lang="en-US" sz="1800" dirty="0">
                <a:effectLst/>
                <a:latin typeface="Calibri" panose="020F0502020204030204" pitchFamily="34" charset="0"/>
                <a:ea typeface="Calibri" panose="020F0502020204030204" pitchFamily="34" charset="0"/>
              </a:rPr>
              <a:t>RESTful is the latest technology and its supports multiple ways to communicate like XML, Text,</a:t>
            </a:r>
            <a:r>
              <a:rPr lang="en-US" sz="1800" spc="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HTML, and JSON, and it supports multiple operations like Post, Put, Get, Delete</a:t>
            </a:r>
            <a:r>
              <a:rPr lang="en-US" sz="1800">
                <a:effectLst/>
                <a:latin typeface="Calibri" panose="020F0502020204030204" pitchFamily="34" charset="0"/>
                <a:ea typeface="Calibri" panose="020F0502020204030204" pitchFamily="34" charset="0"/>
              </a:rPr>
              <a:t>, </a:t>
            </a:r>
            <a:r>
              <a:rPr lang="en-US" sz="1800">
                <a:latin typeface="Calibri" panose="020F0502020204030204" pitchFamily="34" charset="0"/>
                <a:ea typeface="Calibri" panose="020F0502020204030204" pitchFamily="34" charset="0"/>
              </a:rPr>
              <a:t>Patch </a:t>
            </a:r>
            <a:r>
              <a:rPr lang="en-US" sz="1800">
                <a:effectLst/>
                <a:latin typeface="Calibri" panose="020F0502020204030204" pitchFamily="34" charset="0"/>
                <a:ea typeface="Calibri" panose="020F0502020204030204" pitchFamily="34" charset="0"/>
              </a:rPr>
              <a:t>etc</a:t>
            </a:r>
            <a:r>
              <a:rPr lang="en-US" sz="1800" dirty="0">
                <a:effectLst/>
                <a:latin typeface="Calibri" panose="020F0502020204030204" pitchFamily="34" charset="0"/>
                <a:ea typeface="Calibri" panose="020F0502020204030204" pitchFamily="34" charset="0"/>
              </a:rPr>
              <a:t>. Most of companies</a:t>
            </a:r>
            <a:r>
              <a:rPr lang="en-US" sz="1800" spc="-23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are using</a:t>
            </a:r>
            <a:r>
              <a:rPr lang="en-US" sz="1800" spc="-1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RESTful</a:t>
            </a:r>
            <a:r>
              <a:rPr lang="en-US" sz="1800" spc="-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API nowadays as it’s</a:t>
            </a:r>
            <a:r>
              <a:rPr lang="en-US" sz="1800" spc="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the latest</a:t>
            </a:r>
            <a:r>
              <a:rPr lang="en-US" sz="1800" spc="-1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and</a:t>
            </a:r>
            <a:r>
              <a:rPr lang="en-US" sz="1800" spc="-2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has more</a:t>
            </a:r>
            <a:r>
              <a:rPr lang="en-US" sz="1800" spc="-1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features.</a:t>
            </a:r>
          </a:p>
          <a:p>
            <a:pPr marL="0" indent="0">
              <a:buNone/>
            </a:pPr>
            <a:endParaRPr lang="en-IN" sz="1800" dirty="0">
              <a:effectLst/>
              <a:latin typeface="Calibri" panose="020F0502020204030204" pitchFamily="34" charset="0"/>
              <a:ea typeface="Calibri" panose="020F0502020204030204" pitchFamily="34" charset="0"/>
            </a:endParaRPr>
          </a:p>
          <a:p>
            <a:pPr marL="0" indent="0">
              <a:buNone/>
            </a:pPr>
            <a:r>
              <a:rPr lang="en-IN" sz="1800" dirty="0">
                <a:effectLst/>
                <a:latin typeface="Segoe UI" panose="020B0502040204020203" pitchFamily="34" charset="0"/>
                <a:ea typeface="Times New Roman" panose="02020603050405020304" pitchFamily="18" charset="0"/>
              </a:rPr>
              <a:t>REST stands for Representational State Transfer. It is a set of functions helping developers in performing requests and receive responses.</a:t>
            </a:r>
            <a:endParaRPr lang="en-IN" sz="1800" dirty="0">
              <a:effectLst/>
              <a:latin typeface="Calibri" panose="020F0502020204030204" pitchFamily="34" charset="0"/>
              <a:ea typeface="Calibri" panose="020F0502020204030204" pitchFamily="34" charset="0"/>
            </a:endParaRPr>
          </a:p>
          <a:p>
            <a:pPr marL="0" indent="0">
              <a:buNone/>
            </a:pPr>
            <a:endParaRPr lang="en-IN" dirty="0"/>
          </a:p>
        </p:txBody>
      </p:sp>
      <p:pic>
        <p:nvPicPr>
          <p:cNvPr id="4" name="Picture 3">
            <a:extLst>
              <a:ext uri="{FF2B5EF4-FFF2-40B4-BE49-F238E27FC236}">
                <a16:creationId xmlns:a16="http://schemas.microsoft.com/office/drawing/2014/main" id="{E4B7550D-F64D-3C07-25CA-5508B18A9E22}"/>
              </a:ext>
            </a:extLst>
          </p:cNvPr>
          <p:cNvPicPr>
            <a:picLocks noChangeAspect="1"/>
          </p:cNvPicPr>
          <p:nvPr/>
        </p:nvPicPr>
        <p:blipFill>
          <a:blip r:embed="rId2" cstate="print"/>
          <a:stretch>
            <a:fillRect/>
          </a:stretch>
        </p:blipFill>
        <p:spPr>
          <a:xfrm>
            <a:off x="909220" y="3950563"/>
            <a:ext cx="4408504" cy="2226400"/>
          </a:xfrm>
          <a:prstGeom prst="rect">
            <a:avLst/>
          </a:prstGeom>
        </p:spPr>
      </p:pic>
    </p:spTree>
    <p:extLst>
      <p:ext uri="{BB962C8B-B14F-4D97-AF65-F5344CB8AC3E}">
        <p14:creationId xmlns:p14="http://schemas.microsoft.com/office/powerpoint/2010/main" val="1997595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FD1D1-CAC3-6717-D3C0-273EF9911360}"/>
              </a:ext>
            </a:extLst>
          </p:cNvPr>
          <p:cNvSpPr>
            <a:spLocks noGrp="1"/>
          </p:cNvSpPr>
          <p:nvPr>
            <p:ph type="title"/>
          </p:nvPr>
        </p:nvSpPr>
        <p:spPr/>
        <p:txBody>
          <a:bodyPr>
            <a:normAutofit/>
          </a:bodyPr>
          <a:lstStyle/>
          <a:p>
            <a:r>
              <a:rPr lang="en-IN" b="1" dirty="0">
                <a:solidFill>
                  <a:schemeClr val="tx1">
                    <a:lumMod val="85000"/>
                    <a:lumOff val="15000"/>
                  </a:schemeClr>
                </a:solidFill>
                <a:effectLst/>
                <a:latin typeface="Calibri" panose="020F0502020204030204" pitchFamily="34" charset="0"/>
                <a:ea typeface="Calibri" panose="020F0502020204030204" pitchFamily="34" charset="0"/>
              </a:rPr>
              <a:t>Difference between SOAP and REST </a:t>
            </a:r>
            <a:endParaRPr lang="en-IN" b="1" dirty="0">
              <a:solidFill>
                <a:schemeClr val="tx1">
                  <a:lumMod val="85000"/>
                  <a:lumOff val="15000"/>
                </a:schemeClr>
              </a:solidFill>
            </a:endParaRPr>
          </a:p>
        </p:txBody>
      </p:sp>
      <p:sp>
        <p:nvSpPr>
          <p:cNvPr id="3" name="Text Placeholder 2">
            <a:extLst>
              <a:ext uri="{FF2B5EF4-FFF2-40B4-BE49-F238E27FC236}">
                <a16:creationId xmlns:a16="http://schemas.microsoft.com/office/drawing/2014/main" id="{A9959DBB-34E9-55E0-A3F3-CF7202BD0FA5}"/>
              </a:ext>
            </a:extLst>
          </p:cNvPr>
          <p:cNvSpPr>
            <a:spLocks noGrp="1"/>
          </p:cNvSpPr>
          <p:nvPr>
            <p:ph type="body" idx="1"/>
          </p:nvPr>
        </p:nvSpPr>
        <p:spPr/>
        <p:txBody>
          <a:bodyPr>
            <a:normAutofit/>
          </a:bodyPr>
          <a:lstStyle/>
          <a:p>
            <a:pPr algn="ctr"/>
            <a:r>
              <a:rPr lang="en-US" sz="3600" dirty="0">
                <a:solidFill>
                  <a:srgbClr val="002060"/>
                </a:solidFill>
              </a:rPr>
              <a:t>REST</a:t>
            </a:r>
            <a:endParaRPr lang="en-IN" sz="3600" dirty="0">
              <a:solidFill>
                <a:srgbClr val="002060"/>
              </a:solidFill>
            </a:endParaRPr>
          </a:p>
        </p:txBody>
      </p:sp>
      <p:sp>
        <p:nvSpPr>
          <p:cNvPr id="4" name="Content Placeholder 3">
            <a:extLst>
              <a:ext uri="{FF2B5EF4-FFF2-40B4-BE49-F238E27FC236}">
                <a16:creationId xmlns:a16="http://schemas.microsoft.com/office/drawing/2014/main" id="{D5216383-E3C1-7F9C-DA56-4711C52F3A82}"/>
              </a:ext>
            </a:extLst>
          </p:cNvPr>
          <p:cNvSpPr>
            <a:spLocks noGrp="1"/>
          </p:cNvSpPr>
          <p:nvPr>
            <p:ph sz="half" idx="2"/>
          </p:nvPr>
        </p:nvSpPr>
        <p:spPr>
          <a:xfrm>
            <a:off x="839788" y="2505075"/>
            <a:ext cx="5256212" cy="3684588"/>
          </a:xfrm>
        </p:spPr>
        <p:txBody>
          <a:bodyPr>
            <a:normAutofit/>
          </a:bodyPr>
          <a:lstStyle/>
          <a:p>
            <a:r>
              <a:rPr lang="en-US" sz="2400" b="0" i="0" dirty="0">
                <a:solidFill>
                  <a:srgbClr val="333333"/>
                </a:solidFill>
                <a:effectLst/>
                <a:latin typeface="inter-regular"/>
              </a:rPr>
              <a:t>REST stands for </a:t>
            </a:r>
            <a:r>
              <a:rPr lang="en-US" sz="2400" b="1" i="0" dirty="0">
                <a:solidFill>
                  <a:srgbClr val="333333"/>
                </a:solidFill>
                <a:effectLst/>
                <a:latin typeface="inter-bold"/>
              </a:rPr>
              <a:t>REpresentational State Transfer</a:t>
            </a:r>
            <a:r>
              <a:rPr lang="en-US" sz="2400" b="0" i="0" dirty="0">
                <a:solidFill>
                  <a:srgbClr val="333333"/>
                </a:solidFill>
                <a:effectLst/>
                <a:latin typeface="inter-regular"/>
              </a:rPr>
              <a:t>.</a:t>
            </a:r>
          </a:p>
          <a:p>
            <a:r>
              <a:rPr lang="en-US" sz="2400" b="0" i="0" dirty="0">
                <a:solidFill>
                  <a:srgbClr val="333333"/>
                </a:solidFill>
                <a:effectLst/>
                <a:latin typeface="inter-regular"/>
              </a:rPr>
              <a:t>REST </a:t>
            </a:r>
            <a:r>
              <a:rPr lang="en-US" sz="2400" b="1" i="0" dirty="0">
                <a:solidFill>
                  <a:srgbClr val="333333"/>
                </a:solidFill>
                <a:effectLst/>
                <a:latin typeface="inter-bold"/>
              </a:rPr>
              <a:t>permits different</a:t>
            </a:r>
            <a:r>
              <a:rPr lang="en-US" sz="2400" b="0" i="0" dirty="0">
                <a:solidFill>
                  <a:srgbClr val="333333"/>
                </a:solidFill>
                <a:effectLst/>
                <a:latin typeface="inter-regular"/>
              </a:rPr>
              <a:t> data format such as Plain text, HTML, XML, JSON etc.</a:t>
            </a:r>
          </a:p>
          <a:p>
            <a:r>
              <a:rPr lang="en-IN" sz="2400" dirty="0">
                <a:solidFill>
                  <a:srgbClr val="2D3748"/>
                </a:solidFill>
                <a:effectLst/>
                <a:latin typeface="Segoe UI" panose="020B0502040204020203" pitchFamily="34" charset="0"/>
                <a:ea typeface="Calibri" panose="020F0502020204030204" pitchFamily="34" charset="0"/>
              </a:rPr>
              <a:t>REST is faster than SOAP</a:t>
            </a:r>
          </a:p>
          <a:p>
            <a:r>
              <a:rPr lang="en-US" sz="2400" b="0" i="0" dirty="0">
                <a:solidFill>
                  <a:srgbClr val="333333"/>
                </a:solidFill>
                <a:effectLst/>
                <a:latin typeface="inter-regular"/>
              </a:rPr>
              <a:t>REST </a:t>
            </a:r>
            <a:r>
              <a:rPr lang="en-US" sz="2400" b="1" i="0" dirty="0">
                <a:solidFill>
                  <a:srgbClr val="333333"/>
                </a:solidFill>
                <a:effectLst/>
                <a:latin typeface="inter-bold"/>
              </a:rPr>
              <a:t>more preferred</a:t>
            </a:r>
            <a:r>
              <a:rPr lang="en-US" sz="2400" b="0" i="0" dirty="0">
                <a:solidFill>
                  <a:srgbClr val="333333"/>
                </a:solidFill>
                <a:effectLst/>
                <a:latin typeface="inter-regular"/>
              </a:rPr>
              <a:t> than SOAP.</a:t>
            </a:r>
          </a:p>
          <a:p>
            <a:r>
              <a:rPr lang="en-US" sz="2400" dirty="0">
                <a:solidFill>
                  <a:srgbClr val="333333"/>
                </a:solidFill>
                <a:latin typeface="inter-regular"/>
              </a:rPr>
              <a:t>Rest support multiple request method (POST, GET, PUT, etc…)</a:t>
            </a:r>
            <a:endParaRPr lang="en-IN" sz="2400" dirty="0"/>
          </a:p>
        </p:txBody>
      </p:sp>
      <p:sp>
        <p:nvSpPr>
          <p:cNvPr id="5" name="Text Placeholder 4">
            <a:extLst>
              <a:ext uri="{FF2B5EF4-FFF2-40B4-BE49-F238E27FC236}">
                <a16:creationId xmlns:a16="http://schemas.microsoft.com/office/drawing/2014/main" id="{982D7F88-BC62-2851-89BE-24BEF6EF9F83}"/>
              </a:ext>
            </a:extLst>
          </p:cNvPr>
          <p:cNvSpPr>
            <a:spLocks noGrp="1"/>
          </p:cNvSpPr>
          <p:nvPr>
            <p:ph type="body" sz="quarter" idx="3"/>
          </p:nvPr>
        </p:nvSpPr>
        <p:spPr/>
        <p:txBody>
          <a:bodyPr>
            <a:normAutofit/>
          </a:bodyPr>
          <a:lstStyle/>
          <a:p>
            <a:pPr algn="ctr"/>
            <a:r>
              <a:rPr lang="en-US" sz="3600" dirty="0">
                <a:solidFill>
                  <a:srgbClr val="002060"/>
                </a:solidFill>
              </a:rPr>
              <a:t>SOAP</a:t>
            </a:r>
            <a:endParaRPr lang="en-IN" sz="3600" dirty="0">
              <a:solidFill>
                <a:srgbClr val="002060"/>
              </a:solidFill>
            </a:endParaRPr>
          </a:p>
        </p:txBody>
      </p:sp>
      <p:sp>
        <p:nvSpPr>
          <p:cNvPr id="6" name="Content Placeholder 5">
            <a:extLst>
              <a:ext uri="{FF2B5EF4-FFF2-40B4-BE49-F238E27FC236}">
                <a16:creationId xmlns:a16="http://schemas.microsoft.com/office/drawing/2014/main" id="{EFF9474A-911D-A9BB-9CDA-F279CD633EF7}"/>
              </a:ext>
            </a:extLst>
          </p:cNvPr>
          <p:cNvSpPr>
            <a:spLocks noGrp="1"/>
          </p:cNvSpPr>
          <p:nvPr>
            <p:ph sz="quarter" idx="4"/>
          </p:nvPr>
        </p:nvSpPr>
        <p:spPr>
          <a:xfrm>
            <a:off x="6358631" y="2533280"/>
            <a:ext cx="5183188" cy="3684588"/>
          </a:xfrm>
        </p:spPr>
        <p:txBody>
          <a:bodyPr>
            <a:normAutofit/>
          </a:bodyPr>
          <a:lstStyle/>
          <a:p>
            <a:r>
              <a:rPr lang="en-US" sz="2400" b="0" i="0" dirty="0">
                <a:solidFill>
                  <a:srgbClr val="333333"/>
                </a:solidFill>
                <a:effectLst/>
                <a:latin typeface="inter-regular"/>
              </a:rPr>
              <a:t>SOAP stands for </a:t>
            </a:r>
            <a:r>
              <a:rPr lang="en-US" sz="2400" b="1" i="0" dirty="0">
                <a:solidFill>
                  <a:srgbClr val="333333"/>
                </a:solidFill>
                <a:effectLst/>
                <a:latin typeface="inter-bold"/>
              </a:rPr>
              <a:t>Simple Object Access Protocol</a:t>
            </a:r>
            <a:r>
              <a:rPr lang="en-US" sz="2400" b="0" i="0" dirty="0">
                <a:solidFill>
                  <a:srgbClr val="333333"/>
                </a:solidFill>
                <a:effectLst/>
                <a:latin typeface="inter-regular"/>
              </a:rPr>
              <a:t>.</a:t>
            </a:r>
          </a:p>
          <a:p>
            <a:r>
              <a:rPr lang="en-US" sz="2400" b="0" i="0" dirty="0">
                <a:solidFill>
                  <a:srgbClr val="333333"/>
                </a:solidFill>
                <a:effectLst/>
                <a:latin typeface="inter-regular"/>
              </a:rPr>
              <a:t>SOAP </a:t>
            </a:r>
            <a:r>
              <a:rPr lang="en-US" sz="2400" b="1" i="0" dirty="0">
                <a:solidFill>
                  <a:srgbClr val="333333"/>
                </a:solidFill>
                <a:effectLst/>
                <a:latin typeface="inter-bold"/>
              </a:rPr>
              <a:t>permits XML</a:t>
            </a:r>
            <a:r>
              <a:rPr lang="en-US" sz="2400" b="0" i="0" dirty="0">
                <a:solidFill>
                  <a:srgbClr val="333333"/>
                </a:solidFill>
                <a:effectLst/>
                <a:latin typeface="inter-regular"/>
              </a:rPr>
              <a:t> data format only</a:t>
            </a:r>
          </a:p>
          <a:p>
            <a:r>
              <a:rPr lang="en-IN" sz="2400" dirty="0">
                <a:solidFill>
                  <a:srgbClr val="2D3748"/>
                </a:solidFill>
                <a:effectLst/>
                <a:latin typeface="Segoe UI" panose="020B0502040204020203" pitchFamily="34" charset="0"/>
                <a:ea typeface="Calibri" panose="020F0502020204030204" pitchFamily="34" charset="0"/>
              </a:rPr>
              <a:t>SOAP is slower than REST</a:t>
            </a:r>
            <a:r>
              <a:rPr lang="en-US" sz="2400" b="0" i="0" dirty="0">
                <a:solidFill>
                  <a:srgbClr val="333333"/>
                </a:solidFill>
                <a:effectLst/>
                <a:latin typeface="inter-regular"/>
              </a:rPr>
              <a:t>.</a:t>
            </a:r>
          </a:p>
          <a:p>
            <a:r>
              <a:rPr lang="en-US" sz="2400" b="0" i="0" dirty="0">
                <a:solidFill>
                  <a:srgbClr val="333333"/>
                </a:solidFill>
                <a:effectLst/>
                <a:latin typeface="inter-regular"/>
              </a:rPr>
              <a:t>SOAP is </a:t>
            </a:r>
            <a:r>
              <a:rPr lang="en-US" sz="2400" b="1" i="0" dirty="0">
                <a:solidFill>
                  <a:srgbClr val="333333"/>
                </a:solidFill>
                <a:effectLst/>
                <a:latin typeface="inter-bold"/>
              </a:rPr>
              <a:t>less preferred</a:t>
            </a:r>
            <a:r>
              <a:rPr lang="en-US" sz="2400" b="0" i="0" dirty="0">
                <a:solidFill>
                  <a:srgbClr val="333333"/>
                </a:solidFill>
                <a:effectLst/>
                <a:latin typeface="inter-regular"/>
              </a:rPr>
              <a:t> than REST.</a:t>
            </a:r>
          </a:p>
          <a:p>
            <a:r>
              <a:rPr lang="en-US" sz="2400" dirty="0">
                <a:solidFill>
                  <a:srgbClr val="333333"/>
                </a:solidFill>
                <a:latin typeface="inter-regular"/>
              </a:rPr>
              <a:t>SOAP Support </a:t>
            </a:r>
            <a:r>
              <a:rPr lang="en-US" sz="2400">
                <a:solidFill>
                  <a:srgbClr val="333333"/>
                </a:solidFill>
                <a:latin typeface="inter-regular"/>
              </a:rPr>
              <a:t>only POST </a:t>
            </a:r>
            <a:r>
              <a:rPr lang="en-US" sz="2400" dirty="0">
                <a:solidFill>
                  <a:srgbClr val="333333"/>
                </a:solidFill>
                <a:latin typeface="inter-regular"/>
              </a:rPr>
              <a:t>request.</a:t>
            </a:r>
            <a:endParaRPr lang="en-IN" sz="2400" dirty="0"/>
          </a:p>
        </p:txBody>
      </p:sp>
    </p:spTree>
    <p:extLst>
      <p:ext uri="{BB962C8B-B14F-4D97-AF65-F5344CB8AC3E}">
        <p14:creationId xmlns:p14="http://schemas.microsoft.com/office/powerpoint/2010/main" val="233400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t>Difference between UI Testing and API Testing</a:t>
            </a:r>
            <a:endParaRPr lang="en-US" sz="4000" dirty="0"/>
          </a:p>
        </p:txBody>
      </p:sp>
      <p:sp>
        <p:nvSpPr>
          <p:cNvPr id="3" name="Content Placeholder 2"/>
          <p:cNvSpPr>
            <a:spLocks noGrp="1"/>
          </p:cNvSpPr>
          <p:nvPr>
            <p:ph idx="1"/>
          </p:nvPr>
        </p:nvSpPr>
        <p:spPr>
          <a:xfrm>
            <a:off x="838199" y="1825625"/>
            <a:ext cx="10794023" cy="4351338"/>
          </a:xfrm>
        </p:spPr>
        <p:txBody>
          <a:bodyPr>
            <a:normAutofit/>
          </a:bodyPr>
          <a:lstStyle/>
          <a:p>
            <a:pPr>
              <a:buNone/>
            </a:pPr>
            <a:r>
              <a:rPr lang="en-IN" b="1" dirty="0"/>
              <a:t> </a:t>
            </a:r>
            <a:endParaRPr lang="en-US" b="1" dirty="0"/>
          </a:p>
          <a:p>
            <a:pPr>
              <a:buNone/>
            </a:pPr>
            <a:r>
              <a:rPr lang="en-IN" sz="2400" dirty="0"/>
              <a:t>   UI (User Interface) Testing is to test the graphical interface part of the application. Its main focus is to test the look and feel of an application. In User Interface Testing the main focus on how users can interact with application elements such as Images, fount, layout etc. are checked.  </a:t>
            </a:r>
          </a:p>
          <a:p>
            <a:pPr>
              <a:buNone/>
            </a:pPr>
            <a:endParaRPr lang="en-US" sz="2400" dirty="0"/>
          </a:p>
          <a:p>
            <a:pPr>
              <a:buNone/>
            </a:pPr>
            <a:r>
              <a:rPr lang="en-IN" sz="2400" dirty="0"/>
              <a:t>   On the other hand, API testing enables the communication between two different software systems. Its main focus is in the business layer of the application. API Testing works on the backend part of application that’s why it is also known as Backend Testing.</a:t>
            </a:r>
            <a:endParaRPr lang="en-US" sz="2400" dirty="0"/>
          </a:p>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14A78-B882-BB6D-DDE2-3BE5A86F407D}"/>
              </a:ext>
            </a:extLst>
          </p:cNvPr>
          <p:cNvSpPr>
            <a:spLocks noGrp="1"/>
          </p:cNvSpPr>
          <p:nvPr>
            <p:ph type="title"/>
          </p:nvPr>
        </p:nvSpPr>
        <p:spPr/>
        <p:txBody>
          <a:bodyPr/>
          <a:lstStyle/>
          <a:p>
            <a:r>
              <a:rPr lang="en-US" dirty="0"/>
              <a:t>Miscellaneous</a:t>
            </a:r>
          </a:p>
        </p:txBody>
      </p:sp>
      <p:sp>
        <p:nvSpPr>
          <p:cNvPr id="3" name="Content Placeholder 2">
            <a:extLst>
              <a:ext uri="{FF2B5EF4-FFF2-40B4-BE49-F238E27FC236}">
                <a16:creationId xmlns:a16="http://schemas.microsoft.com/office/drawing/2014/main" id="{28461B22-5BC7-2838-E734-7F722C0D6A7D}"/>
              </a:ext>
            </a:extLst>
          </p:cNvPr>
          <p:cNvSpPr>
            <a:spLocks noGrp="1"/>
          </p:cNvSpPr>
          <p:nvPr>
            <p:ph idx="1"/>
          </p:nvPr>
        </p:nvSpPr>
        <p:spPr/>
        <p:txBody>
          <a:bodyPr>
            <a:normAutofit lnSpcReduction="10000"/>
          </a:bodyPr>
          <a:lstStyle/>
          <a:p>
            <a:pPr marL="0" indent="0">
              <a:buNone/>
            </a:pPr>
            <a:r>
              <a:rPr lang="en-US" b="1" dirty="0"/>
              <a:t>What is Idempotency?</a:t>
            </a:r>
          </a:p>
          <a:p>
            <a:r>
              <a:rPr lang="en-US" dirty="0"/>
              <a:t>An API is idempotent if making the same request multiple times produces the same result.</a:t>
            </a:r>
          </a:p>
          <a:p>
            <a:r>
              <a:rPr lang="en-US" dirty="0"/>
              <a:t>Example:</a:t>
            </a:r>
            <a:br>
              <a:rPr lang="en-US" dirty="0"/>
            </a:br>
            <a:r>
              <a:rPr lang="en-US" dirty="0"/>
              <a:t>GET is idempotent</a:t>
            </a:r>
            <a:br>
              <a:rPr lang="en-US" dirty="0"/>
            </a:br>
            <a:r>
              <a:rPr lang="en-US" dirty="0"/>
              <a:t>PUT is idempotent</a:t>
            </a:r>
          </a:p>
          <a:p>
            <a:pPr marL="0" indent="0">
              <a:buNone/>
            </a:pPr>
            <a:r>
              <a:rPr lang="en-US" b="1" dirty="0"/>
              <a:t>What is Swagger?</a:t>
            </a:r>
          </a:p>
          <a:p>
            <a:r>
              <a:rPr lang="en-US" dirty="0"/>
              <a:t>Swagger is a tool used for API documentation and testing.</a:t>
            </a:r>
          </a:p>
          <a:p>
            <a:r>
              <a:rPr lang="en-US" dirty="0"/>
              <a:t>Now known as:</a:t>
            </a:r>
            <a:br>
              <a:rPr lang="en-US" dirty="0"/>
            </a:br>
            <a:r>
              <a:rPr lang="en-US" dirty="0"/>
              <a:t>Swagger UI</a:t>
            </a:r>
          </a:p>
          <a:p>
            <a:endParaRPr lang="en-US" dirty="0"/>
          </a:p>
          <a:p>
            <a:endParaRPr lang="en-US" dirty="0"/>
          </a:p>
        </p:txBody>
      </p:sp>
    </p:spTree>
    <p:extLst>
      <p:ext uri="{BB962C8B-B14F-4D97-AF65-F5344CB8AC3E}">
        <p14:creationId xmlns:p14="http://schemas.microsoft.com/office/powerpoint/2010/main" val="3774969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538</TotalTime>
  <Words>585</Words>
  <Application>Microsoft Office PowerPoint</Application>
  <PresentationFormat>Widescreen</PresentationFormat>
  <Paragraphs>48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Calibri Light</vt:lpstr>
      <vt:lpstr>inter-bold</vt:lpstr>
      <vt:lpstr>inter-regular</vt:lpstr>
      <vt:lpstr>Segoe UI</vt:lpstr>
      <vt:lpstr>Times New Roman</vt:lpstr>
      <vt:lpstr>Wingdings</vt:lpstr>
      <vt:lpstr>Office Theme</vt:lpstr>
      <vt:lpstr>PowerPoint Presentation</vt:lpstr>
      <vt:lpstr>What is an API ?</vt:lpstr>
      <vt:lpstr>PowerPoint Presentation</vt:lpstr>
      <vt:lpstr>What is API Testing? </vt:lpstr>
      <vt:lpstr>Web Service</vt:lpstr>
      <vt:lpstr>PowerPoint Presentation</vt:lpstr>
      <vt:lpstr>PowerPoint Presentation</vt:lpstr>
      <vt:lpstr>SOAP API</vt:lpstr>
      <vt:lpstr>REST API</vt:lpstr>
      <vt:lpstr>REST API</vt:lpstr>
      <vt:lpstr>Difference between SOAP and REST </vt:lpstr>
      <vt:lpstr>Difference between UI Testing and API Testing</vt:lpstr>
      <vt:lpstr>Miscellaneous</vt:lpstr>
    </vt:vector>
  </TitlesOfParts>
  <Company>Operative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Sajith Pulparambil Saju(UST,IN)</cp:lastModifiedBy>
  <cp:revision>11</cp:revision>
  <dcterms:created xsi:type="dcterms:W3CDTF">2022-12-17T11:26:13Z</dcterms:created>
  <dcterms:modified xsi:type="dcterms:W3CDTF">2026-02-22T17:22:13Z</dcterms:modified>
</cp:coreProperties>
</file>