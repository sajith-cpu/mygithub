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313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9" r:id="rId10"/>
    <p:sldId id="312" r:id="rId11"/>
    <p:sldId id="270" r:id="rId12"/>
    <p:sldId id="260" r:id="rId13"/>
    <p:sldId id="261" r:id="rId14"/>
    <p:sldId id="262" r:id="rId15"/>
    <p:sldId id="263" r:id="rId16"/>
    <p:sldId id="264" r:id="rId17"/>
    <p:sldId id="271" r:id="rId18"/>
    <p:sldId id="278" r:id="rId19"/>
    <p:sldId id="277" r:id="rId20"/>
    <p:sldId id="276" r:id="rId21"/>
    <p:sldId id="275" r:id="rId22"/>
    <p:sldId id="272" r:id="rId23"/>
    <p:sldId id="274" r:id="rId24"/>
    <p:sldId id="282" r:id="rId25"/>
    <p:sldId id="281" r:id="rId26"/>
    <p:sldId id="280" r:id="rId27"/>
    <p:sldId id="279" r:id="rId28"/>
    <p:sldId id="283" r:id="rId29"/>
    <p:sldId id="273" r:id="rId30"/>
    <p:sldId id="293" r:id="rId31"/>
    <p:sldId id="292" r:id="rId32"/>
    <p:sldId id="291" r:id="rId33"/>
    <p:sldId id="290" r:id="rId34"/>
    <p:sldId id="300" r:id="rId35"/>
    <p:sldId id="298" r:id="rId36"/>
    <p:sldId id="307" r:id="rId37"/>
    <p:sldId id="308" r:id="rId38"/>
    <p:sldId id="309" r:id="rId39"/>
    <p:sldId id="310" r:id="rId40"/>
    <p:sldId id="299" r:id="rId41"/>
    <p:sldId id="311" r:id="rId42"/>
    <p:sldId id="297" r:id="rId43"/>
    <p:sldId id="296" r:id="rId44"/>
    <p:sldId id="295" r:id="rId45"/>
    <p:sldId id="294" r:id="rId46"/>
    <p:sldId id="289" r:id="rId47"/>
    <p:sldId id="288" r:id="rId48"/>
    <p:sldId id="287" r:id="rId49"/>
    <p:sldId id="304" r:id="rId50"/>
    <p:sldId id="306" r:id="rId51"/>
    <p:sldId id="305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B34084A8-BEDF-44ED-8FDD-EA6719C5D949}"/>
    <pc:docChg chg="modSld">
      <pc:chgData name="Manas Tuwani" userId="5d421215-a11f-4a6e-90ca-e8ac2213fab6" providerId="ADAL" clId="{B34084A8-BEDF-44ED-8FDD-EA6719C5D949}" dt="2022-08-04T14:13:15.106" v="3" actId="14100"/>
      <pc:docMkLst>
        <pc:docMk/>
      </pc:docMkLst>
      <pc:sldChg chg="modSp mod">
        <pc:chgData name="Manas Tuwani" userId="5d421215-a11f-4a6e-90ca-e8ac2213fab6" providerId="ADAL" clId="{B34084A8-BEDF-44ED-8FDD-EA6719C5D949}" dt="2022-08-04T14:13:15.106" v="3" actId="14100"/>
        <pc:sldMkLst>
          <pc:docMk/>
          <pc:sldMk cId="1991874951" sldId="277"/>
        </pc:sldMkLst>
        <pc:spChg chg="mod">
          <ac:chgData name="Manas Tuwani" userId="5d421215-a11f-4a6e-90ca-e8ac2213fab6" providerId="ADAL" clId="{B34084A8-BEDF-44ED-8FDD-EA6719C5D949}" dt="2022-08-04T14:13:15.106" v="3" actId="14100"/>
          <ac:spMkLst>
            <pc:docMk/>
            <pc:sldMk cId="1991874951" sldId="277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0F4338C4-C02D-4ADC-87B7-E2ECB668D151}"/>
    <pc:docChg chg="modSld">
      <pc:chgData name="Manas Tuwani" userId="5d421215-a11f-4a6e-90ca-e8ac2213fab6" providerId="ADAL" clId="{0F4338C4-C02D-4ADC-87B7-E2ECB668D151}" dt="2023-04-24T16:13:16.070" v="1" actId="20577"/>
      <pc:docMkLst>
        <pc:docMk/>
      </pc:docMkLst>
      <pc:sldChg chg="modSp mod">
        <pc:chgData name="Manas Tuwani" userId="5d421215-a11f-4a6e-90ca-e8ac2213fab6" providerId="ADAL" clId="{0F4338C4-C02D-4ADC-87B7-E2ECB668D151}" dt="2023-04-24T16:13:16.070" v="1" actId="20577"/>
        <pc:sldMkLst>
          <pc:docMk/>
          <pc:sldMk cId="2052651870" sldId="287"/>
        </pc:sldMkLst>
        <pc:spChg chg="mod">
          <ac:chgData name="Manas Tuwani" userId="5d421215-a11f-4a6e-90ca-e8ac2213fab6" providerId="ADAL" clId="{0F4338C4-C02D-4ADC-87B7-E2ECB668D151}" dt="2023-04-24T16:13:16.070" v="1" actId="20577"/>
          <ac:spMkLst>
            <pc:docMk/>
            <pc:sldMk cId="2052651870" sldId="287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15A60D93-9113-4C3F-91BD-525AA471F9A8}"/>
    <pc:docChg chg="undo custSel modSld">
      <pc:chgData name="Manas Tuwani" userId="5d421215-a11f-4a6e-90ca-e8ac2213fab6" providerId="ADAL" clId="{15A60D93-9113-4C3F-91BD-525AA471F9A8}" dt="2023-12-17T04:59:17.282" v="209" actId="20577"/>
      <pc:docMkLst>
        <pc:docMk/>
      </pc:docMkLst>
      <pc:sldChg chg="modSp mod">
        <pc:chgData name="Manas Tuwani" userId="5d421215-a11f-4a6e-90ca-e8ac2213fab6" providerId="ADAL" clId="{15A60D93-9113-4C3F-91BD-525AA471F9A8}" dt="2023-12-13T03:40:00.151" v="207" actId="20577"/>
        <pc:sldMkLst>
          <pc:docMk/>
          <pc:sldMk cId="4221562603" sldId="268"/>
        </pc:sldMkLst>
        <pc:spChg chg="mod">
          <ac:chgData name="Manas Tuwani" userId="5d421215-a11f-4a6e-90ca-e8ac2213fab6" providerId="ADAL" clId="{15A60D93-9113-4C3F-91BD-525AA471F9A8}" dt="2023-12-13T03:40:00.151" v="207" actId="20577"/>
          <ac:spMkLst>
            <pc:docMk/>
            <pc:sldMk cId="4221562603" sldId="268"/>
            <ac:spMk id="3" creationId="{00000000-0000-0000-0000-000000000000}"/>
          </ac:spMkLst>
        </pc:spChg>
      </pc:sldChg>
      <pc:sldChg chg="modSp mod">
        <pc:chgData name="Manas Tuwani" userId="5d421215-a11f-4a6e-90ca-e8ac2213fab6" providerId="ADAL" clId="{15A60D93-9113-4C3F-91BD-525AA471F9A8}" dt="2023-12-17T04:59:17.282" v="209" actId="20577"/>
        <pc:sldMkLst>
          <pc:docMk/>
          <pc:sldMk cId="4130704569" sldId="298"/>
        </pc:sldMkLst>
        <pc:spChg chg="mod">
          <ac:chgData name="Manas Tuwani" userId="5d421215-a11f-4a6e-90ca-e8ac2213fab6" providerId="ADAL" clId="{15A60D93-9113-4C3F-91BD-525AA471F9A8}" dt="2023-12-17T04:59:17.282" v="209" actId="20577"/>
          <ac:spMkLst>
            <pc:docMk/>
            <pc:sldMk cId="4130704569" sldId="298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E0873A9C-987A-4925-BC91-3A4F7AD33CB7}"/>
    <pc:docChg chg="custSel delSld modSld">
      <pc:chgData name="Manas Tuwani" userId="5d421215-a11f-4a6e-90ca-e8ac2213fab6" providerId="ADAL" clId="{E0873A9C-987A-4925-BC91-3A4F7AD33CB7}" dt="2023-07-13T13:45:53.229" v="31" actId="20577"/>
      <pc:docMkLst>
        <pc:docMk/>
      </pc:docMkLst>
      <pc:sldChg chg="modSp mod">
        <pc:chgData name="Manas Tuwani" userId="5d421215-a11f-4a6e-90ca-e8ac2213fab6" providerId="ADAL" clId="{E0873A9C-987A-4925-BC91-3A4F7AD33CB7}" dt="2023-07-12T01:58:13.465" v="3" actId="20577"/>
        <pc:sldMkLst>
          <pc:docMk/>
          <pc:sldMk cId="3556593194" sldId="282"/>
        </pc:sldMkLst>
        <pc:spChg chg="mod">
          <ac:chgData name="Manas Tuwani" userId="5d421215-a11f-4a6e-90ca-e8ac2213fab6" providerId="ADAL" clId="{E0873A9C-987A-4925-BC91-3A4F7AD33CB7}" dt="2023-07-12T01:58:13.465" v="3" actId="20577"/>
          <ac:spMkLst>
            <pc:docMk/>
            <pc:sldMk cId="3556593194" sldId="282"/>
            <ac:spMk id="3" creationId="{00000000-0000-0000-0000-000000000000}"/>
          </ac:spMkLst>
        </pc:spChg>
      </pc:sldChg>
      <pc:sldChg chg="modSp mod">
        <pc:chgData name="Manas Tuwani" userId="5d421215-a11f-4a6e-90ca-e8ac2213fab6" providerId="ADAL" clId="{E0873A9C-987A-4925-BC91-3A4F7AD33CB7}" dt="2023-07-12T02:04:53.123" v="11" actId="20577"/>
        <pc:sldMkLst>
          <pc:docMk/>
          <pc:sldMk cId="2052651870" sldId="291"/>
        </pc:sldMkLst>
        <pc:spChg chg="mod">
          <ac:chgData name="Manas Tuwani" userId="5d421215-a11f-4a6e-90ca-e8ac2213fab6" providerId="ADAL" clId="{E0873A9C-987A-4925-BC91-3A4F7AD33CB7}" dt="2023-07-12T02:04:53.123" v="11" actId="20577"/>
          <ac:spMkLst>
            <pc:docMk/>
            <pc:sldMk cId="2052651870" sldId="291"/>
            <ac:spMk id="3" creationId="{00000000-0000-0000-0000-000000000000}"/>
          </ac:spMkLst>
        </pc:spChg>
      </pc:sldChg>
      <pc:sldChg chg="modSp mod">
        <pc:chgData name="Manas Tuwani" userId="5d421215-a11f-4a6e-90ca-e8ac2213fab6" providerId="ADAL" clId="{E0873A9C-987A-4925-BC91-3A4F7AD33CB7}" dt="2023-07-13T13:20:24.008" v="26" actId="20577"/>
        <pc:sldMkLst>
          <pc:docMk/>
          <pc:sldMk cId="4130704569" sldId="304"/>
        </pc:sldMkLst>
        <pc:spChg chg="mod">
          <ac:chgData name="Manas Tuwani" userId="5d421215-a11f-4a6e-90ca-e8ac2213fab6" providerId="ADAL" clId="{E0873A9C-987A-4925-BC91-3A4F7AD33CB7}" dt="2023-07-13T13:20:24.008" v="26" actId="20577"/>
          <ac:spMkLst>
            <pc:docMk/>
            <pc:sldMk cId="4130704569" sldId="304"/>
            <ac:spMk id="3" creationId="{00000000-0000-0000-0000-000000000000}"/>
          </ac:spMkLst>
        </pc:spChg>
      </pc:sldChg>
      <pc:sldChg chg="modSp mod">
        <pc:chgData name="Manas Tuwani" userId="5d421215-a11f-4a6e-90ca-e8ac2213fab6" providerId="ADAL" clId="{E0873A9C-987A-4925-BC91-3A4F7AD33CB7}" dt="2023-07-13T13:45:53.229" v="31" actId="20577"/>
        <pc:sldMkLst>
          <pc:docMk/>
          <pc:sldMk cId="3540184720" sldId="312"/>
        </pc:sldMkLst>
        <pc:spChg chg="mod">
          <ac:chgData name="Manas Tuwani" userId="5d421215-a11f-4a6e-90ca-e8ac2213fab6" providerId="ADAL" clId="{E0873A9C-987A-4925-BC91-3A4F7AD33CB7}" dt="2023-07-13T13:45:53.229" v="31" actId="20577"/>
          <ac:spMkLst>
            <pc:docMk/>
            <pc:sldMk cId="3540184720" sldId="312"/>
            <ac:spMk id="3" creationId="{00000000-0000-0000-0000-000000000000}"/>
          </ac:spMkLst>
        </pc:spChg>
      </pc:sldChg>
      <pc:sldChg chg="del">
        <pc:chgData name="Manas Tuwani" userId="5d421215-a11f-4a6e-90ca-e8ac2213fab6" providerId="ADAL" clId="{E0873A9C-987A-4925-BC91-3A4F7AD33CB7}" dt="2023-07-13T13:20:38.904" v="27" actId="47"/>
        <pc:sldMkLst>
          <pc:docMk/>
          <pc:sldMk cId="3961575199" sldId="314"/>
        </pc:sldMkLst>
      </pc:sldChg>
    </pc:docChg>
  </pc:docChgLst>
  <pc:docChgLst>
    <pc:chgData name="Manas Tuwani" userId="5d421215-a11f-4a6e-90ca-e8ac2213fab6" providerId="ADAL" clId="{A01155DA-EF89-4353-A3A4-A80E7CAAA694}"/>
    <pc:docChg chg="modSld">
      <pc:chgData name="Manas Tuwani" userId="5d421215-a11f-4a6e-90ca-e8ac2213fab6" providerId="ADAL" clId="{A01155DA-EF89-4353-A3A4-A80E7CAAA694}" dt="2023-01-29T13:16:36.185" v="136" actId="20577"/>
      <pc:docMkLst>
        <pc:docMk/>
      </pc:docMkLst>
      <pc:sldChg chg="modSp mod">
        <pc:chgData name="Manas Tuwani" userId="5d421215-a11f-4a6e-90ca-e8ac2213fab6" providerId="ADAL" clId="{A01155DA-EF89-4353-A3A4-A80E7CAAA694}" dt="2023-01-29T13:16:36.185" v="136" actId="20577"/>
        <pc:sldMkLst>
          <pc:docMk/>
          <pc:sldMk cId="4130704569" sldId="294"/>
        </pc:sldMkLst>
        <pc:spChg chg="mod">
          <ac:chgData name="Manas Tuwani" userId="5d421215-a11f-4a6e-90ca-e8ac2213fab6" providerId="ADAL" clId="{A01155DA-EF89-4353-A3A4-A80E7CAAA694}" dt="2023-01-29T13:16:36.185" v="136" actId="20577"/>
          <ac:spMkLst>
            <pc:docMk/>
            <pc:sldMk cId="4130704569" sldId="294"/>
            <ac:spMk id="3" creationId="{00000000-0000-0000-0000-000000000000}"/>
          </ac:spMkLst>
        </pc:spChg>
      </pc:sldChg>
      <pc:sldChg chg="modSp mod">
        <pc:chgData name="Manas Tuwani" userId="5d421215-a11f-4a6e-90ca-e8ac2213fab6" providerId="ADAL" clId="{A01155DA-EF89-4353-A3A4-A80E7CAAA694}" dt="2023-01-29T13:14:51.418" v="68" actId="20577"/>
        <pc:sldMkLst>
          <pc:docMk/>
          <pc:sldMk cId="4130704569" sldId="297"/>
        </pc:sldMkLst>
        <pc:spChg chg="mod">
          <ac:chgData name="Manas Tuwani" userId="5d421215-a11f-4a6e-90ca-e8ac2213fab6" providerId="ADAL" clId="{A01155DA-EF89-4353-A3A4-A80E7CAAA694}" dt="2023-01-29T13:14:51.418" v="68" actId="20577"/>
          <ac:spMkLst>
            <pc:docMk/>
            <pc:sldMk cId="4130704569" sldId="297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68333AC6-7A44-4949-929B-AC880D597B81}"/>
    <pc:docChg chg="custSel modSld">
      <pc:chgData name="Manas Tuwani" userId="5d421215-a11f-4a6e-90ca-e8ac2213fab6" providerId="ADAL" clId="{68333AC6-7A44-4949-929B-AC880D597B81}" dt="2024-04-16T15:03:10.499" v="3" actId="27636"/>
      <pc:docMkLst>
        <pc:docMk/>
      </pc:docMkLst>
      <pc:sldChg chg="modSp mod">
        <pc:chgData name="Manas Tuwani" userId="5d421215-a11f-4a6e-90ca-e8ac2213fab6" providerId="ADAL" clId="{68333AC6-7A44-4949-929B-AC880D597B81}" dt="2024-04-16T15:03:10.499" v="3" actId="27636"/>
        <pc:sldMkLst>
          <pc:docMk/>
          <pc:sldMk cId="2052651870" sldId="293"/>
        </pc:sldMkLst>
        <pc:spChg chg="mod">
          <ac:chgData name="Manas Tuwani" userId="5d421215-a11f-4a6e-90ca-e8ac2213fab6" providerId="ADAL" clId="{68333AC6-7A44-4949-929B-AC880D597B81}" dt="2024-04-16T15:03:10.499" v="3" actId="27636"/>
          <ac:spMkLst>
            <pc:docMk/>
            <pc:sldMk cId="2052651870" sldId="29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78F8-86D1-4E5A-AAF3-B06C6FAADAF6}" type="datetimeFigureOut">
              <a:rPr lang="en-IN" smtClean="0"/>
              <a:pPr/>
              <a:t>17-12-2025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01B7-9FB1-4035-84AA-AE24BA88A63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830290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78F8-86D1-4E5A-AAF3-B06C6FAADAF6}" type="datetimeFigureOut">
              <a:rPr lang="en-IN" smtClean="0"/>
              <a:pPr/>
              <a:t>17-12-2025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01B7-9FB1-4035-84AA-AE24BA88A63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665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78F8-86D1-4E5A-AAF3-B06C6FAADAF6}" type="datetimeFigureOut">
              <a:rPr lang="en-IN" smtClean="0"/>
              <a:pPr/>
              <a:t>17-12-2025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01B7-9FB1-4035-84AA-AE24BA88A63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641757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78F8-86D1-4E5A-AAF3-B06C6FAADAF6}" type="datetimeFigureOut">
              <a:rPr lang="en-IN" smtClean="0"/>
              <a:pPr/>
              <a:t>17-12-2025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01B7-9FB1-4035-84AA-AE24BA88A63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592180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78F8-86D1-4E5A-AAF3-B06C6FAADAF6}" type="datetimeFigureOut">
              <a:rPr lang="en-IN" smtClean="0"/>
              <a:pPr/>
              <a:t>17-12-2025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01B7-9FB1-4035-84AA-AE24BA88A63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13547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78F8-86D1-4E5A-AAF3-B06C6FAADAF6}" type="datetimeFigureOut">
              <a:rPr lang="en-IN" smtClean="0"/>
              <a:pPr/>
              <a:t>17-12-2025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01B7-9FB1-4035-84AA-AE24BA88A63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69196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78F8-86D1-4E5A-AAF3-B06C6FAADAF6}" type="datetimeFigureOut">
              <a:rPr lang="en-IN" smtClean="0"/>
              <a:pPr/>
              <a:t>17-12-2025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01B7-9FB1-4035-84AA-AE24BA88A63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735241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78F8-86D1-4E5A-AAF3-B06C6FAADAF6}" type="datetimeFigureOut">
              <a:rPr lang="en-IN" smtClean="0"/>
              <a:pPr/>
              <a:t>17-12-2025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01B7-9FB1-4035-84AA-AE24BA88A63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9458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78F8-86D1-4E5A-AAF3-B06C6FAADAF6}" type="datetimeFigureOut">
              <a:rPr lang="en-IN" smtClean="0"/>
              <a:pPr/>
              <a:t>17-12-2025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01B7-9FB1-4035-84AA-AE24BA88A63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629128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78F8-86D1-4E5A-AAF3-B06C6FAADAF6}" type="datetimeFigureOut">
              <a:rPr lang="en-IN" smtClean="0"/>
              <a:pPr/>
              <a:t>17-12-2025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01B7-9FB1-4035-84AA-AE24BA88A63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1545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78F8-86D1-4E5A-AAF3-B06C6FAADAF6}" type="datetimeFigureOut">
              <a:rPr lang="en-IN" smtClean="0"/>
              <a:pPr/>
              <a:t>17-12-2025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01B7-9FB1-4035-84AA-AE24BA88A63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4315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D78F8-86D1-4E5A-AAF3-B06C6FAADAF6}" type="datetimeFigureOut">
              <a:rPr lang="en-IN" smtClean="0"/>
              <a:pPr/>
              <a:t>17-12-2025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101B7-9FB1-4035-84AA-AE24BA88A63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87124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48" y="0"/>
            <a:ext cx="91474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97500" y="612166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By: Manas Tuwani</a:t>
            </a:r>
          </a:p>
        </p:txBody>
      </p:sp>
    </p:spTree>
    <p:extLst>
      <p:ext uri="{BB962C8B-B14F-4D97-AF65-F5344CB8AC3E}">
        <p14:creationId xmlns="" xmlns:p14="http://schemas.microsoft.com/office/powerpoint/2010/main" val="252137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Which keyword is used for accessing the features of a package?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package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import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extends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export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44709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 2. </a:t>
            </a:r>
            <a:r>
              <a:rPr lang="en-IN" dirty="0" smtClean="0"/>
              <a:t>In java </a:t>
            </a:r>
            <a:r>
              <a:rPr lang="en-IN" b="1" dirty="0" smtClean="0"/>
              <a:t>var</a:t>
            </a:r>
            <a:r>
              <a:rPr lang="en-IN" dirty="0" smtClean="0"/>
              <a:t> keyword we can use in:</a:t>
            </a:r>
            <a:endParaRPr lang="en-IN" dirty="0"/>
          </a:p>
          <a:p>
            <a:pPr marL="514350" indent="-51435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a) </a:t>
            </a:r>
            <a:r>
              <a:rPr lang="en-US" dirty="0" smtClean="0"/>
              <a:t>Class-level variables 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b) </a:t>
            </a:r>
            <a:r>
              <a:rPr lang="en-IN" dirty="0" smtClean="0"/>
              <a:t>Method return type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c) </a:t>
            </a:r>
            <a:r>
              <a:rPr lang="en-IN" dirty="0" smtClean="0"/>
              <a:t>Inside the loops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d) </a:t>
            </a:r>
            <a:r>
              <a:rPr lang="en-IN" dirty="0" smtClean="0"/>
              <a:t>Method arguments</a:t>
            </a:r>
          </a:p>
          <a:p>
            <a:pPr marL="514350" indent="-514350">
              <a:buNone/>
            </a:pPr>
            <a:r>
              <a:rPr lang="en-IN" dirty="0" smtClean="0"/>
              <a:t>     e) None of the above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367483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>
              <a:buNone/>
            </a:pPr>
            <a:r>
              <a:rPr lang="en-IN" dirty="0"/>
              <a:t>3. </a:t>
            </a:r>
            <a:r>
              <a:rPr lang="en-US" dirty="0" smtClean="0"/>
              <a:t>Which of the following is not a primitive data type in Java?</a:t>
            </a:r>
          </a:p>
          <a:p>
            <a:pPr>
              <a:buNone/>
            </a:pPr>
            <a:endParaRPr lang="en-US" dirty="0" smtClean="0"/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float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String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int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boolean</a:t>
            </a:r>
          </a:p>
          <a:p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1933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192688"/>
          </a:xfrm>
        </p:spPr>
        <p:txBody>
          <a:bodyPr>
            <a:noAutofit/>
          </a:bodyPr>
          <a:lstStyle/>
          <a:p>
            <a:pPr marL="0" indent="0" fontAlgn="t">
              <a:buNone/>
            </a:pPr>
            <a:r>
              <a:rPr lang="en-IN" sz="1800" dirty="0"/>
              <a:t>4. What is the O/P</a:t>
            </a:r>
            <a:endParaRPr lang="en-IN" sz="1800" b="1" dirty="0"/>
          </a:p>
          <a:p>
            <a:pPr marL="0" indent="0" fontAlgn="t">
              <a:buNone/>
            </a:pPr>
            <a:r>
              <a:rPr lang="en-IN" sz="1800" dirty="0"/>
              <a:t>class box </a:t>
            </a:r>
          </a:p>
          <a:p>
            <a:pPr marL="0" indent="0" fontAlgn="t">
              <a:buNone/>
            </a:pPr>
            <a:r>
              <a:rPr lang="en-IN" sz="1800" dirty="0"/>
              <a:t>{   Int width;</a:t>
            </a:r>
          </a:p>
          <a:p>
            <a:pPr marL="0" indent="0" fontAlgn="t">
              <a:buNone/>
            </a:pPr>
            <a:r>
              <a:rPr lang="en-IN" sz="1800" dirty="0"/>
              <a:t>int height;</a:t>
            </a:r>
          </a:p>
          <a:p>
            <a:pPr marL="0" indent="0" fontAlgn="t">
              <a:buNone/>
            </a:pPr>
            <a:r>
              <a:rPr lang="en-IN" sz="1800" dirty="0"/>
              <a:t>int length;   } </a:t>
            </a:r>
          </a:p>
          <a:p>
            <a:pPr marL="0" indent="0" fontAlgn="t">
              <a:buNone/>
            </a:pPr>
            <a:r>
              <a:rPr lang="en-IN" sz="1800" dirty="0"/>
              <a:t>class main</a:t>
            </a:r>
          </a:p>
          <a:p>
            <a:pPr marL="0" indent="0" fontAlgn="t">
              <a:buNone/>
            </a:pPr>
            <a:r>
              <a:rPr lang="en-IN" sz="1800" dirty="0"/>
              <a:t>{</a:t>
            </a:r>
          </a:p>
          <a:p>
            <a:pPr marL="0" indent="0" fontAlgn="t">
              <a:buNone/>
            </a:pPr>
            <a:r>
              <a:rPr lang="en-IN" sz="1800" dirty="0"/>
              <a:t>public static void main(String args[]) </a:t>
            </a:r>
          </a:p>
          <a:p>
            <a:pPr marL="0" indent="0" fontAlgn="t">
              <a:buNone/>
            </a:pPr>
            <a:r>
              <a:rPr lang="en-IN" sz="1800" dirty="0"/>
              <a:t>{    box obj = new box();</a:t>
            </a:r>
          </a:p>
          <a:p>
            <a:pPr marL="0" indent="0" fontAlgn="t">
              <a:buNone/>
            </a:pPr>
            <a:r>
              <a:rPr lang="en-IN" sz="1800" dirty="0"/>
              <a:t>obj.width = 10;</a:t>
            </a:r>
          </a:p>
          <a:p>
            <a:pPr marL="0" indent="0" fontAlgn="t">
              <a:buNone/>
            </a:pPr>
            <a:r>
              <a:rPr lang="en-IN" sz="1800" dirty="0"/>
              <a:t>obj.height = 2;</a:t>
            </a:r>
          </a:p>
          <a:p>
            <a:pPr marL="0" indent="0" fontAlgn="t">
              <a:buNone/>
            </a:pPr>
            <a:r>
              <a:rPr lang="en-IN" sz="1800" dirty="0"/>
              <a:t>obj.length = 10;</a:t>
            </a:r>
          </a:p>
          <a:p>
            <a:pPr marL="0" indent="0" fontAlgn="t">
              <a:buNone/>
            </a:pPr>
            <a:r>
              <a:rPr lang="en-IN" sz="1800" dirty="0"/>
              <a:t>int y = obj.width * obj.height * obj.length; </a:t>
            </a:r>
          </a:p>
          <a:p>
            <a:pPr marL="0" indent="0" fontAlgn="t">
              <a:buNone/>
            </a:pPr>
            <a:r>
              <a:rPr lang="en-IN" sz="1800" dirty="0"/>
              <a:t>System.out.print(y);</a:t>
            </a:r>
          </a:p>
          <a:p>
            <a:pPr marL="0" indent="0" fontAlgn="t">
              <a:buNone/>
            </a:pPr>
            <a:r>
              <a:rPr lang="en-IN" sz="1800" dirty="0"/>
              <a:t>}  }</a:t>
            </a:r>
          </a:p>
          <a:p>
            <a:pPr marL="0" indent="0">
              <a:buNone/>
            </a:pPr>
            <a:r>
              <a:rPr lang="pt-BR" sz="1800" dirty="0"/>
              <a:t>a) 100</a:t>
            </a:r>
            <a:br>
              <a:rPr lang="pt-BR" sz="1800" dirty="0"/>
            </a:br>
            <a:r>
              <a:rPr lang="pt-BR" sz="1800" dirty="0"/>
              <a:t>b) 400</a:t>
            </a:r>
            <a:br>
              <a:rPr lang="pt-BR" sz="1800" dirty="0"/>
            </a:br>
            <a:r>
              <a:rPr lang="pt-BR" sz="1800" dirty="0"/>
              <a:t>c) 200</a:t>
            </a:r>
            <a:br>
              <a:rPr lang="pt-BR" sz="1800" dirty="0"/>
            </a:br>
            <a:r>
              <a:rPr lang="pt-BR" sz="1800" dirty="0"/>
              <a:t>d) 12</a:t>
            </a:r>
            <a:endParaRPr lang="en-IN" sz="1800" dirty="0"/>
          </a:p>
        </p:txBody>
      </p:sp>
    </p:spTree>
    <p:extLst>
      <p:ext uri="{BB962C8B-B14F-4D97-AF65-F5344CB8AC3E}">
        <p14:creationId xmlns="" xmlns:p14="http://schemas.microsoft.com/office/powerpoint/2010/main" val="106208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408712"/>
          </a:xfrm>
        </p:spPr>
        <p:txBody>
          <a:bodyPr>
            <a:normAutofit fontScale="92500" lnSpcReduction="20000"/>
          </a:bodyPr>
          <a:lstStyle/>
          <a:p>
            <a:pPr marL="0" indent="0" fontAlgn="t">
              <a:buNone/>
            </a:pPr>
            <a:r>
              <a:rPr lang="en-IN" dirty="0"/>
              <a:t>5. What is the O/P of below programme:</a:t>
            </a:r>
          </a:p>
          <a:p>
            <a:pPr marL="0" indent="0" fontAlgn="t">
              <a:buNone/>
            </a:pPr>
            <a:endParaRPr lang="en-IN" b="1" dirty="0"/>
          </a:p>
          <a:p>
            <a:pPr marL="0" indent="0" fontAlgn="t">
              <a:buNone/>
            </a:pPr>
            <a:r>
              <a:rPr lang="en-IN" dirty="0"/>
              <a:t>class Output </a:t>
            </a:r>
          </a:p>
          <a:p>
            <a:pPr marL="0" indent="0" fontAlgn="t">
              <a:buNone/>
            </a:pPr>
            <a:r>
              <a:rPr lang="en-IN" dirty="0"/>
              <a:t>{</a:t>
            </a:r>
          </a:p>
          <a:p>
            <a:pPr marL="0" indent="0" fontAlgn="t">
              <a:buNone/>
            </a:pPr>
            <a:r>
              <a:rPr lang="en-IN" dirty="0"/>
              <a:t>public static void main(String args[])</a:t>
            </a:r>
          </a:p>
          <a:p>
            <a:pPr marL="0" indent="0" fontAlgn="t">
              <a:buNone/>
            </a:pPr>
            <a:r>
              <a:rPr lang="en-IN" dirty="0"/>
              <a:t>{  int arr[] = {1, 2, 3, 4, 5};</a:t>
            </a:r>
          </a:p>
          <a:p>
            <a:pPr marL="0" indent="0" fontAlgn="t">
              <a:buNone/>
            </a:pPr>
            <a:r>
              <a:rPr lang="en-IN" dirty="0"/>
              <a:t>for ( int i = 0; i &lt;= arr.length - 2; i++)</a:t>
            </a:r>
          </a:p>
          <a:p>
            <a:pPr marL="0" indent="0" fontAlgn="t">
              <a:buNone/>
            </a:pPr>
            <a:r>
              <a:rPr lang="en-IN" dirty="0" smtClean="0"/>
              <a:t>System.out.print(arr[i</a:t>
            </a:r>
            <a:r>
              <a:rPr lang="en-IN" dirty="0"/>
              <a:t>] + " ");</a:t>
            </a:r>
          </a:p>
          <a:p>
            <a:pPr marL="0" indent="0" fontAlgn="t">
              <a:buNone/>
            </a:pPr>
            <a:r>
              <a:rPr lang="en-IN" dirty="0"/>
              <a:t>}  }</a:t>
            </a:r>
          </a:p>
          <a:p>
            <a:pPr marL="0" indent="0" fontAlgn="t">
              <a:buNone/>
            </a:pPr>
            <a:endParaRPr lang="en-IN" dirty="0"/>
          </a:p>
          <a:p>
            <a:pPr marL="0" indent="0" fontAlgn="t">
              <a:buNone/>
            </a:pPr>
            <a:r>
              <a:rPr lang="pt-BR" dirty="0"/>
              <a:t>a) 1 2 3 4 5</a:t>
            </a:r>
            <a:br>
              <a:rPr lang="pt-BR" dirty="0"/>
            </a:br>
            <a:r>
              <a:rPr lang="pt-BR" dirty="0"/>
              <a:t>b) 1 2 3 4</a:t>
            </a:r>
            <a:br>
              <a:rPr lang="pt-BR" dirty="0"/>
            </a:br>
            <a:r>
              <a:rPr lang="pt-BR" dirty="0"/>
              <a:t>c) 1 2</a:t>
            </a:r>
            <a:br>
              <a:rPr lang="pt-BR" dirty="0"/>
            </a:br>
            <a:r>
              <a:rPr lang="pt-BR" dirty="0"/>
              <a:t>d) 1 2 3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55141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264696"/>
          </a:xfrm>
        </p:spPr>
        <p:txBody>
          <a:bodyPr>
            <a:normAutofit fontScale="92500" lnSpcReduction="10000"/>
          </a:bodyPr>
          <a:lstStyle/>
          <a:p>
            <a:pPr marL="0" indent="0" fontAlgn="t">
              <a:buNone/>
            </a:pPr>
            <a:r>
              <a:rPr lang="en-IN" dirty="0"/>
              <a:t>6. What is the O/P of below programme:</a:t>
            </a:r>
          </a:p>
          <a:p>
            <a:pPr marL="0" indent="0" fontAlgn="t">
              <a:buNone/>
            </a:pPr>
            <a:endParaRPr lang="en-IN" b="1" dirty="0"/>
          </a:p>
          <a:p>
            <a:pPr marL="0" indent="0" fontAlgn="t">
              <a:buNone/>
            </a:pPr>
            <a:r>
              <a:rPr lang="en-IN" dirty="0"/>
              <a:t>class String_demo </a:t>
            </a:r>
          </a:p>
          <a:p>
            <a:pPr marL="0" indent="0" fontAlgn="t">
              <a:buNone/>
            </a:pPr>
            <a:r>
              <a:rPr lang="en-IN" dirty="0"/>
              <a:t>{</a:t>
            </a:r>
          </a:p>
          <a:p>
            <a:pPr marL="0" indent="0" fontAlgn="t">
              <a:buNone/>
            </a:pPr>
            <a:r>
              <a:rPr lang="en-IN" dirty="0"/>
              <a:t>public static void main(String args[])</a:t>
            </a:r>
          </a:p>
          <a:p>
            <a:pPr marL="0" indent="0" fontAlgn="t">
              <a:buNone/>
            </a:pPr>
            <a:r>
              <a:rPr lang="en-IN" dirty="0"/>
              <a:t>{ char chars[] = {'a', 'b', 'c'};</a:t>
            </a:r>
          </a:p>
          <a:p>
            <a:pPr marL="0" indent="0" fontAlgn="t">
              <a:buNone/>
            </a:pPr>
            <a:r>
              <a:rPr lang="en-IN" dirty="0"/>
              <a:t>String s = new String(chars);</a:t>
            </a:r>
          </a:p>
          <a:p>
            <a:pPr marL="0" indent="0" fontAlgn="t">
              <a:buNone/>
            </a:pPr>
            <a:r>
              <a:rPr lang="en-IN" dirty="0"/>
              <a:t>System.out.println(s);</a:t>
            </a:r>
          </a:p>
          <a:p>
            <a:pPr marL="0" indent="0" fontAlgn="t">
              <a:buNone/>
            </a:pPr>
            <a:r>
              <a:rPr lang="en-IN" dirty="0"/>
              <a:t>} }</a:t>
            </a:r>
          </a:p>
          <a:p>
            <a:pPr marL="0" indent="0" fontAlgn="t">
              <a:buNone/>
            </a:pPr>
            <a:r>
              <a:rPr lang="pt-BR" dirty="0"/>
              <a:t>a) abc</a:t>
            </a:r>
            <a:br>
              <a:rPr lang="pt-BR" dirty="0"/>
            </a:br>
            <a:r>
              <a:rPr lang="pt-BR" dirty="0"/>
              <a:t>b) a</a:t>
            </a:r>
            <a:br>
              <a:rPr lang="pt-BR" dirty="0"/>
            </a:br>
            <a:r>
              <a:rPr lang="pt-BR" dirty="0"/>
              <a:t>c) b</a:t>
            </a:r>
            <a:br>
              <a:rPr lang="pt-BR" dirty="0"/>
            </a:br>
            <a:r>
              <a:rPr lang="pt-BR" dirty="0"/>
              <a:t>d) c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33124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7. Which of these are selection statements in Java?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a) break</a:t>
            </a:r>
            <a:br>
              <a:rPr lang="en-IN" dirty="0"/>
            </a:br>
            <a:r>
              <a:rPr lang="en-IN" dirty="0"/>
              <a:t>b) while</a:t>
            </a:r>
            <a:br>
              <a:rPr lang="en-IN" dirty="0"/>
            </a:br>
            <a:r>
              <a:rPr lang="en-IN" dirty="0"/>
              <a:t>c) for()</a:t>
            </a:r>
            <a:br>
              <a:rPr lang="en-IN" dirty="0"/>
            </a:br>
            <a:r>
              <a:rPr lang="en-IN" dirty="0"/>
              <a:t>d) if()</a:t>
            </a:r>
          </a:p>
        </p:txBody>
      </p:sp>
    </p:spTree>
    <p:extLst>
      <p:ext uri="{BB962C8B-B14F-4D97-AF65-F5344CB8AC3E}">
        <p14:creationId xmlns="" xmlns:p14="http://schemas.microsoft.com/office/powerpoint/2010/main" val="422156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88640"/>
            <a:ext cx="8229600" cy="64087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8. What will be the output of the following Java code ?</a:t>
            </a:r>
          </a:p>
          <a:p>
            <a:pPr marL="0" indent="0" fontAlgn="t">
              <a:buNone/>
            </a:pPr>
            <a:r>
              <a:rPr lang="en-IN" dirty="0"/>
              <a:t>class output </a:t>
            </a:r>
          </a:p>
          <a:p>
            <a:pPr marL="0" indent="0" fontAlgn="t">
              <a:buNone/>
            </a:pPr>
            <a:r>
              <a:rPr lang="en-IN" dirty="0"/>
              <a:t>{</a:t>
            </a:r>
          </a:p>
          <a:p>
            <a:pPr marL="0" indent="0" fontAlgn="t">
              <a:buNone/>
            </a:pPr>
            <a:r>
              <a:rPr lang="en-IN" dirty="0"/>
              <a:t>public static void main(String args[])</a:t>
            </a:r>
          </a:p>
          <a:p>
            <a:pPr marL="0" indent="0" fontAlgn="t">
              <a:buNone/>
            </a:pPr>
            <a:r>
              <a:rPr lang="en-IN" dirty="0"/>
              <a:t>{ </a:t>
            </a:r>
          </a:p>
          <a:p>
            <a:pPr marL="0" indent="0" fontAlgn="t">
              <a:buNone/>
            </a:pPr>
            <a:r>
              <a:rPr lang="en-IN" dirty="0"/>
              <a:t>String c = "Hello I love java";</a:t>
            </a:r>
          </a:p>
          <a:p>
            <a:pPr marL="0" indent="0" fontAlgn="t">
              <a:buNone/>
            </a:pPr>
            <a:r>
              <a:rPr lang="en-IN" dirty="0"/>
              <a:t>boolean var;</a:t>
            </a:r>
          </a:p>
          <a:p>
            <a:pPr marL="0" indent="0" fontAlgn="t">
              <a:buNone/>
            </a:pPr>
            <a:r>
              <a:rPr lang="en-IN" dirty="0"/>
              <a:t>var = c.startsWith("hello");</a:t>
            </a:r>
          </a:p>
          <a:p>
            <a:pPr marL="0" indent="0" fontAlgn="t">
              <a:buNone/>
            </a:pPr>
            <a:r>
              <a:rPr lang="en-IN" dirty="0"/>
              <a:t>System.out.println(var);</a:t>
            </a:r>
          </a:p>
          <a:p>
            <a:pPr marL="0" indent="0" fontAlgn="t">
              <a:buNone/>
            </a:pPr>
            <a:r>
              <a:rPr lang="en-IN" dirty="0"/>
              <a:t>} }</a:t>
            </a:r>
          </a:p>
          <a:p>
            <a:pPr marL="0" indent="0" fontAlgn="t">
              <a:buNone/>
            </a:pPr>
            <a:endParaRPr lang="en-IN" dirty="0"/>
          </a:p>
          <a:p>
            <a:pPr marL="0" indent="0" fontAlgn="t">
              <a:buNone/>
            </a:pPr>
            <a:r>
              <a:rPr lang="en-IN" dirty="0"/>
              <a:t>a) 0</a:t>
            </a:r>
            <a:br>
              <a:rPr lang="en-IN" dirty="0"/>
            </a:br>
            <a:r>
              <a:rPr lang="en-IN" dirty="0"/>
              <a:t>b) true</a:t>
            </a:r>
            <a:br>
              <a:rPr lang="en-IN" dirty="0"/>
            </a:br>
            <a:r>
              <a:rPr lang="en-IN" dirty="0"/>
              <a:t>c) 1</a:t>
            </a:r>
            <a:br>
              <a:rPr lang="en-IN" dirty="0"/>
            </a:br>
            <a:r>
              <a:rPr lang="en-IN" dirty="0"/>
              <a:t>d) false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5342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60486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9. What is the error in the following class definitions?</a:t>
            </a:r>
          </a:p>
          <a:p>
            <a:pPr marL="0" indent="0">
              <a:buNone/>
            </a:pPr>
            <a:r>
              <a:rPr lang="en-IN" dirty="0"/>
              <a:t>abstract class xy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abstract sum (int x, int y) {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(a) Class header is not defined properly.</a:t>
            </a:r>
            <a:br>
              <a:rPr lang="en-IN" dirty="0"/>
            </a:br>
            <a:r>
              <a:rPr lang="en-IN" dirty="0"/>
              <a:t>(b) Constructor is not defined.</a:t>
            </a:r>
            <a:br>
              <a:rPr lang="en-IN" dirty="0"/>
            </a:br>
            <a:r>
              <a:rPr lang="en-IN" dirty="0"/>
              <a:t>(c) Method is not defined properly</a:t>
            </a:r>
            <a:br>
              <a:rPr lang="en-IN" dirty="0"/>
            </a:br>
            <a:r>
              <a:rPr lang="en-IN" dirty="0"/>
              <a:t>(d) Method is defined properly</a:t>
            </a:r>
            <a:br>
              <a:rPr lang="en-IN" dirty="0"/>
            </a:br>
            <a:r>
              <a:rPr lang="en-IN" dirty="0"/>
              <a:t>(e) No error.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4018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 10. Which of these keywords is used to define interfaces in Java?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a) intf</a:t>
            </a:r>
            <a:br>
              <a:rPr lang="en-IN" dirty="0"/>
            </a:br>
            <a:r>
              <a:rPr lang="en-IN" dirty="0"/>
              <a:t>b) Intf</a:t>
            </a:r>
            <a:br>
              <a:rPr lang="en-IN" dirty="0"/>
            </a:br>
            <a:r>
              <a:rPr lang="en-IN" dirty="0"/>
              <a:t>c) interface</a:t>
            </a:r>
            <a:br>
              <a:rPr lang="en-IN" dirty="0"/>
            </a:br>
            <a:r>
              <a:rPr lang="en-IN" dirty="0"/>
              <a:t>d) Interface</a:t>
            </a:r>
          </a:p>
          <a:p>
            <a:pPr marL="0" indent="0">
              <a:buNone/>
            </a:pPr>
            <a:r>
              <a:rPr lang="en-IN" dirty="0"/>
              <a:t>e) None of thesec</a:t>
            </a:r>
          </a:p>
        </p:txBody>
      </p:sp>
    </p:spTree>
    <p:extLst>
      <p:ext uri="{BB962C8B-B14F-4D97-AF65-F5344CB8AC3E}">
        <p14:creationId xmlns="" xmlns:p14="http://schemas.microsoft.com/office/powerpoint/2010/main" val="263586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52534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11. What will be the output of the following Java program</a:t>
            </a:r>
          </a:p>
          <a:p>
            <a:pPr marL="0" indent="0" fontAlgn="t">
              <a:buNone/>
            </a:pPr>
            <a:r>
              <a:rPr lang="en-IN" dirty="0"/>
              <a:t>class Output </a:t>
            </a:r>
          </a:p>
          <a:p>
            <a:pPr marL="0" indent="0" fontAlgn="t">
              <a:buNone/>
            </a:pPr>
            <a:r>
              <a:rPr lang="en-IN" dirty="0"/>
              <a:t>{</a:t>
            </a:r>
          </a:p>
          <a:p>
            <a:pPr marL="0" indent="0" fontAlgn="t">
              <a:buNone/>
            </a:pPr>
            <a:r>
              <a:rPr lang="en-IN" dirty="0"/>
              <a:t>public static void main(String args[]) </a:t>
            </a:r>
          </a:p>
          <a:p>
            <a:pPr marL="0" indent="0" fontAlgn="t">
              <a:buNone/>
            </a:pPr>
            <a:r>
              <a:rPr lang="en-IN" dirty="0"/>
              <a:t>{</a:t>
            </a:r>
          </a:p>
          <a:p>
            <a:pPr marL="0" indent="0" fontAlgn="t">
              <a:buNone/>
            </a:pPr>
            <a:r>
              <a:rPr lang="en-IN" dirty="0"/>
              <a:t>double x = 2.0; </a:t>
            </a:r>
          </a:p>
          <a:p>
            <a:pPr marL="0" indent="0" fontAlgn="t">
              <a:buNone/>
            </a:pPr>
            <a:r>
              <a:rPr lang="en-IN" dirty="0"/>
              <a:t>double y = 3.0;</a:t>
            </a:r>
          </a:p>
          <a:p>
            <a:pPr marL="0" indent="0" fontAlgn="t">
              <a:buNone/>
            </a:pPr>
            <a:r>
              <a:rPr lang="en-IN" dirty="0"/>
              <a:t>double z = Math.pow( x, y );</a:t>
            </a:r>
          </a:p>
          <a:p>
            <a:pPr marL="0" indent="0" fontAlgn="t">
              <a:buNone/>
            </a:pPr>
            <a:r>
              <a:rPr lang="en-IN" dirty="0"/>
              <a:t>System.out.print(z);</a:t>
            </a:r>
          </a:p>
          <a:p>
            <a:pPr marL="0" indent="0" fontAlgn="t">
              <a:buNone/>
            </a:pPr>
            <a:r>
              <a:rPr lang="en-IN" dirty="0"/>
              <a:t>} }</a:t>
            </a:r>
          </a:p>
          <a:p>
            <a:pPr marL="0" indent="0" fontAlgn="t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a) 9.0</a:t>
            </a:r>
            <a:br>
              <a:rPr lang="en-IN" dirty="0"/>
            </a:br>
            <a:r>
              <a:rPr lang="en-IN" dirty="0"/>
              <a:t>b) 8.0</a:t>
            </a:r>
            <a:br>
              <a:rPr lang="en-IN" dirty="0"/>
            </a:br>
            <a:r>
              <a:rPr lang="en-IN" dirty="0"/>
              <a:t>c) 4.0</a:t>
            </a:r>
            <a:br>
              <a:rPr lang="en-IN" dirty="0"/>
            </a:br>
            <a:r>
              <a:rPr lang="en-IN" dirty="0"/>
              <a:t>d) 2.0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85724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12. Which one of the following is not an access modifier?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a) Protected</a:t>
            </a:r>
            <a:br>
              <a:rPr lang="en-IN" dirty="0"/>
            </a:br>
            <a:r>
              <a:rPr lang="en-IN" dirty="0"/>
              <a:t>b) Void</a:t>
            </a:r>
            <a:br>
              <a:rPr lang="en-IN" dirty="0"/>
            </a:br>
            <a:r>
              <a:rPr lang="en-IN" dirty="0"/>
              <a:t>c) Public</a:t>
            </a:r>
            <a:br>
              <a:rPr lang="en-IN" dirty="0"/>
            </a:br>
            <a:r>
              <a:rPr lang="en-IN" dirty="0"/>
              <a:t>d) </a:t>
            </a:r>
            <a:r>
              <a:rPr lang="en-IN" dirty="0" smtClean="0"/>
              <a:t>Private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1723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13. What is the range of byte data type in Java?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a) -128 to 127</a:t>
            </a:r>
            <a:br>
              <a:rPr lang="en-IN" dirty="0"/>
            </a:br>
            <a:r>
              <a:rPr lang="en-IN" dirty="0"/>
              <a:t>b) -32768 to 32767</a:t>
            </a:r>
            <a:br>
              <a:rPr lang="en-IN" dirty="0"/>
            </a:br>
            <a:r>
              <a:rPr lang="en-IN" dirty="0"/>
              <a:t>c) -2147483648 to 2147483647</a:t>
            </a:r>
            <a:br>
              <a:rPr lang="en-IN" dirty="0"/>
            </a:br>
            <a:r>
              <a:rPr lang="en-IN" dirty="0"/>
              <a:t>d) None of the mentioned</a:t>
            </a:r>
          </a:p>
        </p:txBody>
      </p:sp>
    </p:spTree>
    <p:extLst>
      <p:ext uri="{BB962C8B-B14F-4D97-AF65-F5344CB8AC3E}">
        <p14:creationId xmlns="" xmlns:p14="http://schemas.microsoft.com/office/powerpoint/2010/main" val="292249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14. When does method overloading is determined?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a) At run time</a:t>
            </a:r>
            <a:br>
              <a:rPr lang="en-IN" dirty="0"/>
            </a:br>
            <a:r>
              <a:rPr lang="en-IN" dirty="0"/>
              <a:t>b) At compile time</a:t>
            </a:r>
            <a:br>
              <a:rPr lang="en-IN" dirty="0"/>
            </a:br>
            <a:r>
              <a:rPr lang="en-IN" dirty="0"/>
              <a:t>c) At coding time</a:t>
            </a:r>
            <a:br>
              <a:rPr lang="en-IN" dirty="0"/>
            </a:br>
            <a:r>
              <a:rPr lang="en-IN" dirty="0"/>
              <a:t>d) At execution time</a:t>
            </a:r>
          </a:p>
        </p:txBody>
      </p:sp>
    </p:spTree>
    <p:extLst>
      <p:ext uri="{BB962C8B-B14F-4D97-AF65-F5344CB8AC3E}">
        <p14:creationId xmlns="" xmlns:p14="http://schemas.microsoft.com/office/powerpoint/2010/main" val="287107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15. Method overriding is combination of inheritance and polymorphism?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a) True</a:t>
            </a:r>
            <a:br>
              <a:rPr lang="en-IN" dirty="0"/>
            </a:br>
            <a:r>
              <a:rPr lang="en-IN" dirty="0"/>
              <a:t>b) false</a:t>
            </a:r>
          </a:p>
        </p:txBody>
      </p:sp>
    </p:spTree>
    <p:extLst>
      <p:ext uri="{BB962C8B-B14F-4D97-AF65-F5344CB8AC3E}">
        <p14:creationId xmlns="" xmlns:p14="http://schemas.microsoft.com/office/powerpoint/2010/main" val="330311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16. Which of these selection statements test only for equality?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a) if</a:t>
            </a:r>
            <a:br>
              <a:rPr lang="en-IN" dirty="0"/>
            </a:br>
            <a:r>
              <a:rPr lang="en-IN" dirty="0"/>
              <a:t>b) switch</a:t>
            </a:r>
            <a:br>
              <a:rPr lang="en-IN" dirty="0"/>
            </a:br>
            <a:r>
              <a:rPr lang="en-IN" dirty="0"/>
              <a:t>c) if &amp; switch</a:t>
            </a:r>
            <a:br>
              <a:rPr lang="en-IN" dirty="0"/>
            </a:br>
            <a:r>
              <a:rPr lang="en-IN" dirty="0"/>
              <a:t>d) none of the mentioned</a:t>
            </a:r>
          </a:p>
          <a:p>
            <a:pPr marL="0" indent="0">
              <a:buNone/>
            </a:pPr>
            <a:r>
              <a:rPr lang="en-IN" dirty="0"/>
              <a:t>e) While</a:t>
            </a:r>
          </a:p>
        </p:txBody>
      </p:sp>
    </p:spTree>
    <p:extLst>
      <p:ext uri="{BB962C8B-B14F-4D97-AF65-F5344CB8AC3E}">
        <p14:creationId xmlns="" xmlns:p14="http://schemas.microsoft.com/office/powerpoint/2010/main" val="59903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17. What is the size of float and double in java?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16,32 Bit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32,64 Bit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64,32 Bit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32,32 Bit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64,64 Bit</a:t>
            </a:r>
          </a:p>
        </p:txBody>
      </p:sp>
    </p:spTree>
    <p:extLst>
      <p:ext uri="{BB962C8B-B14F-4D97-AF65-F5344CB8AC3E}">
        <p14:creationId xmlns="" xmlns:p14="http://schemas.microsoft.com/office/powerpoint/2010/main" val="199187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8219256" cy="568863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18. Find the output of the following code.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Integer = 24; </a:t>
            </a:r>
          </a:p>
          <a:p>
            <a:pPr marL="0" indent="0">
              <a:buNone/>
            </a:pPr>
            <a:r>
              <a:rPr lang="en-IN" dirty="0"/>
              <a:t>char String = ‘I’; </a:t>
            </a:r>
          </a:p>
          <a:p>
            <a:pPr marL="0" indent="0">
              <a:buNone/>
            </a:pPr>
            <a:r>
              <a:rPr lang="en-IN" dirty="0"/>
              <a:t>System.out.print(Integer);</a:t>
            </a:r>
          </a:p>
          <a:p>
            <a:pPr marL="0" indent="0">
              <a:buNone/>
            </a:pPr>
            <a:r>
              <a:rPr lang="en-IN" dirty="0"/>
              <a:t> System.out.print(String);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Compile error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Throws exception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I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24I</a:t>
            </a:r>
          </a:p>
          <a:p>
            <a:pPr marL="0" indent="0">
              <a:buNone/>
            </a:pPr>
            <a:r>
              <a:rPr lang="en-IN" dirty="0"/>
              <a:t>e)   None of these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9187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19.  Identify the keyword among the following that makes a variable belong to a class, rather than being defined for each instance of the class.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final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static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volatile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abstract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9187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8326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20. Identify what can directly access and change the value of the variable res.</a:t>
            </a:r>
          </a:p>
          <a:p>
            <a:pPr marL="0" indent="0">
              <a:buNone/>
            </a:pPr>
            <a:r>
              <a:rPr lang="en-IN" dirty="0"/>
              <a:t>Package com.mypackage;</a:t>
            </a:r>
          </a:p>
          <a:p>
            <a:pPr marL="0" indent="0">
              <a:buNone/>
            </a:pPr>
            <a:r>
              <a:rPr lang="en-IN" dirty="0"/>
              <a:t> Public class Solution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Private int res = 100;</a:t>
            </a:r>
          </a:p>
          <a:p>
            <a:pPr marL="0" indent="0">
              <a:buNone/>
            </a:pPr>
            <a:r>
              <a:rPr lang="en-IN" dirty="0"/>
              <a:t> }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Any class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Only Solution class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Any class that extends Solution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None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9187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21. Identify the output of the following program.</a:t>
            </a:r>
          </a:p>
          <a:p>
            <a:pPr marL="0" indent="0">
              <a:buNone/>
            </a:pPr>
            <a:r>
              <a:rPr lang="en-IN" dirty="0"/>
              <a:t>String str = “Hellow”; System.out.println(str.indexOf(‘t’));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0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1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true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-1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9187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22. Identify the output of the following program.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Test{ </a:t>
            </a:r>
          </a:p>
          <a:p>
            <a:pPr marL="0" indent="0">
              <a:buNone/>
            </a:pPr>
            <a:r>
              <a:rPr lang="en-IN" dirty="0"/>
              <a:t>Public static void main(String args[])</a:t>
            </a:r>
          </a:p>
          <a:p>
            <a:pPr marL="0" indent="0">
              <a:buNone/>
            </a:pPr>
            <a:r>
              <a:rPr lang="en-IN" dirty="0"/>
              <a:t>{   String str1 = “One”; </a:t>
            </a:r>
          </a:p>
          <a:p>
            <a:pPr marL="0" indent="0">
              <a:buNone/>
            </a:pPr>
            <a:r>
              <a:rPr lang="en-IN" dirty="0"/>
              <a:t>    String str2 = “Two”; </a:t>
            </a:r>
            <a:r>
              <a:rPr lang="en-IN" dirty="0" smtClean="0"/>
              <a:t>System.out.println(str2.concat(str1)); </a:t>
            </a:r>
            <a:r>
              <a:rPr lang="en-IN" dirty="0"/>
              <a:t>} }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AutoNum type="alphaLcParenR"/>
            </a:pPr>
            <a:r>
              <a:rPr lang="en-IN" dirty="0"/>
              <a:t>One</a:t>
            </a:r>
          </a:p>
          <a:p>
            <a:pPr marL="514350" indent="-514350">
              <a:buAutoNum type="alphaLcParenR"/>
            </a:pPr>
            <a:r>
              <a:rPr lang="en-IN" dirty="0"/>
              <a:t>Two</a:t>
            </a:r>
          </a:p>
          <a:p>
            <a:pPr marL="514350" indent="-514350">
              <a:buAutoNum type="alphaLcParenR"/>
            </a:pPr>
            <a:r>
              <a:rPr lang="en-IN" dirty="0" smtClean="0"/>
              <a:t>TwoOne</a:t>
            </a:r>
            <a:endParaRPr lang="en-IN" dirty="0"/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IN" dirty="0" smtClean="0"/>
              <a:t>OneTwo</a:t>
            </a:r>
            <a:endParaRPr lang="en-IN" dirty="0"/>
          </a:p>
          <a:p>
            <a:pPr marL="514350" indent="-514350">
              <a:buAutoNum type="alphaLcParenR"/>
            </a:pPr>
            <a:r>
              <a:rPr lang="en-IN" dirty="0"/>
              <a:t>None of above</a:t>
            </a:r>
          </a:p>
          <a:p>
            <a:pPr marL="514350" indent="-514350">
              <a:buAutoNum type="alphaLcParenR"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9187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832648"/>
          </a:xfrm>
        </p:spPr>
        <p:txBody>
          <a:bodyPr>
            <a:normAutofit fontScale="32500" lnSpcReduction="20000"/>
          </a:bodyPr>
          <a:lstStyle/>
          <a:p>
            <a:pPr marL="0" indent="0" fontAlgn="t">
              <a:buNone/>
            </a:pPr>
            <a:r>
              <a:rPr lang="en-IN" sz="5500" b="1" dirty="0" smtClean="0"/>
              <a:t/>
            </a:r>
            <a:br>
              <a:rPr lang="en-IN" sz="5500" b="1" dirty="0" smtClean="0"/>
            </a:br>
            <a:r>
              <a:rPr lang="en-IN" sz="7400" b="1" dirty="0" smtClean="0"/>
              <a:t>23. What is the O/P of below programme:</a:t>
            </a:r>
          </a:p>
          <a:p>
            <a:pPr marL="0" indent="0" fontAlgn="t">
              <a:buNone/>
            </a:pPr>
            <a:endParaRPr lang="en-IN" sz="5500" b="1" dirty="0" smtClean="0"/>
          </a:p>
          <a:p>
            <a:pPr marL="0" indent="0" fontAlgn="t">
              <a:buNone/>
            </a:pPr>
            <a:r>
              <a:rPr lang="en-IN" sz="5500" b="1" dirty="0" smtClean="0"/>
              <a:t>Class Test</a:t>
            </a:r>
          </a:p>
          <a:p>
            <a:pPr marL="0" indent="0" fontAlgn="t">
              <a:buNone/>
            </a:pPr>
            <a:r>
              <a:rPr lang="en-IN" sz="5500" b="1" dirty="0" smtClean="0"/>
              <a:t>{</a:t>
            </a:r>
          </a:p>
          <a:p>
            <a:pPr marL="0" indent="0" fontAlgn="t">
              <a:buNone/>
            </a:pPr>
            <a:r>
              <a:rPr lang="en-IN" sz="5500" b="1" dirty="0" smtClean="0"/>
              <a:t>public static void main(String args[])</a:t>
            </a:r>
          </a:p>
          <a:p>
            <a:pPr marL="0" indent="0" fontAlgn="t">
              <a:buNone/>
            </a:pPr>
            <a:r>
              <a:rPr lang="en-IN" sz="5500" b="1" dirty="0" smtClean="0"/>
              <a:t>{  int arr[] = {1, 6, 3, 4, 5, 8};</a:t>
            </a:r>
          </a:p>
          <a:p>
            <a:pPr marL="0" indent="0" fontAlgn="t">
              <a:buNone/>
            </a:pPr>
            <a:r>
              <a:rPr lang="en-IN" sz="5500" b="1" dirty="0" smtClean="0"/>
              <a:t>for ( int i = 0; i &lt; arr.length; i++) {</a:t>
            </a:r>
          </a:p>
          <a:p>
            <a:pPr marL="0" indent="0" fontAlgn="t">
              <a:buNone/>
            </a:pPr>
            <a:r>
              <a:rPr lang="en-IN" sz="5500" b="1" dirty="0" smtClean="0"/>
              <a:t>If  (arr[i]&gt;4)</a:t>
            </a:r>
          </a:p>
          <a:p>
            <a:pPr marL="0" indent="0" fontAlgn="t">
              <a:buNone/>
            </a:pPr>
            <a:r>
              <a:rPr lang="en-IN" sz="5500" b="1" dirty="0" smtClean="0"/>
              <a:t>{</a:t>
            </a:r>
          </a:p>
          <a:p>
            <a:pPr marL="0" indent="0" fontAlgn="t">
              <a:buNone/>
            </a:pPr>
            <a:r>
              <a:rPr lang="en-IN" sz="5500" b="1" dirty="0" smtClean="0"/>
              <a:t>Continue; }</a:t>
            </a:r>
          </a:p>
          <a:p>
            <a:pPr marL="0" indent="0" fontAlgn="t">
              <a:buNone/>
            </a:pPr>
            <a:r>
              <a:rPr lang="en-IN" sz="5500" b="1" dirty="0" smtClean="0"/>
              <a:t>System.out.println(arr[i] + " ");</a:t>
            </a:r>
          </a:p>
          <a:p>
            <a:pPr marL="0" indent="0" fontAlgn="t">
              <a:buNone/>
            </a:pPr>
            <a:r>
              <a:rPr lang="en-IN" sz="5500" b="1" dirty="0" smtClean="0"/>
              <a:t>}  }</a:t>
            </a:r>
          </a:p>
          <a:p>
            <a:pPr marL="0" indent="0" fontAlgn="t">
              <a:buNone/>
            </a:pPr>
            <a:endParaRPr lang="en-IN" sz="5500" b="1" dirty="0" smtClean="0"/>
          </a:p>
          <a:p>
            <a:pPr marL="0" indent="0">
              <a:buNone/>
            </a:pPr>
            <a:endParaRPr lang="en-IN" sz="5500" b="1" dirty="0" smtClean="0"/>
          </a:p>
          <a:p>
            <a:pPr marL="514350" indent="-514350">
              <a:buFont typeface="+mj-lt"/>
              <a:buAutoNum type="alphaLcParenR"/>
            </a:pPr>
            <a:r>
              <a:rPr lang="en-IN" sz="5500" b="1" dirty="0" smtClean="0"/>
              <a:t>1,  3, 4</a:t>
            </a:r>
          </a:p>
          <a:p>
            <a:pPr marL="514350" indent="-514350">
              <a:buFont typeface="+mj-lt"/>
              <a:buAutoNum type="alphaLcParenR"/>
            </a:pPr>
            <a:r>
              <a:rPr lang="en-IN" sz="5500" b="1" dirty="0" smtClean="0"/>
              <a:t>4, 5, 8</a:t>
            </a:r>
          </a:p>
          <a:p>
            <a:pPr marL="514350" indent="-514350">
              <a:buFont typeface="+mj-lt"/>
              <a:buAutoNum type="alphaLcParenR"/>
            </a:pPr>
            <a:r>
              <a:rPr lang="en-IN" sz="5500" b="1" dirty="0" smtClean="0"/>
              <a:t>1, 6, 3</a:t>
            </a:r>
          </a:p>
          <a:p>
            <a:pPr marL="514350" indent="-514350">
              <a:buFont typeface="+mj-lt"/>
              <a:buAutoNum type="alphaLcParenR"/>
            </a:pPr>
            <a:r>
              <a:rPr lang="en-IN" sz="5500" b="1" dirty="0" smtClean="0"/>
              <a:t>Array Index bound Exception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5659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24. What does the following string do to given string str1.</a:t>
            </a:r>
          </a:p>
          <a:p>
            <a:pPr marL="0" indent="0">
              <a:buNone/>
            </a:pPr>
            <a:r>
              <a:rPr lang="en-IN" dirty="0"/>
              <a:t>String str1 = “</a:t>
            </a:r>
            <a:r>
              <a:rPr lang="en-IN" dirty="0" smtClean="0"/>
              <a:t>Interview”.</a:t>
            </a:r>
            <a:r>
              <a:rPr lang="en-IN" dirty="0"/>
              <a:t>replace(‘e’,’s’);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Replaces single occurrence of ‘e’ to ‘s’.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Replaces all occurrences of ‘e’ to ‘s’.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Replaces single occurrence of ‘s’ to ‘e’.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None.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5659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6408712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 startAt="25"/>
            </a:pPr>
            <a:r>
              <a:rPr lang="en-IN" dirty="0"/>
              <a:t> Find the output of the following code.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if(1 + 1 + 1 + 1 + 1 == 5)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System.out.print(“TRUE”); }</a:t>
            </a:r>
          </a:p>
          <a:p>
            <a:pPr marL="0" indent="0">
              <a:buNone/>
            </a:pPr>
            <a:r>
              <a:rPr lang="en-IN" dirty="0"/>
              <a:t>else{ System.out.print(“FALSE”);</a:t>
            </a:r>
          </a:p>
          <a:p>
            <a:pPr marL="0" indent="0">
              <a:buNone/>
            </a:pPr>
            <a:r>
              <a:rPr lang="en-IN" dirty="0"/>
              <a:t> }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TRUE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FALSE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Compile error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None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5659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 26. </a:t>
            </a:r>
            <a:r>
              <a:rPr lang="en-US" dirty="0" smtClean="0"/>
              <a:t>Which of these is a feature of the “this” keyword in Java?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It is a reference to the super class.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It is used to call a static method.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It can be used to refer to the current class instance variable.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It can be used to create a new object.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5659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 smtClean="0"/>
              <a:t>27.  Find out the correct output of below program:</a:t>
            </a:r>
          </a:p>
          <a:p>
            <a:pPr marL="0" indent="0">
              <a:buNone/>
            </a:pPr>
            <a:endParaRPr lang="en-IN" dirty="0" smtClean="0"/>
          </a:p>
          <a:p>
            <a:pPr>
              <a:buNone/>
            </a:pPr>
            <a:r>
              <a:rPr lang="nn-NO" b="1" dirty="0" smtClean="0"/>
              <a:t>for</a:t>
            </a:r>
            <a:r>
              <a:rPr lang="nn-NO" dirty="0" smtClean="0"/>
              <a:t>(</a:t>
            </a:r>
            <a:r>
              <a:rPr lang="nn-NO" b="1" dirty="0" smtClean="0"/>
              <a:t>int</a:t>
            </a:r>
            <a:r>
              <a:rPr lang="nn-NO" dirty="0" smtClean="0"/>
              <a:t> i=1;  i&lt;=5;  i++)</a:t>
            </a:r>
          </a:p>
          <a:p>
            <a:pPr>
              <a:buNone/>
            </a:pPr>
            <a:r>
              <a:rPr lang="nn-NO" dirty="0" smtClean="0"/>
              <a:t>{</a:t>
            </a:r>
          </a:p>
          <a:p>
            <a:pPr>
              <a:buNone/>
            </a:pPr>
            <a:r>
              <a:rPr lang="nn-NO" b="1" dirty="0" smtClean="0"/>
              <a:t>if</a:t>
            </a:r>
            <a:r>
              <a:rPr lang="nn-NO" dirty="0" smtClean="0"/>
              <a:t>(i!=5 &amp;&amp; i!=3) {</a:t>
            </a:r>
          </a:p>
          <a:p>
            <a:pPr>
              <a:buNone/>
            </a:pPr>
            <a:r>
              <a:rPr lang="nn-NO" b="1" dirty="0" smtClean="0"/>
              <a:t>continue</a:t>
            </a:r>
            <a:r>
              <a:rPr lang="nn-NO" dirty="0" smtClean="0"/>
              <a:t>;</a:t>
            </a:r>
          </a:p>
          <a:p>
            <a:pPr>
              <a:buNone/>
            </a:pPr>
            <a:r>
              <a:rPr lang="nn-NO" dirty="0" smtClean="0"/>
              <a:t>}</a:t>
            </a:r>
          </a:p>
          <a:p>
            <a:pPr>
              <a:buNone/>
            </a:pPr>
            <a:r>
              <a:rPr lang="nn-NO" dirty="0" smtClean="0"/>
              <a:t>System.</a:t>
            </a:r>
            <a:r>
              <a:rPr lang="nn-NO" b="1" i="1" dirty="0" smtClean="0"/>
              <a:t>out</a:t>
            </a:r>
            <a:r>
              <a:rPr lang="nn-NO" dirty="0" smtClean="0"/>
              <a:t>.print(i);</a:t>
            </a:r>
          </a:p>
          <a:p>
            <a:pPr>
              <a:buNone/>
            </a:pPr>
            <a:r>
              <a:rPr lang="nn-NO" dirty="0" smtClean="0"/>
              <a:t>}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1 2 4</a:t>
            </a: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1 2 3 4 5</a:t>
            </a: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1 3 5</a:t>
            </a: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3 5</a:t>
            </a: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None of the above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76471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28. Identify the correct way of declaring constructor.</a:t>
            </a:r>
          </a:p>
          <a:p>
            <a:pPr marL="0" indent="0">
              <a:buNone/>
            </a:pPr>
            <a:r>
              <a:rPr lang="en-IN" dirty="0"/>
              <a:t>Public class Solution {}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Solution(){}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public Solution(){}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final Solution(){}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All of the Above</a:t>
            </a: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Both (A) and (B)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9187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29. How many times will </a:t>
            </a:r>
            <a:r>
              <a:rPr lang="en-IN" dirty="0" smtClean="0"/>
              <a:t>“Core Java” </a:t>
            </a:r>
            <a:r>
              <a:rPr lang="en-IN" dirty="0"/>
              <a:t>be printed.</a:t>
            </a:r>
          </a:p>
          <a:p>
            <a:pPr marL="0" indent="0">
              <a:buNone/>
            </a:pPr>
            <a:r>
              <a:rPr lang="en-IN" dirty="0" err="1"/>
              <a:t>i</a:t>
            </a:r>
            <a:r>
              <a:rPr lang="en-IN" dirty="0" err="1" smtClean="0"/>
              <a:t>nt</a:t>
            </a:r>
            <a:r>
              <a:rPr lang="en-IN" dirty="0" smtClean="0"/>
              <a:t> </a:t>
            </a:r>
            <a:r>
              <a:rPr lang="en-IN" dirty="0"/>
              <a:t>count = 0; </a:t>
            </a:r>
          </a:p>
          <a:p>
            <a:pPr marL="0" indent="0">
              <a:buNone/>
            </a:pPr>
            <a:r>
              <a:rPr lang="en-IN" dirty="0"/>
              <a:t>do{ System.out.println</a:t>
            </a:r>
            <a:r>
              <a:rPr lang="en-IN" dirty="0" smtClean="0"/>
              <a:t>(“Core Java”);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count++; } </a:t>
            </a:r>
          </a:p>
          <a:p>
            <a:pPr marL="0" indent="0">
              <a:buNone/>
            </a:pPr>
            <a:r>
              <a:rPr lang="en-IN" dirty="0"/>
              <a:t>while(count &lt; 10);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8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9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10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11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None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5265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30. Identify the infinite loop.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for(; ;)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for(int i = 0; i &lt; 1; i--)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for(int i = 0; ;i++)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All of the above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Both b and c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5265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31. </a:t>
            </a:r>
            <a:r>
              <a:rPr lang="en-IN" dirty="0" smtClean="0"/>
              <a:t>Identify which keyword we can not use in case of constructor</a:t>
            </a:r>
            <a:endParaRPr lang="en-IN" dirty="0"/>
          </a:p>
          <a:p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Final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Static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Private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All of the above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Both a and b 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5265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32. Identify the incorrect Java feature.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Object oriented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Use of pointers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Robust</a:t>
            </a: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Highly Secure</a:t>
            </a: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 smtClean="0"/>
              <a:t>None of the above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5265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97666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dirty="0"/>
              <a:t>33. What will be the output of the following program?</a:t>
            </a:r>
          </a:p>
          <a:p>
            <a:pPr marL="0" indent="0">
              <a:buNone/>
            </a:pPr>
            <a:r>
              <a:rPr lang="en-IN" dirty="0"/>
              <a:t>public class Test2 {  </a:t>
            </a:r>
          </a:p>
          <a:p>
            <a:pPr marL="0" indent="0">
              <a:buNone/>
            </a:pPr>
            <a:r>
              <a:rPr lang="en-IN" dirty="0"/>
              <a:t>    public static void main(String[] args) {  </a:t>
            </a:r>
          </a:p>
          <a:p>
            <a:pPr marL="0" indent="0">
              <a:buNone/>
            </a:pPr>
            <a:r>
              <a:rPr lang="en-IN" dirty="0"/>
              <a:t>        StringBuffer s1 = new StringBuffer("Complete");  </a:t>
            </a:r>
          </a:p>
          <a:p>
            <a:pPr marL="0" indent="0">
              <a:buNone/>
            </a:pPr>
            <a:r>
              <a:rPr lang="en-IN" dirty="0"/>
              <a:t>        s1.setCharAt(1,'i');  </a:t>
            </a:r>
          </a:p>
          <a:p>
            <a:pPr marL="0" indent="0">
              <a:buNone/>
            </a:pPr>
            <a:r>
              <a:rPr lang="en-IN" dirty="0"/>
              <a:t>        s1.setCharAt(7,'d');  </a:t>
            </a:r>
          </a:p>
          <a:p>
            <a:pPr marL="0" indent="0">
              <a:buNone/>
            </a:pPr>
            <a:r>
              <a:rPr lang="en-IN" dirty="0"/>
              <a:t>        System.out.println(s1);  </a:t>
            </a:r>
          </a:p>
          <a:p>
            <a:pPr marL="0" indent="0">
              <a:buNone/>
            </a:pPr>
            <a:r>
              <a:rPr lang="en-IN" dirty="0"/>
              <a:t>     }  </a:t>
            </a:r>
          </a:p>
          <a:p>
            <a:pPr marL="0" indent="0">
              <a:buNone/>
            </a:pPr>
            <a:r>
              <a:rPr lang="en-IN" dirty="0"/>
              <a:t> }  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Complete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Iomplede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Cimpletd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Coipletd</a:t>
            </a:r>
          </a:p>
          <a:p>
            <a:pPr marL="514350" indent="-514350">
              <a:buFont typeface="+mj-lt"/>
              <a:buAutoNum type="alphaLcParenR"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13070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dirty="0"/>
              <a:t>34. Class Operator {</a:t>
            </a:r>
          </a:p>
          <a:p>
            <a:pPr marL="0" indent="0">
              <a:buNone/>
            </a:pPr>
            <a:r>
              <a:rPr lang="en-IN" sz="2800" dirty="0"/>
              <a:t> int i = 10;</a:t>
            </a:r>
          </a:p>
          <a:p>
            <a:pPr marL="0" indent="0">
              <a:buNone/>
            </a:pPr>
            <a:r>
              <a:rPr lang="en-IN" sz="2800" dirty="0"/>
              <a:t>SYSO(++i + i++ + i++  + ++i +i-</a:t>
            </a:r>
            <a:r>
              <a:rPr lang="en-IN" sz="2800" dirty="0" smtClean="0"/>
              <a:t>-);</a:t>
            </a:r>
            <a:endParaRPr lang="en-IN" sz="2800" dirty="0"/>
          </a:p>
          <a:p>
            <a:pPr marL="0" indent="0">
              <a:buNone/>
            </a:pPr>
            <a:r>
              <a:rPr lang="en-IN" sz="2800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60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61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63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None of the above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62</a:t>
            </a:r>
          </a:p>
        </p:txBody>
      </p:sp>
    </p:spTree>
    <p:extLst>
      <p:ext uri="{BB962C8B-B14F-4D97-AF65-F5344CB8AC3E}">
        <p14:creationId xmlns="" xmlns:p14="http://schemas.microsoft.com/office/powerpoint/2010/main" val="413070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35. What is the return type of equals method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Void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String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Char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Boolean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int</a:t>
            </a:r>
          </a:p>
        </p:txBody>
      </p:sp>
    </p:spTree>
    <p:extLst>
      <p:ext uri="{BB962C8B-B14F-4D97-AF65-F5344CB8AC3E}">
        <p14:creationId xmlns="" xmlns:p14="http://schemas.microsoft.com/office/powerpoint/2010/main" val="219740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36. What is the return type of contains() method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Void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String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Char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Boolean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int</a:t>
            </a:r>
          </a:p>
        </p:txBody>
      </p:sp>
    </p:spTree>
    <p:extLst>
      <p:ext uri="{BB962C8B-B14F-4D97-AF65-F5344CB8AC3E}">
        <p14:creationId xmlns="" xmlns:p14="http://schemas.microsoft.com/office/powerpoint/2010/main" val="219740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37. What is the return type of </a:t>
            </a:r>
            <a:r>
              <a:rPr lang="en-IN" dirty="0" smtClean="0"/>
              <a:t>nextLine() method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Void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String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Char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Boolean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int</a:t>
            </a:r>
          </a:p>
        </p:txBody>
      </p:sp>
    </p:spTree>
    <p:extLst>
      <p:ext uri="{BB962C8B-B14F-4D97-AF65-F5344CB8AC3E}">
        <p14:creationId xmlns="" xmlns:p14="http://schemas.microsoft.com/office/powerpoint/2010/main" val="219740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38. What is the return type of indexOf() method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Void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String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Char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Boolean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int</a:t>
            </a:r>
          </a:p>
        </p:txBody>
      </p:sp>
    </p:spTree>
    <p:extLst>
      <p:ext uri="{BB962C8B-B14F-4D97-AF65-F5344CB8AC3E}">
        <p14:creationId xmlns="" xmlns:p14="http://schemas.microsoft.com/office/powerpoint/2010/main" val="219740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39. Scope of local variables: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Inside the class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Inside the method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Outside the method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Inside the package</a:t>
            </a:r>
          </a:p>
          <a:p>
            <a:pPr marL="514350" indent="-514350">
              <a:buFont typeface="+mj-lt"/>
              <a:buAutoNum type="alphaLcParenR"/>
            </a:pPr>
            <a:r>
              <a:rPr lang="en-IN" dirty="0"/>
              <a:t>Only inside the static method</a:t>
            </a:r>
          </a:p>
        </p:txBody>
      </p:sp>
    </p:spTree>
    <p:extLst>
      <p:ext uri="{BB962C8B-B14F-4D97-AF65-F5344CB8AC3E}">
        <p14:creationId xmlns="" xmlns:p14="http://schemas.microsoft.com/office/powerpoint/2010/main" val="413070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 smtClean="0"/>
              <a:t>40. </a:t>
            </a:r>
            <a:r>
              <a:rPr lang="en-US" dirty="0" smtClean="0"/>
              <a:t>A member declared with the `protected` access modifier is accessible within:</a:t>
            </a:r>
          </a:p>
          <a:p>
            <a:pPr>
              <a:buNone/>
            </a:pPr>
            <a:endParaRPr lang="en-US" dirty="0" smtClean="0"/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Only the same class.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The same class and its subclasses, regardless of the package.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The same package and any subclass, even if it is in a different package.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Any class in any package.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2760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41. Which of these is supported by method overriding in Java?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a) Abstraction</a:t>
            </a:r>
            <a:br>
              <a:rPr lang="en-IN" dirty="0"/>
            </a:br>
            <a:r>
              <a:rPr lang="en-IN" dirty="0"/>
              <a:t>b) Polymorphism</a:t>
            </a:r>
            <a:br>
              <a:rPr lang="en-IN" dirty="0"/>
            </a:br>
            <a:r>
              <a:rPr lang="en-IN" dirty="0"/>
              <a:t>c) Interface</a:t>
            </a:r>
            <a:br>
              <a:rPr lang="en-IN" dirty="0"/>
            </a:br>
            <a:r>
              <a:rPr lang="en-IN" dirty="0"/>
              <a:t>d) All of the above</a:t>
            </a:r>
          </a:p>
          <a:p>
            <a:pPr marL="0" indent="0">
              <a:buNone/>
            </a:pPr>
            <a:r>
              <a:rPr lang="en-IN" dirty="0"/>
              <a:t>e) None of the mentioned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13070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42. Which of these is correct way of inheriting class A by class B?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a) class B </a:t>
            </a:r>
            <a:r>
              <a:rPr lang="en-IN" dirty="0" smtClean="0"/>
              <a:t>implements A </a:t>
            </a:r>
            <a:r>
              <a:rPr lang="en-IN" dirty="0"/>
              <a:t>{}</a:t>
            </a:r>
            <a:br>
              <a:rPr lang="en-IN" dirty="0"/>
            </a:br>
            <a:r>
              <a:rPr lang="en-IN" dirty="0"/>
              <a:t>b) class B inherits class A {}</a:t>
            </a:r>
            <a:br>
              <a:rPr lang="en-IN" dirty="0"/>
            </a:br>
            <a:r>
              <a:rPr lang="en-IN" dirty="0"/>
              <a:t>c) class B extends A {}</a:t>
            </a:r>
            <a:br>
              <a:rPr lang="en-IN" dirty="0"/>
            </a:br>
            <a:r>
              <a:rPr lang="en-IN" dirty="0"/>
              <a:t>d) class B extends class A {}</a:t>
            </a:r>
          </a:p>
        </p:txBody>
      </p:sp>
    </p:spTree>
    <p:extLst>
      <p:ext uri="{BB962C8B-B14F-4D97-AF65-F5344CB8AC3E}">
        <p14:creationId xmlns="" xmlns:p14="http://schemas.microsoft.com/office/powerpoint/2010/main" val="413070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43. Which of these classes is not included in java.lang?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a) Byte</a:t>
            </a:r>
            <a:br>
              <a:rPr lang="en-IN" dirty="0"/>
            </a:br>
            <a:r>
              <a:rPr lang="en-IN" dirty="0"/>
              <a:t>b) Integer</a:t>
            </a:r>
            <a:br>
              <a:rPr lang="en-IN" dirty="0"/>
            </a:br>
            <a:r>
              <a:rPr lang="en-IN" dirty="0"/>
              <a:t>c) </a:t>
            </a:r>
            <a:r>
              <a:rPr lang="en-IN" dirty="0" smtClean="0"/>
              <a:t>Arrays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d) </a:t>
            </a:r>
            <a:r>
              <a:rPr lang="en-IN" dirty="0" smtClean="0"/>
              <a:t>System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e) None of above</a:t>
            </a:r>
          </a:p>
        </p:txBody>
      </p:sp>
    </p:spTree>
    <p:extLst>
      <p:ext uri="{BB962C8B-B14F-4D97-AF65-F5344CB8AC3E}">
        <p14:creationId xmlns="" xmlns:p14="http://schemas.microsoft.com/office/powerpoint/2010/main" val="413070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43528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44. </a:t>
            </a:r>
            <a:r>
              <a:rPr lang="en-IN" b="1" dirty="0"/>
              <a:t> </a:t>
            </a:r>
            <a:r>
              <a:rPr lang="en-IN" dirty="0"/>
              <a:t>Which statement is true regarding an object?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(a) An object is used for static and non static members of the class.</a:t>
            </a:r>
            <a:br>
              <a:rPr lang="en-IN" dirty="0"/>
            </a:br>
            <a:r>
              <a:rPr lang="en-IN" dirty="0"/>
              <a:t>(b) An object is an instance of a class</a:t>
            </a:r>
            <a:br>
              <a:rPr lang="en-IN" dirty="0"/>
            </a:br>
            <a:r>
              <a:rPr lang="en-IN" dirty="0"/>
              <a:t>(c) An object is a variable</a:t>
            </a:r>
            <a:br>
              <a:rPr lang="en-IN" dirty="0"/>
            </a:br>
            <a:r>
              <a:rPr lang="en-IN" dirty="0"/>
              <a:t>(d) both a and b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13070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45. Object-oriented inheritance models the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(a) “is a kind of” relationship</a:t>
            </a:r>
            <a:br>
              <a:rPr lang="en-IN" dirty="0"/>
            </a:br>
            <a:r>
              <a:rPr lang="en-IN" dirty="0"/>
              <a:t>(b) “has a” relationship</a:t>
            </a:r>
            <a:br>
              <a:rPr lang="en-IN" dirty="0"/>
            </a:br>
            <a:r>
              <a:rPr lang="en-IN" dirty="0"/>
              <a:t>(c) “want to be” relationship</a:t>
            </a:r>
            <a:br>
              <a:rPr lang="en-IN" dirty="0"/>
            </a:br>
            <a:r>
              <a:rPr lang="en-IN" dirty="0"/>
              <a:t>(d) inheritance does not describe any kind of relationship between classes</a:t>
            </a:r>
            <a:br>
              <a:rPr lang="en-IN" dirty="0"/>
            </a:br>
            <a:r>
              <a:rPr lang="en-IN" dirty="0"/>
              <a:t>(e) “contains” of relationship.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5265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46. The wrapping up of data and functions into a single unit is called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(a) Abstraction</a:t>
            </a:r>
            <a:br>
              <a:rPr lang="en-IN" dirty="0"/>
            </a:br>
            <a:r>
              <a:rPr lang="en-IN" dirty="0"/>
              <a:t> (b) Data Hiding</a:t>
            </a:r>
          </a:p>
          <a:p>
            <a:pPr marL="0" indent="0">
              <a:buNone/>
            </a:pPr>
            <a:r>
              <a:rPr lang="en-IN" dirty="0"/>
              <a:t> (c) Polymorphism</a:t>
            </a:r>
          </a:p>
          <a:p>
            <a:pPr marL="0" indent="0">
              <a:buNone/>
            </a:pPr>
            <a:r>
              <a:rPr lang="en-IN" dirty="0"/>
              <a:t> (d) Message passing.</a:t>
            </a:r>
          </a:p>
          <a:p>
            <a:pPr marL="0" indent="0">
              <a:buNone/>
            </a:pPr>
            <a:r>
              <a:rPr lang="en-IN" dirty="0"/>
              <a:t> (e) Encapsulation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5265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47. Given a class named Student, which of the following is a valid constructor declaration for the class?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(a) Student </a:t>
            </a:r>
            <a:r>
              <a:rPr lang="en-IN" dirty="0" smtClean="0"/>
              <a:t>(String s</a:t>
            </a:r>
            <a:r>
              <a:rPr lang="en-IN" dirty="0"/>
              <a:t>) { }</a:t>
            </a:r>
          </a:p>
          <a:p>
            <a:pPr marL="0" indent="0">
              <a:buNone/>
            </a:pPr>
            <a:r>
              <a:rPr lang="en-IN" dirty="0"/>
              <a:t>(b) Student student ( ) { }</a:t>
            </a:r>
            <a:br>
              <a:rPr lang="en-IN" dirty="0"/>
            </a:br>
            <a:r>
              <a:rPr lang="en-IN" dirty="0"/>
              <a:t>(c) Private </a:t>
            </a:r>
            <a:r>
              <a:rPr lang="en-IN"/>
              <a:t>final </a:t>
            </a:r>
            <a:r>
              <a:rPr lang="en-IN" smtClean="0"/>
              <a:t>Student </a:t>
            </a:r>
            <a:r>
              <a:rPr lang="en-IN" dirty="0"/>
              <a:t>( ) { } </a:t>
            </a:r>
          </a:p>
          <a:p>
            <a:pPr marL="0" indent="0">
              <a:buNone/>
            </a:pPr>
            <a:r>
              <a:rPr lang="en-IN" dirty="0"/>
              <a:t>(d) Void </a:t>
            </a:r>
            <a:r>
              <a:rPr lang="en-IN" dirty="0" smtClean="0"/>
              <a:t>Student </a:t>
            </a:r>
            <a:r>
              <a:rPr lang="en-IN" dirty="0"/>
              <a:t>( ) { }</a:t>
            </a:r>
            <a:br>
              <a:rPr lang="en-IN" dirty="0"/>
            </a:br>
            <a:r>
              <a:rPr lang="en-IN" dirty="0"/>
              <a:t>(e) Static void student(){ }.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5265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784976" cy="5505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48. Scanner class present in which of the following java package?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AutoNum type="alphaLcParenBoth"/>
            </a:pPr>
            <a:r>
              <a:rPr lang="en-IN" dirty="0"/>
              <a:t>java.lang </a:t>
            </a:r>
          </a:p>
          <a:p>
            <a:pPr marL="514350" indent="-514350">
              <a:buAutoNum type="alphaLcParenBoth"/>
            </a:pPr>
            <a:r>
              <a:rPr lang="en-IN" dirty="0"/>
              <a:t> java.io</a:t>
            </a:r>
          </a:p>
          <a:p>
            <a:pPr marL="514350" indent="-514350">
              <a:buFont typeface="Arial" panose="020B0604020202020204" pitchFamily="34" charset="0"/>
              <a:buAutoNum type="alphaLcParenBoth"/>
            </a:pPr>
            <a:r>
              <a:rPr lang="en-IN" dirty="0"/>
              <a:t>java.util </a:t>
            </a:r>
          </a:p>
          <a:p>
            <a:pPr marL="514350" indent="-514350">
              <a:buAutoNum type="alphaLcParenBoth"/>
            </a:pPr>
            <a:r>
              <a:rPr lang="en-IN" dirty="0"/>
              <a:t>java.net </a:t>
            </a:r>
          </a:p>
          <a:p>
            <a:pPr marL="514350" indent="-514350">
              <a:buAutoNum type="alphaLcParenBoth"/>
            </a:pPr>
            <a:r>
              <a:rPr lang="en-IN" dirty="0"/>
              <a:t>java.awt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13070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49. A package is a collection of: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AutoNum type="alphaLcParenBoth"/>
            </a:pPr>
            <a:r>
              <a:rPr lang="en-IN" dirty="0"/>
              <a:t>Classes</a:t>
            </a:r>
          </a:p>
          <a:p>
            <a:pPr marL="0" indent="0">
              <a:buNone/>
            </a:pPr>
            <a:r>
              <a:rPr lang="en-IN" dirty="0"/>
              <a:t>(b) Interfaces </a:t>
            </a:r>
          </a:p>
          <a:p>
            <a:pPr marL="0" indent="0">
              <a:buNone/>
            </a:pPr>
            <a:r>
              <a:rPr lang="en-IN" dirty="0"/>
              <a:t>(c) Editing tools</a:t>
            </a:r>
            <a:br>
              <a:rPr lang="en-IN" dirty="0"/>
            </a:br>
            <a:r>
              <a:rPr lang="en-IN" dirty="0"/>
              <a:t>(d) Classes and interfaces </a:t>
            </a:r>
          </a:p>
          <a:p>
            <a:pPr marL="0" indent="0">
              <a:buNone/>
            </a:pPr>
            <a:r>
              <a:rPr lang="en-IN" dirty="0"/>
              <a:t>(e) Editing tools and interfaces.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13070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50. </a:t>
            </a:r>
            <a:r>
              <a:rPr lang="en-US" dirty="0" smtClean="0"/>
              <a:t>Which keyword is used to prevent a method from being overridden by subclasses?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static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final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private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abstract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13070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</TotalTime>
  <Words>1201</Words>
  <Application>Microsoft Office PowerPoint</Application>
  <PresentationFormat>On-screen Show (4:3)</PresentationFormat>
  <Paragraphs>368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1403375</dc:creator>
  <cp:lastModifiedBy>Manas Tuwani</cp:lastModifiedBy>
  <cp:revision>73</cp:revision>
  <dcterms:created xsi:type="dcterms:W3CDTF">2022-05-21T15:34:46Z</dcterms:created>
  <dcterms:modified xsi:type="dcterms:W3CDTF">2025-12-17T15:39:42Z</dcterms:modified>
</cp:coreProperties>
</file>