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3" r:id="rId2"/>
    <p:sldId id="259" r:id="rId3"/>
    <p:sldId id="257" r:id="rId4"/>
    <p:sldId id="258" r:id="rId5"/>
    <p:sldId id="274" r:id="rId6"/>
    <p:sldId id="260" r:id="rId7"/>
    <p:sldId id="261" r:id="rId8"/>
    <p:sldId id="262" r:id="rId9"/>
    <p:sldId id="293" r:id="rId10"/>
    <p:sldId id="264" r:id="rId11"/>
    <p:sldId id="265" r:id="rId12"/>
    <p:sldId id="268" r:id="rId13"/>
    <p:sldId id="269" r:id="rId14"/>
    <p:sldId id="291" r:id="rId15"/>
    <p:sldId id="267" r:id="rId16"/>
    <p:sldId id="270" r:id="rId17"/>
    <p:sldId id="275" r:id="rId18"/>
    <p:sldId id="289" r:id="rId19"/>
    <p:sldId id="290" r:id="rId20"/>
    <p:sldId id="276" r:id="rId21"/>
    <p:sldId id="277" r:id="rId22"/>
    <p:sldId id="271" r:id="rId23"/>
    <p:sldId id="292" r:id="rId24"/>
    <p:sldId id="272" r:id="rId25"/>
    <p:sldId id="279" r:id="rId26"/>
    <p:sldId id="280" r:id="rId27"/>
    <p:sldId id="288" r:id="rId28"/>
    <p:sldId id="281" r:id="rId29"/>
    <p:sldId id="273" r:id="rId30"/>
    <p:sldId id="295" r:id="rId31"/>
    <p:sldId id="286" r:id="rId32"/>
    <p:sldId id="287" r:id="rId33"/>
    <p:sldId id="294" r:id="rId34"/>
    <p:sldId id="278" r:id="rId35"/>
    <p:sldId id="282" r:id="rId36"/>
    <p:sldId id="285" r:id="rId37"/>
    <p:sldId id="284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143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19A4D-8521-41B3-A940-0938EAC14D33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EE13D-DD71-423A-9D33-378DD9DA55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70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EE13D-DD71-423A-9D33-378DD9DA5562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79359-8E99-42AC-9BAC-CC62B04BBF1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782E1-2FCC-4E83-816B-27B4C29334E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wright.dev/java/docs/intro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01670" y="4941170"/>
            <a:ext cx="3996444" cy="113877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32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26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  <p:pic>
        <p:nvPicPr>
          <p:cNvPr id="6" name="Picture 5" descr="pj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908720"/>
            <a:ext cx="770485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What is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sz="1800" dirty="0" smtClean="0"/>
              <a:t>      Playwright is a modern, open-source automation testing framework developed by </a:t>
            </a:r>
            <a:r>
              <a:rPr lang="en-US" sz="1800" b="1" dirty="0" smtClean="0"/>
              <a:t>Microsoft.</a:t>
            </a:r>
            <a:r>
              <a:rPr lang="en-US" sz="1800" dirty="0" smtClean="0"/>
              <a:t> It is used for end-to-end (E2E) testing of web applications across different browsers.</a:t>
            </a:r>
          </a:p>
          <a:p>
            <a:pPr algn="just">
              <a:buNone/>
            </a:pPr>
            <a:r>
              <a:rPr lang="en-US" sz="1800" b="1" dirty="0" smtClean="0"/>
              <a:t>      </a:t>
            </a:r>
            <a:r>
              <a:rPr lang="en-US" sz="1800" dirty="0" smtClean="0"/>
              <a:t>Playwright was officially </a:t>
            </a:r>
            <a:r>
              <a:rPr lang="en-US" sz="1800" b="1" dirty="0" smtClean="0"/>
              <a:t>launched by Microsoft in January 2020</a:t>
            </a:r>
            <a:r>
              <a:rPr lang="en-US" sz="1800" dirty="0" smtClean="0"/>
              <a:t> as an open-source end-to-end testing framework for web applications.</a:t>
            </a:r>
          </a:p>
          <a:p>
            <a:pPr algn="just">
              <a:buNone/>
            </a:pPr>
            <a:endParaRPr lang="en-US" sz="1800" dirty="0" smtClean="0"/>
          </a:p>
          <a:p>
            <a:pPr algn="just">
              <a:buNone/>
            </a:pPr>
            <a:r>
              <a:rPr lang="en-US" sz="1800" dirty="0" smtClean="0"/>
              <a:t>      Playwright allows you to automate browser interactions and provides a robust, reliable, and fast way to test modern web applications across different browsers, including Chromium, Edge, Firefox, and WebKit (Safari). </a:t>
            </a:r>
          </a:p>
          <a:p>
            <a:pPr algn="just">
              <a:buNone/>
            </a:pPr>
            <a:r>
              <a:rPr lang="en-IN" sz="1800" dirty="0" smtClean="0"/>
              <a:t>       </a:t>
            </a:r>
          </a:p>
          <a:p>
            <a:pPr algn="just">
              <a:buNone/>
            </a:pPr>
            <a:r>
              <a:rPr lang="en-IN" sz="1800" dirty="0" smtClean="0"/>
              <a:t>      </a:t>
            </a:r>
            <a:r>
              <a:rPr lang="en-US" sz="1800" dirty="0" smtClean="0"/>
              <a:t>Playwright excels in </a:t>
            </a:r>
            <a:r>
              <a:rPr lang="en-US" sz="1800" b="1" dirty="0" smtClean="0"/>
              <a:t>end-to-end testing</a:t>
            </a:r>
            <a:r>
              <a:rPr lang="en-US" sz="1800" dirty="0" smtClean="0"/>
              <a:t> by simulating real user interactions across web applications, from navigating pages to filling forms, clicking buttons, and validating results.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Advantages of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b="1" dirty="0" smtClean="0"/>
              <a:t>1.  Cross-Browser Support</a:t>
            </a:r>
          </a:p>
          <a:p>
            <a:pPr>
              <a:buNone/>
            </a:pPr>
            <a:r>
              <a:rPr lang="en-US" sz="1800" dirty="0" smtClean="0"/>
              <a:t>       Automates </a:t>
            </a:r>
            <a:r>
              <a:rPr lang="en-US" sz="1800" b="1" dirty="0" smtClean="0"/>
              <a:t>Chromium</a:t>
            </a:r>
            <a:r>
              <a:rPr lang="en-US" sz="1800" dirty="0" smtClean="0"/>
              <a:t>, </a:t>
            </a:r>
            <a:r>
              <a:rPr lang="en-US" sz="1800" b="1" dirty="0" smtClean="0"/>
              <a:t>Firefox</a:t>
            </a:r>
            <a:r>
              <a:rPr lang="en-US" sz="1800" dirty="0" smtClean="0"/>
              <a:t>, and </a:t>
            </a:r>
            <a:r>
              <a:rPr lang="en-US" sz="1800" b="1" dirty="0" smtClean="0"/>
              <a:t>WebKit</a:t>
            </a:r>
            <a:r>
              <a:rPr lang="en-US" sz="1800" dirty="0" smtClean="0"/>
              <a:t> browsers using the same API.</a:t>
            </a:r>
          </a:p>
          <a:p>
            <a:pPr>
              <a:buNone/>
            </a:pPr>
            <a:r>
              <a:rPr lang="en-US" sz="1800" dirty="0" smtClean="0"/>
              <a:t>       Works on </a:t>
            </a:r>
            <a:r>
              <a:rPr lang="en-US" sz="1800" b="1" dirty="0" smtClean="0"/>
              <a:t>Windows, macOS, and Linux</a:t>
            </a:r>
            <a:r>
              <a:rPr lang="en-US" sz="1800" dirty="0" smtClean="0"/>
              <a:t>.</a:t>
            </a:r>
          </a:p>
          <a:p>
            <a:pPr>
              <a:buNone/>
            </a:pPr>
            <a:r>
              <a:rPr lang="en-US" sz="1800" dirty="0" smtClean="0"/>
              <a:t>       Ensures better cross-browser compatibility testing.</a:t>
            </a:r>
          </a:p>
          <a:p>
            <a:endParaRPr lang="en-IN" sz="1800" dirty="0"/>
          </a:p>
          <a:p>
            <a:pPr>
              <a:buNone/>
            </a:pPr>
            <a:r>
              <a:rPr lang="en-US" sz="1800" b="1" dirty="0" smtClean="0"/>
              <a:t>2.   Parallel Testing and Fast Execution</a:t>
            </a:r>
          </a:p>
          <a:p>
            <a:pPr>
              <a:buNone/>
            </a:pPr>
            <a:r>
              <a:rPr lang="en-US" sz="1800" dirty="0" smtClean="0"/>
              <a:t>       Playwright allows for parallel test execution, which significantly reduces testing time.</a:t>
            </a:r>
          </a:p>
          <a:p>
            <a:pPr>
              <a:buNone/>
            </a:pPr>
            <a:r>
              <a:rPr lang="en-US" sz="1800" dirty="0" smtClean="0"/>
              <a:t>       It’s designed to handle </a:t>
            </a:r>
            <a:r>
              <a:rPr lang="en-US" sz="1800" b="1" dirty="0" smtClean="0"/>
              <a:t>modern web apps</a:t>
            </a:r>
            <a:r>
              <a:rPr lang="en-US" sz="1800" dirty="0" smtClean="0"/>
              <a:t> with features like dynamic content, images .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US" sz="1800" b="1" dirty="0" smtClean="0"/>
              <a:t>3.  Multiple Language Support</a:t>
            </a:r>
          </a:p>
          <a:p>
            <a:pPr>
              <a:buNone/>
            </a:pPr>
            <a:r>
              <a:rPr lang="en-US" sz="1800" dirty="0" smtClean="0"/>
              <a:t>      Support  multiple language like </a:t>
            </a:r>
            <a:r>
              <a:rPr lang="en-US" sz="1800" b="1" dirty="0" smtClean="0"/>
              <a:t>Java</a:t>
            </a:r>
            <a:r>
              <a:rPr lang="en-US" sz="1800" dirty="0" smtClean="0"/>
              <a:t>, </a:t>
            </a:r>
            <a:r>
              <a:rPr lang="en-US" sz="1800" b="1" dirty="0" smtClean="0"/>
              <a:t>JavaScript/TypeScript,</a:t>
            </a:r>
            <a:r>
              <a:rPr lang="en-US" sz="1800" dirty="0" smtClean="0"/>
              <a:t> </a:t>
            </a:r>
            <a:r>
              <a:rPr lang="en-US" sz="1800" b="1" dirty="0" smtClean="0"/>
              <a:t>Python</a:t>
            </a:r>
            <a:r>
              <a:rPr lang="en-US" sz="1800" dirty="0" smtClean="0"/>
              <a:t>, </a:t>
            </a:r>
            <a:r>
              <a:rPr lang="en-US" sz="1800" b="1" dirty="0" smtClean="0"/>
              <a:t>C# (.NET)</a:t>
            </a:r>
          </a:p>
          <a:p>
            <a:pPr>
              <a:buNone/>
            </a:pPr>
            <a:endParaRPr lang="en-IN" sz="1800" b="1" dirty="0" smtClean="0"/>
          </a:p>
          <a:p>
            <a:pPr>
              <a:buNone/>
            </a:pPr>
            <a:r>
              <a:rPr lang="en-US" sz="1800" b="1" dirty="0" smtClean="0"/>
              <a:t>4.  Auto-Wait Capability</a:t>
            </a:r>
          </a:p>
          <a:p>
            <a:pPr>
              <a:buNone/>
            </a:pPr>
            <a:r>
              <a:rPr lang="en-US" sz="1800" dirty="0" smtClean="0"/>
              <a:t>      Playwright </a:t>
            </a:r>
            <a:r>
              <a:rPr lang="en-US" sz="1800" b="1" dirty="0" smtClean="0"/>
              <a:t>automatically waits</a:t>
            </a:r>
            <a:r>
              <a:rPr lang="en-US" sz="1800" dirty="0" smtClean="0"/>
              <a:t> for elements to be ready before performing actions.</a:t>
            </a:r>
          </a:p>
          <a:p>
            <a:pPr>
              <a:buNone/>
            </a:pPr>
            <a:r>
              <a:rPr lang="en-US" sz="1800" dirty="0" smtClean="0"/>
              <a:t>      Reduces </a:t>
            </a:r>
            <a:r>
              <a:rPr lang="en-US" sz="1800" b="1" dirty="0" smtClean="0"/>
              <a:t>flaky tests</a:t>
            </a:r>
            <a:r>
              <a:rPr lang="en-US" sz="1800" dirty="0" smtClean="0"/>
              <a:t> and eliminates the need for manual waits or sleeps.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IN" sz="3000" b="1" dirty="0" smtClean="0"/>
              <a:t>Advantages of Playwright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8457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IN" sz="1800" b="1" dirty="0"/>
          </a:p>
          <a:p>
            <a:pPr>
              <a:buNone/>
            </a:pPr>
            <a:r>
              <a:rPr lang="en-US" sz="1800" b="1" dirty="0"/>
              <a:t>5</a:t>
            </a:r>
            <a:r>
              <a:rPr lang="en-US" sz="1800" b="1" dirty="0" smtClean="0"/>
              <a:t>.  Screenshots &amp; Videos Capture</a:t>
            </a:r>
          </a:p>
          <a:p>
            <a:pPr>
              <a:buNone/>
            </a:pPr>
            <a:r>
              <a:rPr lang="en-US" sz="1800" dirty="0" smtClean="0"/>
              <a:t>       Playwright capture </a:t>
            </a:r>
            <a:r>
              <a:rPr lang="en-US" sz="1800" b="1" dirty="0" smtClean="0"/>
              <a:t>screenshots</a:t>
            </a:r>
            <a:r>
              <a:rPr lang="en-US" sz="1800" dirty="0" smtClean="0"/>
              <a:t> and </a:t>
            </a:r>
            <a:r>
              <a:rPr lang="en-US" sz="1800" b="1" dirty="0" smtClean="0"/>
              <a:t>videos</a:t>
            </a:r>
            <a:r>
              <a:rPr lang="en-US" sz="1800" dirty="0" smtClean="0"/>
              <a:t> of test execution out of the box.</a:t>
            </a:r>
          </a:p>
          <a:p>
            <a:pPr>
              <a:buNone/>
            </a:pPr>
            <a:r>
              <a:rPr lang="en-US" sz="1800" dirty="0" smtClean="0"/>
              <a:t>       Useful for debugging and test evidence.</a:t>
            </a:r>
          </a:p>
          <a:p>
            <a:pPr>
              <a:buNone/>
            </a:pPr>
            <a:endParaRPr lang="en-US" sz="1800" dirty="0" smtClean="0"/>
          </a:p>
          <a:p>
            <a:pPr>
              <a:buAutoNum type="arabicPeriod" startAt="6"/>
            </a:pPr>
            <a:r>
              <a:rPr lang="en-IN" sz="1800" b="1" dirty="0" smtClean="0"/>
              <a:t>Automation Codegen</a:t>
            </a:r>
          </a:p>
          <a:p>
            <a:pPr>
              <a:buNone/>
            </a:pPr>
            <a:r>
              <a:rPr lang="en-IN" sz="1800" dirty="0"/>
              <a:t> </a:t>
            </a:r>
            <a:r>
              <a:rPr lang="en-IN" sz="1800" dirty="0" smtClean="0"/>
              <a:t>     Playwright support codegen which help generate to automation script (By performing the action manually.)</a:t>
            </a:r>
          </a:p>
          <a:p>
            <a:pPr>
              <a:buNone/>
            </a:pPr>
            <a:r>
              <a:rPr lang="en-US" sz="1800" dirty="0" smtClean="0"/>
              <a:t>      Generate tests by recording your actions. Save them into any language.</a:t>
            </a: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b="1" dirty="0" smtClean="0"/>
              <a:t>7.  Support In-Built Assertion</a:t>
            </a:r>
          </a:p>
          <a:p>
            <a:pPr>
              <a:buNone/>
            </a:pPr>
            <a:r>
              <a:rPr lang="en-IN" sz="1800" dirty="0" smtClean="0"/>
              <a:t>      Playwright Support in built Static and Non Static Assertion for validation</a:t>
            </a:r>
          </a:p>
          <a:p>
            <a:pPr>
              <a:buNone/>
            </a:pPr>
            <a:endParaRPr lang="en-IN" sz="1800" dirty="0"/>
          </a:p>
          <a:p>
            <a:pPr>
              <a:buAutoNum type="arabicPeriod" startAt="8"/>
            </a:pPr>
            <a:r>
              <a:rPr lang="en-IN" sz="1800" b="1" dirty="0" smtClean="0"/>
              <a:t>Support </a:t>
            </a:r>
            <a:r>
              <a:rPr lang="en-US" sz="1800" b="1" dirty="0" smtClean="0"/>
              <a:t>Headless mode </a:t>
            </a:r>
          </a:p>
          <a:p>
            <a:pPr>
              <a:buNone/>
            </a:pPr>
            <a:r>
              <a:rPr lang="en-US" sz="1800" dirty="0" smtClean="0"/>
              <a:t>       Playwright runs tests in </a:t>
            </a:r>
            <a:r>
              <a:rPr lang="en-US" sz="1800" b="1" dirty="0" smtClean="0"/>
              <a:t>headless mode by default</a:t>
            </a:r>
            <a:r>
              <a:rPr lang="en-US" sz="1800" dirty="0" smtClean="0"/>
              <a:t> (no UI), making them faster. And the chances of failure will be reduced.</a:t>
            </a:r>
          </a:p>
          <a:p>
            <a:pPr>
              <a:buNone/>
            </a:pPr>
            <a:r>
              <a:rPr lang="en-US" sz="1800" dirty="0" smtClean="0"/>
              <a:t>       Headless mode executes the tests without launching the browser’s UI, making the process faster and ideal for CI/CD pipelines</a:t>
            </a:r>
            <a:endParaRPr lang="en-US" sz="1800" b="1" dirty="0" smtClean="0"/>
          </a:p>
          <a:p>
            <a:pPr>
              <a:buNone/>
            </a:pPr>
            <a:endParaRPr lang="en-IN" sz="1800" dirty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>
                <a:latin typeface="+mn-lt"/>
              </a:rPr>
              <a:t>Limitation of Playwright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Limited Mobile and Desktop Automation: </a:t>
            </a:r>
            <a:r>
              <a:rPr lang="en-US" sz="1800" dirty="0" smtClean="0"/>
              <a:t>Playwright is designed for web application automation only. It cannot test native desktop or mobile applications.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Limited Support for Older Browsers:</a:t>
            </a:r>
            <a:r>
              <a:rPr lang="en-US" sz="1800" dirty="0" smtClean="0"/>
              <a:t> It supports Chromium, WebKit, and Firefox, but it does not support older browsers like Internet Explorer or older versions of browsers that some legacy apps may still require.</a:t>
            </a:r>
          </a:p>
          <a:p>
            <a:pPr>
              <a:buFont typeface="Wingdings" pitchFamily="2" charset="2"/>
              <a:buChar char="Ø"/>
            </a:pPr>
            <a:endParaRPr lang="en-US" sz="1800" b="1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Visual Testing is Not Native:</a:t>
            </a:r>
            <a:r>
              <a:rPr lang="en-US" sz="1800" dirty="0" smtClean="0"/>
              <a:t> Playwright doesn’t offer built-in </a:t>
            </a:r>
            <a:r>
              <a:rPr lang="en-US" sz="1800" b="1" dirty="0" smtClean="0"/>
              <a:t>visual regression testing</a:t>
            </a:r>
            <a:r>
              <a:rPr lang="en-US" sz="1800" dirty="0" smtClean="0"/>
              <a:t> (comparing screenshots, colour contras) out of the box. 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Smaller Community Compared to Selenium:</a:t>
            </a:r>
            <a:r>
              <a:rPr lang="en-US" sz="1800" dirty="0" smtClean="0"/>
              <a:t>   Although fast-growing, Playwright’s community and ecosystem are still smaller than Selenium/WebDriver, so you may find fewer plugins, libraries, or community-contributed solutions.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Learning Curve: </a:t>
            </a:r>
            <a:r>
              <a:rPr lang="en-US" sz="1800" dirty="0" smtClean="0"/>
              <a:t>To work on the playwright we should have technical knowledge (languages like: Java, Python, Javascript etc.)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Installation and Setup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18457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500" b="1" dirty="0" smtClean="0"/>
              <a:t>   Link:  </a:t>
            </a:r>
            <a:r>
              <a:rPr lang="en-US" sz="1500" dirty="0" smtClean="0">
                <a:hlinkClick r:id="rId2"/>
              </a:rPr>
              <a:t>https://playwright.dev/java/docs/intro</a:t>
            </a:r>
            <a:endParaRPr lang="en-US" sz="1500" dirty="0" smtClean="0"/>
          </a:p>
          <a:p>
            <a:pPr>
              <a:buNone/>
            </a:pPr>
            <a:r>
              <a:rPr lang="en-US" sz="1500" dirty="0" smtClean="0"/>
              <a:t>        &lt;properties&gt;</a:t>
            </a:r>
            <a:br>
              <a:rPr lang="en-US" sz="1500" dirty="0" smtClean="0"/>
            </a:br>
            <a:r>
              <a:rPr lang="en-US" sz="1500" dirty="0" smtClean="0"/>
              <a:t>&lt;project.build.sourceEncoding&gt;UTF-8&lt;/project.build.sourceEncoding&gt;</a:t>
            </a:r>
            <a:br>
              <a:rPr lang="en-US" sz="1500" dirty="0" smtClean="0"/>
            </a:br>
            <a:r>
              <a:rPr lang="en-US" sz="1500" dirty="0" smtClean="0"/>
              <a:t>&lt;/properties&gt;</a:t>
            </a:r>
            <a:br>
              <a:rPr lang="en-US" sz="1500" dirty="0" smtClean="0"/>
            </a:br>
            <a:r>
              <a:rPr lang="en-US" sz="1500" dirty="0" smtClean="0"/>
              <a:t>&lt;dependencies&gt;</a:t>
            </a:r>
            <a:br>
              <a:rPr lang="en-US" sz="1500" dirty="0" smtClean="0"/>
            </a:br>
            <a:r>
              <a:rPr lang="en-US" sz="1500" b="1" dirty="0" smtClean="0"/>
              <a:t>&lt;dependency&gt;</a:t>
            </a:r>
            <a:br>
              <a:rPr lang="en-US" sz="1500" b="1" dirty="0" smtClean="0"/>
            </a:br>
            <a:r>
              <a:rPr lang="en-US" sz="1500" b="1" dirty="0" smtClean="0"/>
              <a:t>&lt;groupId&gt;com.microsoft.playwright&lt;/groupId&gt;</a:t>
            </a:r>
            <a:br>
              <a:rPr lang="en-US" sz="1500" b="1" dirty="0" smtClean="0"/>
            </a:br>
            <a:r>
              <a:rPr lang="en-US" sz="1500" b="1" dirty="0" smtClean="0"/>
              <a:t>&lt;artifactId&gt;playwright&lt;/artifactId&gt;</a:t>
            </a:r>
            <a:br>
              <a:rPr lang="en-US" sz="1500" b="1" dirty="0" smtClean="0"/>
            </a:br>
            <a:r>
              <a:rPr lang="en-US" sz="1500" b="1" smtClean="0"/>
              <a:t>&lt;version&gt;1.32.0</a:t>
            </a:r>
            <a:r>
              <a:rPr lang="en-US" sz="1500" b="1" dirty="0" smtClean="0"/>
              <a:t>&lt;/version&gt;</a:t>
            </a:r>
            <a:br>
              <a:rPr lang="en-US" sz="1500" b="1" dirty="0" smtClean="0"/>
            </a:br>
            <a:r>
              <a:rPr lang="en-US" sz="1500" b="1" dirty="0" smtClean="0"/>
              <a:t>&lt;/dependency&gt;</a:t>
            </a:r>
            <a:br>
              <a:rPr lang="en-US" sz="1500" b="1" dirty="0" smtClean="0"/>
            </a:br>
            <a:r>
              <a:rPr lang="en-US" sz="1500" b="1" dirty="0" smtClean="0"/>
              <a:t>&lt;/dependencies&gt;</a:t>
            </a:r>
            <a:r>
              <a:rPr lang="en-US" sz="1500" dirty="0" smtClean="0"/>
              <a:t/>
            </a:r>
            <a:br>
              <a:rPr lang="en-US" sz="1500" dirty="0" smtClean="0"/>
            </a:br>
            <a:r>
              <a:rPr lang="en-US" sz="1500" dirty="0" smtClean="0"/>
              <a:t>&lt;build&gt;</a:t>
            </a:r>
            <a:br>
              <a:rPr lang="en-US" sz="1500" dirty="0" smtClean="0"/>
            </a:br>
            <a:r>
              <a:rPr lang="en-US" sz="1500" dirty="0" smtClean="0"/>
              <a:t>&lt;plugins&gt;</a:t>
            </a:r>
            <a:br>
              <a:rPr lang="en-US" sz="1500" dirty="0" smtClean="0"/>
            </a:br>
            <a:r>
              <a:rPr lang="en-US" sz="1500" dirty="0" smtClean="0"/>
              <a:t>&lt;plugin&gt;</a:t>
            </a:r>
            <a:br>
              <a:rPr lang="en-US" sz="1500" dirty="0" smtClean="0"/>
            </a:br>
            <a:r>
              <a:rPr lang="en-US" sz="1500" dirty="0" smtClean="0"/>
              <a:t>&lt;groupId&gt;org.apache.maven.plugins&lt;/groupId&gt;</a:t>
            </a:r>
            <a:br>
              <a:rPr lang="en-US" sz="1500" dirty="0" smtClean="0"/>
            </a:br>
            <a:r>
              <a:rPr lang="en-US" sz="1500" dirty="0" smtClean="0"/>
              <a:t>&lt;artifactId&gt;maven-compiler-plugin&lt;/artifactId&gt;</a:t>
            </a:r>
            <a:br>
              <a:rPr lang="en-US" sz="1500" dirty="0" smtClean="0"/>
            </a:br>
            <a:r>
              <a:rPr lang="en-US" sz="1500" dirty="0" smtClean="0"/>
              <a:t>&lt;version&gt;3.10.1&lt;/version&gt;</a:t>
            </a:r>
            <a:br>
              <a:rPr lang="en-US" sz="1500" dirty="0" smtClean="0"/>
            </a:br>
            <a:r>
              <a:rPr lang="en-US" sz="1500" i="1" dirty="0" smtClean="0"/>
              <a:t>&lt;!-- References to interface static methods are allowed only at source level 1.8 or above --&gt;</a:t>
            </a:r>
            <a:r>
              <a:rPr lang="en-US" sz="1500" dirty="0" smtClean="0"/>
              <a:t/>
            </a:r>
            <a:br>
              <a:rPr lang="en-US" sz="1500" dirty="0" smtClean="0"/>
            </a:br>
            <a:r>
              <a:rPr lang="en-US" sz="1500" dirty="0" smtClean="0"/>
              <a:t>&lt;configuration&gt;</a:t>
            </a:r>
            <a:br>
              <a:rPr lang="en-US" sz="1500" dirty="0" smtClean="0"/>
            </a:br>
            <a:r>
              <a:rPr lang="en-US" sz="1500" dirty="0" smtClean="0"/>
              <a:t>&lt;source&gt;1.8&lt;/source&gt;</a:t>
            </a:r>
            <a:br>
              <a:rPr lang="en-US" sz="1500" dirty="0" smtClean="0"/>
            </a:br>
            <a:r>
              <a:rPr lang="en-US" sz="1500" dirty="0" smtClean="0"/>
              <a:t>&lt;target&gt;1.8&lt;/target&gt;</a:t>
            </a:r>
            <a:br>
              <a:rPr lang="en-US" sz="1500" dirty="0" smtClean="0"/>
            </a:br>
            <a:r>
              <a:rPr lang="en-US" sz="1500" dirty="0" smtClean="0"/>
              <a:t>&lt;/configuration&gt;</a:t>
            </a:r>
            <a:br>
              <a:rPr lang="en-US" sz="1500" dirty="0" smtClean="0"/>
            </a:br>
            <a:r>
              <a:rPr lang="en-US" sz="1500" dirty="0" smtClean="0"/>
              <a:t>&lt;/plugin&gt;</a:t>
            </a:r>
            <a:br>
              <a:rPr lang="en-US" sz="1500" dirty="0" smtClean="0"/>
            </a:br>
            <a:r>
              <a:rPr lang="en-US" sz="1500" dirty="0" smtClean="0"/>
              <a:t>&lt;/plugins&gt;</a:t>
            </a:r>
            <a:br>
              <a:rPr lang="en-US" sz="1500" dirty="0" smtClean="0"/>
            </a:br>
            <a:r>
              <a:rPr lang="en-US" sz="1500" dirty="0" smtClean="0"/>
              <a:t>&lt;/build&gt;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First Program</a:t>
            </a:r>
            <a:endParaRPr lang="en-US" sz="32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82296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40768"/>
            <a:ext cx="82296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79296" cy="1143000"/>
          </a:xfrm>
        </p:spPr>
        <p:txBody>
          <a:bodyPr>
            <a:normAutofit/>
          </a:bodyPr>
          <a:lstStyle/>
          <a:p>
            <a:pPr algn="l"/>
            <a:r>
              <a:rPr lang="en-IN" sz="1800" b="1" u="sng" dirty="0" smtClean="0"/>
              <a:t>Note:</a:t>
            </a:r>
            <a:r>
              <a:rPr lang="en-IN" sz="1800" b="1" dirty="0" smtClean="0"/>
              <a:t>  </a:t>
            </a:r>
            <a:r>
              <a:rPr lang="en-US" sz="1800" b="1" dirty="0" smtClean="0"/>
              <a:t>By default, Playwright runs the browsers in headless mode. To see the browser UI, setHeadless option to false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rmAutofit/>
          </a:bodyPr>
          <a:lstStyle/>
          <a:p>
            <a:pPr algn="l"/>
            <a:r>
              <a:rPr lang="en-IN" sz="3000" b="1" dirty="0" smtClean="0"/>
              <a:t>Working with Multiple Browser in Playwright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25658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Chromium</a:t>
            </a:r>
            <a:r>
              <a:rPr lang="en-US" sz="1800" dirty="0" smtClean="0"/>
              <a:t> → Chrome, Edge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Firefox </a:t>
            </a:r>
            <a:r>
              <a:rPr lang="en-US" sz="1800" dirty="0" smtClean="0"/>
              <a:t> →  Mozilla Firefox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err="1" smtClean="0"/>
              <a:t>WebKit</a:t>
            </a:r>
            <a:r>
              <a:rPr lang="en-US" sz="1800" b="1" dirty="0" smtClean="0"/>
              <a:t> </a:t>
            </a:r>
            <a:r>
              <a:rPr lang="en-US" sz="1800" dirty="0" smtClean="0"/>
              <a:t> →  Safari 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endParaRPr lang="en-US" sz="18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Chrome Browser:</a:t>
            </a:r>
          </a:p>
          <a:p>
            <a:pPr>
              <a:buNone/>
            </a:pPr>
            <a:r>
              <a:rPr lang="en-US" sz="2000" dirty="0" smtClean="0"/>
              <a:t>        Browser chromium = playwright.</a:t>
            </a:r>
            <a:r>
              <a:rPr lang="en-US" sz="2000" b="1" dirty="0" smtClean="0"/>
              <a:t>chromium()</a:t>
            </a:r>
            <a:r>
              <a:rPr lang="en-US" sz="2000" dirty="0" smtClean="0"/>
              <a:t>.launch(new BrowserType.LaunchOptions().</a:t>
            </a:r>
            <a:r>
              <a:rPr lang="en-US" sz="2000" dirty="0" err="1" smtClean="0"/>
              <a:t>setHeadless</a:t>
            </a:r>
            <a:r>
              <a:rPr lang="en-US" sz="2000" dirty="0" smtClean="0"/>
              <a:t>(false));</a:t>
            </a:r>
          </a:p>
          <a:p>
            <a:pPr>
              <a:buNone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Edge Browser:</a:t>
            </a:r>
          </a:p>
          <a:p>
            <a:pPr>
              <a:buNone/>
            </a:pPr>
            <a:r>
              <a:rPr lang="en-US" sz="2000" dirty="0" smtClean="0"/>
              <a:t>        Browser chromium = </a:t>
            </a:r>
            <a:r>
              <a:rPr lang="en-US" sz="2000" dirty="0" err="1" smtClean="0"/>
              <a:t>playwright.</a:t>
            </a:r>
            <a:r>
              <a:rPr lang="en-US" sz="2000" b="1" dirty="0" err="1" smtClean="0"/>
              <a:t>chromium</a:t>
            </a:r>
            <a:r>
              <a:rPr lang="en-US" sz="2000" b="1" dirty="0" smtClean="0"/>
              <a:t>()</a:t>
            </a:r>
            <a:r>
              <a:rPr lang="en-US" sz="2000" dirty="0" smtClean="0"/>
              <a:t>.launch(new </a:t>
            </a:r>
            <a:r>
              <a:rPr lang="en-US" sz="2000" dirty="0" err="1" smtClean="0"/>
              <a:t>BrowserType.LaunchOptions</a:t>
            </a:r>
            <a:r>
              <a:rPr lang="en-US" sz="2000" dirty="0" smtClean="0"/>
              <a:t>().</a:t>
            </a:r>
            <a:r>
              <a:rPr lang="en-US" sz="2000" b="1" dirty="0" err="1" smtClean="0"/>
              <a:t>setChannel</a:t>
            </a:r>
            <a:r>
              <a:rPr lang="en-US" sz="2000" b="1" dirty="0" smtClean="0"/>
              <a:t>(“</a:t>
            </a:r>
            <a:r>
              <a:rPr lang="en-US" sz="2000" b="1" dirty="0" err="1" smtClean="0"/>
              <a:t>msedge</a:t>
            </a:r>
            <a:r>
              <a:rPr lang="en-US" sz="2000" b="1" dirty="0" smtClean="0"/>
              <a:t>”).</a:t>
            </a:r>
            <a:r>
              <a:rPr lang="en-US" sz="2000" dirty="0" err="1" smtClean="0"/>
              <a:t>setHeadless</a:t>
            </a:r>
            <a:r>
              <a:rPr lang="en-US" sz="2000" dirty="0" smtClean="0"/>
              <a:t>(false));</a:t>
            </a:r>
            <a:endParaRPr lang="en-IN" sz="2000" dirty="0" smtClean="0"/>
          </a:p>
          <a:p>
            <a:pPr>
              <a:buNone/>
            </a:pPr>
            <a:endParaRPr lang="en-IN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 Firefox Browser:</a:t>
            </a:r>
          </a:p>
          <a:p>
            <a:pPr>
              <a:buNone/>
            </a:pPr>
            <a:r>
              <a:rPr lang="en-US" sz="2000" dirty="0" smtClean="0"/>
              <a:t>         Browser firefox = playwright.</a:t>
            </a:r>
            <a:r>
              <a:rPr lang="en-US" sz="2000" b="1" dirty="0" smtClean="0"/>
              <a:t>firefox()</a:t>
            </a:r>
            <a:r>
              <a:rPr lang="en-US" sz="2000" dirty="0" smtClean="0"/>
              <a:t>.launch(new BrowserType.LaunchOptions().setHeadless(false));</a:t>
            </a:r>
          </a:p>
          <a:p>
            <a:pPr>
              <a:buNone/>
            </a:pPr>
            <a:endParaRPr lang="en-IN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 WebKit Browesr:</a:t>
            </a:r>
          </a:p>
          <a:p>
            <a:pPr>
              <a:buNone/>
            </a:pPr>
            <a:r>
              <a:rPr lang="en-US" sz="2000" dirty="0" smtClean="0"/>
              <a:t>         Browser webkit = playwright.</a:t>
            </a:r>
            <a:r>
              <a:rPr lang="en-US" sz="2000" b="1" dirty="0" smtClean="0"/>
              <a:t>webkit().</a:t>
            </a:r>
            <a:r>
              <a:rPr lang="en-US" sz="2000" dirty="0" smtClean="0"/>
              <a:t>launch(new BrowserType.LaunchOptions().setHeadless(false));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706090"/>
          </a:xfrm>
        </p:spPr>
        <p:txBody>
          <a:bodyPr>
            <a:normAutofit fontScale="90000"/>
          </a:bodyPr>
          <a:lstStyle/>
          <a:p>
            <a:pPr algn="l"/>
            <a:r>
              <a:rPr lang="en-US" sz="2700" b="1" dirty="0" smtClean="0"/>
              <a:t>Fetching the Application Title and URL in Playwright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764704"/>
            <a:ext cx="374441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String  appTilte  =   page.title();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 String  appURL  =   page.url();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13720"/>
            <a:ext cx="8229600" cy="4498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748464" cy="1143000"/>
          </a:xfrm>
        </p:spPr>
        <p:txBody>
          <a:bodyPr>
            <a:normAutofit/>
          </a:bodyPr>
          <a:lstStyle/>
          <a:p>
            <a:pPr algn="l"/>
            <a:r>
              <a:rPr lang="en-IN" sz="3000" b="1" dirty="0" smtClean="0"/>
              <a:t>Different ways to find out the element in Playwright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073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dirty="0" smtClean="0"/>
              <a:t>      One of the common way to find out the element in playwright is by using locator()   function. </a:t>
            </a:r>
          </a:p>
          <a:p>
            <a:pPr>
              <a:buNone/>
            </a:pPr>
            <a:r>
              <a:rPr lang="en-IN" sz="2000" dirty="0" smtClean="0"/>
              <a:t>     </a:t>
            </a:r>
            <a:r>
              <a:rPr lang="en-US" sz="2000" dirty="0" smtClean="0"/>
              <a:t>  </a:t>
            </a:r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       </a:t>
            </a:r>
            <a:r>
              <a:rPr lang="en-IN" sz="2000" b="1" dirty="0" smtClean="0"/>
              <a:t>Syntax:</a:t>
            </a:r>
            <a:r>
              <a:rPr lang="en-IN" sz="2000" dirty="0" smtClean="0"/>
              <a:t>  </a:t>
            </a:r>
            <a:r>
              <a:rPr lang="en-US" sz="2000" dirty="0" smtClean="0"/>
              <a:t>page.locator("id=email");</a:t>
            </a:r>
          </a:p>
          <a:p>
            <a:pPr>
              <a:buNone/>
            </a:pPr>
            <a:r>
              <a:rPr lang="en-IN" sz="2000" dirty="0" smtClean="0"/>
              <a:t>                      </a:t>
            </a:r>
            <a:r>
              <a:rPr lang="en-US" sz="2000" dirty="0" smtClean="0"/>
              <a:t>page.locator("name=email")</a:t>
            </a:r>
          </a:p>
          <a:p>
            <a:pPr>
              <a:buNone/>
            </a:pPr>
            <a:r>
              <a:rPr lang="en-IN" sz="2000" dirty="0" smtClean="0"/>
              <a:t>                      </a:t>
            </a:r>
            <a:r>
              <a:rPr lang="en-US" sz="2000" dirty="0" smtClean="0"/>
              <a:t>page.locator("xpath=//input[@id='email']") </a:t>
            </a:r>
            <a:r>
              <a:rPr lang="en-US" sz="2000" b="1" dirty="0" smtClean="0"/>
              <a:t>or</a:t>
            </a:r>
          </a:p>
          <a:p>
            <a:pPr>
              <a:buNone/>
            </a:pPr>
            <a:r>
              <a:rPr lang="en-IN" sz="2000" dirty="0" smtClean="0"/>
              <a:t>                      page.locator(</a:t>
            </a:r>
            <a:r>
              <a:rPr lang="en-US" sz="2000" dirty="0" smtClean="0"/>
              <a:t>"//input[@id='email']"</a:t>
            </a:r>
            <a:r>
              <a:rPr lang="en-IN" sz="2000" dirty="0" smtClean="0"/>
              <a:t>)</a:t>
            </a:r>
          </a:p>
          <a:p>
            <a:pPr>
              <a:buNone/>
            </a:pPr>
            <a:r>
              <a:rPr lang="en-IN" sz="2000" dirty="0" smtClean="0"/>
              <a:t>                      page.locator(</a:t>
            </a:r>
            <a:r>
              <a:rPr lang="en-US" sz="2000" dirty="0" smtClean="0"/>
              <a:t>"css=[id='email']"</a:t>
            </a:r>
            <a:r>
              <a:rPr lang="en-IN" sz="2000" dirty="0" smtClean="0"/>
              <a:t>) </a:t>
            </a:r>
            <a:r>
              <a:rPr lang="en-IN" sz="2000" b="1" dirty="0" smtClean="0"/>
              <a:t>or</a:t>
            </a:r>
          </a:p>
          <a:p>
            <a:pPr>
              <a:buNone/>
            </a:pPr>
            <a:r>
              <a:rPr lang="en-IN" sz="2000" b="1" dirty="0" smtClean="0"/>
              <a:t>                      </a:t>
            </a:r>
            <a:r>
              <a:rPr lang="en-IN" sz="2000" dirty="0" smtClean="0"/>
              <a:t>page.locator(</a:t>
            </a:r>
            <a:r>
              <a:rPr lang="en-US" sz="2000" dirty="0" smtClean="0"/>
              <a:t>"[id='email']"</a:t>
            </a:r>
            <a:r>
              <a:rPr lang="en-IN" sz="2000" dirty="0" smtClean="0"/>
              <a:t>) </a:t>
            </a:r>
          </a:p>
          <a:p>
            <a:pPr>
              <a:buNone/>
            </a:pPr>
            <a:r>
              <a:rPr lang="en-IN" sz="2000" b="1" dirty="0" smtClean="0"/>
              <a:t>   </a:t>
            </a:r>
            <a:endParaRPr lang="en-US" sz="2000" b="1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Entering the value into textbox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dirty="0" smtClean="0"/>
              <a:t>       In Playwright, both </a:t>
            </a:r>
            <a:r>
              <a:rPr lang="en-US" sz="1800" b="1" dirty="0" smtClean="0"/>
              <a:t>fill()</a:t>
            </a:r>
            <a:r>
              <a:rPr lang="en-US" sz="1800" dirty="0" smtClean="0"/>
              <a:t> and </a:t>
            </a:r>
            <a:r>
              <a:rPr lang="en-US" sz="1800" b="1" dirty="0" smtClean="0"/>
              <a:t>type()</a:t>
            </a:r>
            <a:r>
              <a:rPr lang="en-US" sz="1800" dirty="0" smtClean="0"/>
              <a:t> are used to enter text into input fields, but they have different behaviors and use cases.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      </a:t>
            </a:r>
            <a:r>
              <a:rPr lang="en-US" sz="1800" dirty="0" smtClean="0"/>
              <a:t>1. </a:t>
            </a:r>
            <a:r>
              <a:rPr lang="en-US" sz="1800" b="1" u="sng" dirty="0" smtClean="0"/>
              <a:t>Using fill() </a:t>
            </a:r>
            <a:r>
              <a:rPr lang="en-US" sz="1800" dirty="0" smtClean="0"/>
              <a:t>→ Fastest &amp; Most Common</a:t>
            </a:r>
          </a:p>
          <a:p>
            <a:pPr>
              <a:buNone/>
            </a:pPr>
            <a:r>
              <a:rPr lang="en-IN" sz="1800" dirty="0" smtClean="0"/>
              <a:t>        </a:t>
            </a:r>
            <a:r>
              <a:rPr lang="en-US" sz="1800" dirty="0" smtClean="0"/>
              <a:t>Clears the text box and enters the value instantly.</a:t>
            </a:r>
            <a:endParaRPr lang="en-IN" sz="1800" dirty="0" smtClean="0"/>
          </a:p>
          <a:p>
            <a:pPr>
              <a:lnSpc>
                <a:spcPct val="160000"/>
              </a:lnSpc>
              <a:buNone/>
            </a:pPr>
            <a:r>
              <a:rPr lang="en-US" sz="1800" b="1" dirty="0" smtClean="0"/>
              <a:t>      Syntax: </a:t>
            </a:r>
            <a:r>
              <a:rPr lang="en-US" sz="1800" dirty="0" smtClean="0"/>
              <a:t>page.locator(“id=email").fill("myUsername");</a:t>
            </a:r>
          </a:p>
          <a:p>
            <a:pPr>
              <a:buNone/>
            </a:pPr>
            <a:r>
              <a:rPr lang="en-IN" sz="1800" dirty="0" smtClean="0"/>
              <a:t>       </a:t>
            </a:r>
          </a:p>
          <a:p>
            <a:pPr>
              <a:buNone/>
            </a:pPr>
            <a:r>
              <a:rPr lang="en-IN" sz="1800" dirty="0" smtClean="0"/>
              <a:t>      2</a:t>
            </a:r>
            <a:r>
              <a:rPr lang="en-IN" sz="1800" b="1" u="sng" dirty="0" smtClean="0"/>
              <a:t>. </a:t>
            </a:r>
            <a:r>
              <a:rPr lang="en-US" sz="1800" b="1" u="sng" dirty="0" smtClean="0"/>
              <a:t>Using type() </a:t>
            </a:r>
            <a:r>
              <a:rPr lang="en-US" sz="1800" dirty="0" smtClean="0"/>
              <a:t>→ Simulate Real User Typing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dirty="0" smtClean="0"/>
              <a:t>Types each character like a human (with optional delay).</a:t>
            </a:r>
          </a:p>
          <a:p>
            <a:pPr>
              <a:lnSpc>
                <a:spcPct val="160000"/>
              </a:lnSpc>
              <a:buNone/>
            </a:pPr>
            <a:r>
              <a:rPr lang="en-IN" sz="1800" dirty="0" smtClean="0"/>
              <a:t>      </a:t>
            </a:r>
            <a:r>
              <a:rPr lang="en-US" sz="1800" b="1" dirty="0" smtClean="0"/>
              <a:t>Syntax: </a:t>
            </a:r>
            <a:r>
              <a:rPr lang="en-US" sz="1800" dirty="0" smtClean="0"/>
              <a:t>page.locator(“id=email").type("myUsername");</a:t>
            </a:r>
          </a:p>
          <a:p>
            <a:pPr>
              <a:buNone/>
            </a:pPr>
            <a:r>
              <a:rPr lang="en-IN" sz="1800" dirty="0" smtClean="0"/>
              <a:t>       </a:t>
            </a:r>
          </a:p>
          <a:p>
            <a:pPr>
              <a:buNone/>
            </a:pPr>
            <a:r>
              <a:rPr lang="en-IN" sz="1800" dirty="0" smtClean="0"/>
              <a:t>     </a:t>
            </a:r>
            <a:r>
              <a:rPr lang="en-IN" sz="1800" b="1" dirty="0" smtClean="0"/>
              <a:t>Type with delay:</a:t>
            </a:r>
          </a:p>
          <a:p>
            <a:pPr>
              <a:lnSpc>
                <a:spcPct val="110000"/>
              </a:lnSpc>
              <a:buNone/>
            </a:pPr>
            <a:r>
              <a:rPr lang="en-IN" sz="1800" dirty="0" smtClean="0"/>
              <a:t>      </a:t>
            </a:r>
            <a:r>
              <a:rPr lang="en-US" sz="1800" b="1" dirty="0" smtClean="0"/>
              <a:t>Syntax: </a:t>
            </a:r>
            <a:r>
              <a:rPr lang="en-IN" sz="1800" dirty="0" smtClean="0"/>
              <a:t>page.locator("#username").type("myUsername", new Locator.TypeOptions().setDelay(500));  // 500 ms delay</a:t>
            </a:r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000" b="1" dirty="0" smtClean="0"/>
              <a:t>Basic Playwright Snippet for fill() vs. type() function </a:t>
            </a:r>
            <a:endParaRPr lang="en-US" sz="3000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229600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type() method with delay</a:t>
            </a:r>
            <a:endParaRPr lang="en-US" sz="32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84785"/>
            <a:ext cx="8229600" cy="4430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>
                <a:latin typeface="+mn-lt"/>
              </a:rPr>
              <a:t>Difference Between fill() Vs type() function</a:t>
            </a:r>
            <a:endParaRPr lang="en-US" sz="3200" b="1" dirty="0">
              <a:latin typeface="+mn-lt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67544" y="1772816"/>
          <a:ext cx="8229600" cy="3444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  <a:gridCol w="3240360"/>
                <a:gridCol w="30450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chemeClr val="tx1"/>
                          </a:solidFill>
                        </a:rPr>
                        <a:t>fill()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chemeClr val="tx1"/>
                          </a:solidFill>
                        </a:rPr>
                        <a:t>type()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b="0" dirty="0"/>
                        <a:t>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Clears the existing value and sets the new value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Types text character by character like a real user</a:t>
                      </a:r>
                      <a:endParaRPr lang="en-US" sz="17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 smtClean="0"/>
                        <a:t>Speed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n-NO" sz="1700" dirty="0" smtClean="0"/>
                        <a:t>Instant (fast, no typing delay)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Slower (types each character with optional delay)</a:t>
                      </a:r>
                      <a:endParaRPr lang="en-US" sz="17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 smtClean="0"/>
                        <a:t>Use Case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When you just want to set the value directly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When simulating realistic user typing</a:t>
                      </a:r>
                      <a:endParaRPr lang="en-US" sz="17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Clears Existing Text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Yes (automatically clears before filling)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No (it types after the existing text unless cleared)</a:t>
                      </a:r>
                      <a:endParaRPr lang="en-US" sz="17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Supports Delay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 smtClean="0"/>
                        <a:t>Not Supporting any delay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 smtClean="0"/>
                        <a:t>Yes, supports typing delay per character</a:t>
                      </a:r>
                      <a:endParaRPr lang="en-US" sz="17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click() and check() function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sz="1800" b="1" u="sng" dirty="0" smtClean="0"/>
              <a:t>click(): </a:t>
            </a:r>
            <a:r>
              <a:rPr lang="en-US" sz="1800" dirty="0" smtClean="0"/>
              <a:t>It clicks on any clickable element (button, link, check box, radio button, div, etc)</a:t>
            </a:r>
          </a:p>
          <a:p>
            <a:pPr>
              <a:lnSpc>
                <a:spcPct val="150000"/>
              </a:lnSpc>
              <a:buNone/>
            </a:pPr>
            <a:r>
              <a:rPr lang="en-IN" sz="1800" dirty="0" smtClean="0"/>
              <a:t>Syntax: page.locator(“id =buttonId").click();</a:t>
            </a:r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b="1" u="sng" dirty="0" smtClean="0"/>
              <a:t>Check(): </a:t>
            </a:r>
            <a:r>
              <a:rPr lang="en-US" sz="1800" dirty="0" smtClean="0"/>
              <a:t>This ensures that the checkbox or radio button is </a:t>
            </a:r>
            <a:r>
              <a:rPr lang="en-US" sz="1800" b="1" dirty="0" smtClean="0"/>
              <a:t>checked</a:t>
            </a:r>
            <a:r>
              <a:rPr lang="en-US" sz="1800" dirty="0" smtClean="0"/>
              <a:t> (only clicks if not          already checked). This we using only for Check box and Radio button.</a:t>
            </a:r>
          </a:p>
          <a:p>
            <a:pPr>
              <a:lnSpc>
                <a:spcPct val="150000"/>
              </a:lnSpc>
              <a:buNone/>
            </a:pPr>
            <a:r>
              <a:rPr lang="en-IN" sz="1800" dirty="0" smtClean="0"/>
              <a:t>Syntax: page.locator("#checkboxId").check();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u="sng" dirty="0" smtClean="0"/>
              <a:t>Note: </a:t>
            </a:r>
            <a:r>
              <a:rPr lang="en-IN" sz="1800" dirty="0" smtClean="0"/>
              <a:t>For Uncheck the checkbox: page.locator("#checkboxId").uncheck();</a:t>
            </a:r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lnSpc>
                <a:spcPct val="150000"/>
              </a:lnSpc>
              <a:buNone/>
            </a:pPr>
            <a:endParaRPr lang="en-IN" sz="1800" dirty="0" smtClean="0"/>
          </a:p>
          <a:p>
            <a:pPr>
              <a:lnSpc>
                <a:spcPct val="150000"/>
              </a:lnSpc>
              <a:buNone/>
            </a:pPr>
            <a:endParaRPr lang="en-US" sz="1800" dirty="0" smtClean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653136"/>
            <a:ext cx="648072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Checkbox Program with Assertion</a:t>
            </a:r>
            <a:endParaRPr lang="en-US" sz="32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992888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List of built-in locators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Page.getByRole() </a:t>
            </a:r>
            <a:r>
              <a:rPr lang="en-US" sz="1900" dirty="0" smtClean="0"/>
              <a:t>to locate by explicit and implicit accessibility attributes.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Page.getByText() </a:t>
            </a:r>
            <a:r>
              <a:rPr lang="en-US" sz="1900" dirty="0" smtClean="0"/>
              <a:t>to locate by text content.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Page.getByLabel() </a:t>
            </a:r>
            <a:r>
              <a:rPr lang="en-US" sz="1900" dirty="0" smtClean="0"/>
              <a:t>to locate a form control by associated label's text.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Page.getByPlaceholder() </a:t>
            </a:r>
            <a:r>
              <a:rPr lang="en-US" sz="1900" dirty="0" smtClean="0"/>
              <a:t>to locate an input by placeholder.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Page.getByAltText() </a:t>
            </a:r>
            <a:r>
              <a:rPr lang="en-US" sz="1900" dirty="0" smtClean="0"/>
              <a:t>to locate an element, usually image, by its text alternative.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Page.getByTitle() </a:t>
            </a:r>
            <a:r>
              <a:rPr lang="en-US" sz="1900" dirty="0" smtClean="0"/>
              <a:t>to locate an element by its title attribute.</a:t>
            </a:r>
          </a:p>
          <a:p>
            <a:pPr>
              <a:buFont typeface="Wingdings" pitchFamily="2" charset="2"/>
              <a:buChar char="Ø"/>
            </a:pPr>
            <a:r>
              <a:rPr lang="en-US" sz="1900" b="1" dirty="0" smtClean="0"/>
              <a:t>Page.getByTestId() </a:t>
            </a:r>
            <a:r>
              <a:rPr lang="en-US" sz="1900" dirty="0" smtClean="0"/>
              <a:t>to locate an element based on its data-testid attribute.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built-in locators basic program</a:t>
            </a:r>
            <a:endParaRPr lang="en-US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56792"/>
            <a:ext cx="82296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Working with Dropdown list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4056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800" dirty="0" smtClean="0"/>
              <a:t>       In </a:t>
            </a:r>
            <a:r>
              <a:rPr lang="en-US" sz="1800" b="1" dirty="0" smtClean="0"/>
              <a:t>Playwright</a:t>
            </a:r>
            <a:r>
              <a:rPr lang="en-US" sz="1800" dirty="0" smtClean="0"/>
              <a:t>, handling dropdown lists is quite straightforward and different from Selenium because Playwright does not require a special Select class. we can interact with dropdowns (i.e., &lt;select&gt; elements) using the </a:t>
            </a:r>
            <a:r>
              <a:rPr lang="en-US" sz="1800" b="1" dirty="0" smtClean="0"/>
              <a:t>selectOption() </a:t>
            </a:r>
            <a:r>
              <a:rPr lang="en-US" sz="1800" dirty="0" smtClean="0"/>
              <a:t>method.</a:t>
            </a:r>
            <a:endParaRPr lang="en-IN" sz="1800" dirty="0" smtClean="0"/>
          </a:p>
          <a:p>
            <a:pPr>
              <a:buNone/>
            </a:pPr>
            <a:r>
              <a:rPr lang="en-US" sz="1800" dirty="0" smtClean="0"/>
              <a:t>     </a:t>
            </a:r>
          </a:p>
          <a:p>
            <a:pPr>
              <a:buNone/>
            </a:pPr>
            <a:r>
              <a:rPr lang="en-US" sz="1800" dirty="0" smtClean="0"/>
              <a:t>             </a:t>
            </a:r>
            <a:r>
              <a:rPr lang="en-US" sz="1800" b="1" dirty="0" smtClean="0"/>
              <a:t>Syntax:</a:t>
            </a:r>
            <a:r>
              <a:rPr lang="en-US" sz="1800" dirty="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      page.locator("#day").selectOption("14");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      page.selectOption(“locatorValue", "optionValue");  </a:t>
            </a:r>
            <a:r>
              <a:rPr lang="en-US" sz="1700" dirty="0" smtClean="0">
                <a:solidFill>
                  <a:srgbClr val="00B050"/>
                </a:solidFill>
              </a:rPr>
              <a:t>//We can give value or text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IN" sz="1800" b="1" dirty="0" smtClean="0"/>
              <a:t>      Select by value</a:t>
            </a:r>
          </a:p>
          <a:p>
            <a:pPr>
              <a:buNone/>
            </a:pPr>
            <a:r>
              <a:rPr lang="en-IN" sz="1800" dirty="0" smtClean="0"/>
              <a:t>             page.selectOption("locatorvalue", "optionValue");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IN" sz="1800" b="1" dirty="0" smtClean="0"/>
              <a:t>      Select by visible text</a:t>
            </a:r>
          </a:p>
          <a:p>
            <a:pPr>
              <a:buNone/>
            </a:pPr>
            <a:r>
              <a:rPr lang="en-IN" sz="1800" dirty="0" smtClean="0"/>
              <a:t>             page.selectOption(“locatorvalue", new SelectOption().setLabel("Option Text"));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IN" sz="1800" dirty="0" smtClean="0"/>
              <a:t>      </a:t>
            </a:r>
            <a:r>
              <a:rPr lang="en-IN" sz="1800" b="1" dirty="0" smtClean="0"/>
              <a:t>Select by index</a:t>
            </a:r>
          </a:p>
          <a:p>
            <a:pPr>
              <a:buNone/>
            </a:pPr>
            <a:r>
              <a:rPr lang="en-IN" sz="1800" dirty="0" smtClean="0"/>
              <a:t>             page.selectOption("locatorvalue", new SelectOption().setIndex(1));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Dropdown Program</a:t>
            </a:r>
            <a:endParaRPr lang="en-US" sz="32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229600" cy="409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908720"/>
          </a:xfrm>
        </p:spPr>
        <p:txBody>
          <a:bodyPr>
            <a:normAutofit/>
          </a:bodyPr>
          <a:lstStyle/>
          <a:p>
            <a:pPr algn="l"/>
            <a:r>
              <a:rPr lang="en-IN" sz="3100" b="1" dirty="0" smtClean="0"/>
              <a:t>Basic Methods/Commands in Playwright</a:t>
            </a:r>
            <a:endParaRPr lang="en-US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53344"/>
            <a:ext cx="8229600" cy="590465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1800" b="1" dirty="0" smtClean="0"/>
              <a:t>For Button:</a:t>
            </a:r>
            <a:endParaRPr lang="en-US" sz="1800" b="1" dirty="0" smtClean="0"/>
          </a:p>
          <a:p>
            <a:pPr>
              <a:lnSpc>
                <a:spcPct val="160000"/>
              </a:lnSpc>
              <a:buNone/>
            </a:pPr>
            <a:r>
              <a:rPr lang="en-US" sz="1800" dirty="0" smtClean="0"/>
              <a:t>Locator button = page.locator(“id =buttonId");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/>
              <a:t>button.click();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button.hover();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button.dblclick();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button.fill("Some text");        // Input fields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button.type("Some text");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button.press("Enter");           // Keyboard actions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IN" sz="1800" b="1" dirty="0" smtClean="0"/>
              <a:t>For Checkbox and Radio Button: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1800" dirty="0" smtClean="0"/>
              <a:t>page.locator("#checkboxId").click();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page.locator("#checkboxId").uncheck();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page.locator("#radioId").check();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b="1" dirty="0" smtClean="0"/>
              <a:t>For Dropdown List: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1800" dirty="0" smtClean="0"/>
              <a:t>page.locator("#dropdownId").selectOption("optionValue");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Program for Mouse Hover</a:t>
            </a:r>
            <a:endParaRPr lang="en-US" sz="32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12776"/>
            <a:ext cx="8229600" cy="4485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Navigation Command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page.navigate("https://growskillit.com");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page.goBack();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page.goForward();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page.reload();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852936"/>
            <a:ext cx="669674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980728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Validation Command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1256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isVisible(): </a:t>
            </a:r>
            <a:r>
              <a:rPr lang="en-US" sz="1800" dirty="0" smtClean="0"/>
              <a:t>To Validate Element is Visible or not</a:t>
            </a:r>
          </a:p>
          <a:p>
            <a:pPr>
              <a:buNone/>
            </a:pPr>
            <a:r>
              <a:rPr lang="en-IN" sz="1800" b="1" dirty="0" smtClean="0"/>
              <a:t>        Syntax: </a:t>
            </a:r>
            <a:r>
              <a:rPr lang="en-IN" sz="1800" dirty="0" smtClean="0"/>
              <a:t>locator.isVisible();</a:t>
            </a:r>
            <a:endParaRPr lang="en-US" sz="1800" dirty="0" smtClean="0"/>
          </a:p>
          <a:p>
            <a:pPr>
              <a:buNone/>
            </a:pPr>
            <a:r>
              <a:rPr lang="en-US" sz="1800" b="1" dirty="0" smtClean="0"/>
              <a:t>        Syntax with Assertion:</a:t>
            </a:r>
            <a:r>
              <a:rPr lang="en-US" sz="1800" dirty="0" smtClean="0"/>
              <a:t> assertTrue(page.locator("text=Login").isVisible());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isEnabled(): </a:t>
            </a:r>
            <a:r>
              <a:rPr lang="en-US" sz="1800" dirty="0" smtClean="0"/>
              <a:t>To Verify Button is Enabled or not.</a:t>
            </a:r>
          </a:p>
          <a:p>
            <a:pPr>
              <a:buNone/>
            </a:pPr>
            <a:r>
              <a:rPr lang="en-IN" sz="1800" dirty="0" smtClean="0"/>
              <a:t>        </a:t>
            </a:r>
            <a:r>
              <a:rPr lang="en-IN" sz="1800" b="1" dirty="0" smtClean="0"/>
              <a:t>Syntax:</a:t>
            </a:r>
            <a:r>
              <a:rPr lang="en-IN" sz="1800" dirty="0" smtClean="0"/>
              <a:t> assertTrue(page.locator("#submitBtn").isEnabled());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isDisabled(): </a:t>
            </a:r>
            <a:r>
              <a:rPr lang="en-US" sz="1800" dirty="0" smtClean="0"/>
              <a:t>To Verify Button is Disabled or not.</a:t>
            </a:r>
          </a:p>
          <a:p>
            <a:pPr>
              <a:buNone/>
            </a:pPr>
            <a:r>
              <a:rPr lang="en-IN" sz="1800" dirty="0" smtClean="0"/>
              <a:t>        </a:t>
            </a:r>
            <a:r>
              <a:rPr lang="en-IN" sz="1800" b="1" dirty="0" smtClean="0"/>
              <a:t>Syntax:</a:t>
            </a:r>
            <a:r>
              <a:rPr lang="en-IN" sz="1800" dirty="0" smtClean="0"/>
              <a:t> assertTrue(page.locator("#submitBtn").isDisabled();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isChecked(): </a:t>
            </a:r>
            <a:r>
              <a:rPr lang="en-US" sz="1800" dirty="0" smtClean="0"/>
              <a:t>To verify the Checkbox is Checked or not</a:t>
            </a: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        </a:t>
            </a:r>
            <a:r>
              <a:rPr lang="en-IN" sz="1800" b="1" dirty="0" smtClean="0"/>
              <a:t>Syntax:</a:t>
            </a:r>
            <a:r>
              <a:rPr lang="en-IN" sz="1800" dirty="0" smtClean="0"/>
              <a:t>  assertTrue(page.locator("#rememberMe").isChecked());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isEditable (): </a:t>
            </a:r>
            <a:r>
              <a:rPr lang="en-US" sz="1800" dirty="0" smtClean="0"/>
              <a:t>To verify the Textbox and any test field is Editable or not</a:t>
            </a: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        </a:t>
            </a:r>
            <a:r>
              <a:rPr lang="en-IN" sz="1800" b="1" dirty="0" smtClean="0"/>
              <a:t>Syntax:</a:t>
            </a:r>
            <a:r>
              <a:rPr lang="en-IN" sz="1800" dirty="0" smtClean="0"/>
              <a:t>  assertTrue(page.locator("#rememberMe").isEditable());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getAttribute(): </a:t>
            </a:r>
            <a:r>
              <a:rPr lang="en-US" sz="1800" dirty="0" smtClean="0"/>
              <a:t>To get the attribute value of element.</a:t>
            </a:r>
          </a:p>
          <a:p>
            <a:pPr>
              <a:buNone/>
            </a:pPr>
            <a:r>
              <a:rPr lang="en-US" sz="1800" b="1" dirty="0" smtClean="0"/>
              <a:t>       Syntax:</a:t>
            </a:r>
            <a:r>
              <a:rPr lang="en-US" sz="1800" dirty="0" smtClean="0"/>
              <a:t> String placeholder = page.locator("#username").getAttribute("placeholder");</a:t>
            </a:r>
          </a:p>
          <a:p>
            <a:pPr>
              <a:buNone/>
            </a:pPr>
            <a:r>
              <a:rPr lang="en-US" sz="1800" dirty="0" smtClean="0"/>
              <a:t>       assertEquals("Enter Username", placeholder);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textContent ():</a:t>
            </a:r>
            <a:r>
              <a:rPr lang="en-US" sz="1800" dirty="0" smtClean="0"/>
              <a:t> To get the name/text of the Element.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b="1" dirty="0" smtClean="0"/>
              <a:t>Syntax: </a:t>
            </a:r>
            <a:r>
              <a:rPr lang="en-US" sz="1800" dirty="0" smtClean="0"/>
              <a:t>locator.textContent();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dirty="0" smtClean="0"/>
              <a:t>assertEquals("Welcome", page.locator("h1").textContent());</a:t>
            </a:r>
          </a:p>
          <a:p>
            <a:pPr>
              <a:buNone/>
            </a:pPr>
            <a:endParaRPr lang="en-IN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count(): </a:t>
            </a:r>
            <a:r>
              <a:rPr lang="en-US" sz="1800" dirty="0" smtClean="0"/>
              <a:t>To count the number of element in webpage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b="1" dirty="0" smtClean="0"/>
              <a:t>Syntax:  </a:t>
            </a:r>
            <a:r>
              <a:rPr lang="en-US" sz="1800" dirty="0" smtClean="0"/>
              <a:t>locator.count();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dirty="0" smtClean="0"/>
              <a:t>int linkCount = page.locator("a").count();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dirty="0" smtClean="0"/>
              <a:t>assertTrue(page.locator(".item").count() &gt; 0);</a:t>
            </a:r>
          </a:p>
          <a:p>
            <a:pPr>
              <a:buNone/>
            </a:pPr>
            <a:r>
              <a:rPr lang="en-IN" sz="1800" dirty="0" smtClean="0"/>
              <a:t>       </a:t>
            </a:r>
            <a:r>
              <a:rPr lang="en-US" sz="1800" dirty="0" smtClean="0"/>
              <a:t>assertEquals(3, page.locator(".card").count());</a:t>
            </a:r>
          </a:p>
          <a:p>
            <a:pPr>
              <a:buNone/>
            </a:pPr>
            <a:r>
              <a:rPr lang="en-US" sz="1800" dirty="0" smtClean="0"/>
              <a:t>       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>
            <a:normAutofit/>
          </a:bodyPr>
          <a:lstStyle/>
          <a:p>
            <a:r>
              <a:rPr lang="en-IN" sz="2400" b="1" dirty="0" smtClean="0"/>
              <a:t>Playwright program for printing all the link name in application</a:t>
            </a:r>
            <a:endParaRPr lang="en-US" sz="24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40768"/>
            <a:ext cx="8229600" cy="483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dirty="0" smtClean="0"/>
              <a:t>Junit Assertions </a:t>
            </a:r>
            <a:endParaRPr lang="en-US" sz="36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8208912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 smtClean="0"/>
              <a:t>Wait Method in Playwright (Synchronization)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 smtClean="0"/>
              <a:t>page.waitForLoadState(): </a:t>
            </a:r>
            <a:r>
              <a:rPr lang="en-US" sz="2000" dirty="0" smtClean="0"/>
              <a:t>This command waits until the page reaches a specific loading state before moving to the next step in your script.</a:t>
            </a:r>
          </a:p>
          <a:p>
            <a:pPr>
              <a:lnSpc>
                <a:spcPct val="200000"/>
              </a:lnSpc>
              <a:buNone/>
            </a:pPr>
            <a:r>
              <a:rPr lang="en-US" sz="2000" b="1" dirty="0" smtClean="0"/>
              <a:t>Syntax:</a:t>
            </a:r>
            <a:r>
              <a:rPr lang="en-US" sz="2000" dirty="0" smtClean="0"/>
              <a:t> page.waitForLoadState();  </a:t>
            </a:r>
            <a:r>
              <a:rPr lang="en-US" sz="2000" dirty="0" smtClean="0">
                <a:solidFill>
                  <a:srgbClr val="00B050"/>
                </a:solidFill>
              </a:rPr>
              <a:t>// Waits until the page is fully loaded</a:t>
            </a:r>
            <a:r>
              <a:rPr lang="en-US" sz="2000" dirty="0" smtClean="0"/>
              <a:t> 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page.waitForTimeout(2000):</a:t>
            </a:r>
            <a:r>
              <a:rPr lang="en-US" sz="2000" dirty="0" smtClean="0"/>
              <a:t> This command waits for a fixed amount of time (in milliseconds) before proceeding.</a:t>
            </a:r>
          </a:p>
          <a:p>
            <a:pPr>
              <a:buNone/>
            </a:pPr>
            <a:r>
              <a:rPr lang="en-US" sz="1800" dirty="0" smtClean="0"/>
              <a:t>Note: It's basically a </a:t>
            </a:r>
            <a:r>
              <a:rPr lang="en-US" sz="1800" b="1" dirty="0" smtClean="0"/>
              <a:t>hard wait or Thread.sleep()</a:t>
            </a:r>
            <a:r>
              <a:rPr lang="en-US" sz="1800" dirty="0" smtClean="0"/>
              <a:t>.</a:t>
            </a:r>
            <a:endParaRPr lang="en-IN" sz="1800" dirty="0" smtClean="0"/>
          </a:p>
          <a:p>
            <a:pPr>
              <a:lnSpc>
                <a:spcPct val="200000"/>
              </a:lnSpc>
              <a:buNone/>
            </a:pPr>
            <a:r>
              <a:rPr lang="en-US" sz="1800" b="1" dirty="0" smtClean="0"/>
              <a:t>Syntax: </a:t>
            </a:r>
            <a:r>
              <a:rPr lang="en-US" sz="1800" dirty="0" smtClean="0"/>
              <a:t>page.waitForTimeout(2000);   </a:t>
            </a:r>
            <a:r>
              <a:rPr lang="en-US" sz="1800" dirty="0" smtClean="0">
                <a:solidFill>
                  <a:srgbClr val="00B050"/>
                </a:solidFill>
              </a:rPr>
              <a:t>// Waits for 2 seconds (2000 ms)</a:t>
            </a:r>
            <a:endParaRPr lang="en-US" sz="1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0872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Handling Frames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648072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IN" sz="2200" dirty="0" smtClean="0"/>
              <a:t>The simple way to handle the frames in playwright is using </a:t>
            </a:r>
            <a:r>
              <a:rPr lang="en-IN" sz="2200" b="1" dirty="0" smtClean="0"/>
              <a:t>frameLocator()</a:t>
            </a:r>
          </a:p>
          <a:p>
            <a:pPr>
              <a:buNone/>
            </a:pPr>
            <a:endParaRPr lang="en-IN" sz="2200" b="1" dirty="0" smtClean="0"/>
          </a:p>
          <a:p>
            <a:pPr>
              <a:buNone/>
            </a:pPr>
            <a:endParaRPr lang="en-IN" sz="2200" b="1" dirty="0" smtClean="0"/>
          </a:p>
          <a:p>
            <a:pPr>
              <a:buNone/>
            </a:pPr>
            <a:endParaRPr lang="en-US" sz="22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8280920" cy="4930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Screenshot in Playwright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2941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   </a:t>
            </a:r>
            <a:r>
              <a:rPr lang="en-US" sz="1800" dirty="0" smtClean="0"/>
              <a:t>In Playwright, taking a screenshot is very simple and useful for debugging or visual regression testing. Below are the syntax for capturing the screenshot in playwright.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b="1" dirty="0" smtClean="0"/>
              <a:t>Syntax:  </a:t>
            </a:r>
            <a:r>
              <a:rPr lang="en-US" sz="1800" dirty="0" smtClean="0"/>
              <a:t>page.screenshot(new Page.ScreenshotOptions()</a:t>
            </a:r>
            <a:br>
              <a:rPr lang="en-US" sz="1800" dirty="0" smtClean="0"/>
            </a:br>
            <a:r>
              <a:rPr lang="en-US" sz="1800" dirty="0" smtClean="0"/>
              <a:t>       .setPath(Paths.get("screenshot.png")));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We can </a:t>
            </a:r>
            <a:r>
              <a:rPr lang="en-US" sz="1800" dirty="0" smtClean="0"/>
              <a:t>use a folder like /screenshots/  or custom folder to keep them organized: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r>
              <a:rPr lang="en-IN" sz="1800" b="1" dirty="0" smtClean="0"/>
              <a:t>Syntax:  </a:t>
            </a:r>
            <a:r>
              <a:rPr lang="en-US" sz="1800" dirty="0" smtClean="0"/>
              <a:t>page.screenshot(new Page.ScreenshotOptions()</a:t>
            </a:r>
            <a:br>
              <a:rPr lang="en-US" sz="1800" dirty="0" smtClean="0"/>
            </a:br>
            <a:r>
              <a:rPr lang="en-US" sz="1800" dirty="0" smtClean="0"/>
              <a:t>       .setPath(Paths.get("/screenshot/homepage.png")));  </a:t>
            </a:r>
          </a:p>
          <a:p>
            <a:pPr>
              <a:buNone/>
            </a:pPr>
            <a:r>
              <a:rPr lang="en-US" sz="1800" b="1" dirty="0" smtClean="0"/>
              <a:t>                                        or</a:t>
            </a:r>
            <a:endParaRPr lang="en-IN" sz="1800" dirty="0" smtClean="0"/>
          </a:p>
          <a:p>
            <a:pPr>
              <a:buNone/>
            </a:pPr>
            <a:r>
              <a:rPr lang="en-US" sz="1800" dirty="0" smtClean="0"/>
              <a:t>              String p = "screenshots/"+page.title()+".png";</a:t>
            </a:r>
          </a:p>
          <a:p>
            <a:pPr>
              <a:buNone/>
            </a:pPr>
            <a:r>
              <a:rPr lang="en-US" sz="1800" dirty="0" smtClean="0"/>
              <a:t>              page.screenshot(</a:t>
            </a:r>
            <a:r>
              <a:rPr lang="en-US" sz="1800" b="1" dirty="0" smtClean="0"/>
              <a:t>new</a:t>
            </a:r>
            <a:r>
              <a:rPr lang="en-US" sz="1800" dirty="0" smtClean="0"/>
              <a:t> Page.ScreenshotOptions().setPath(Path.</a:t>
            </a:r>
            <a:r>
              <a:rPr lang="en-US" sz="1800" i="1" dirty="0" smtClean="0"/>
              <a:t>of</a:t>
            </a:r>
            <a:r>
              <a:rPr lang="en-US" sz="1800" dirty="0" smtClean="0"/>
              <a:t>(p)));</a:t>
            </a:r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IN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435280" cy="557748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000" b="1" dirty="0" smtClean="0"/>
              <a:t>Taking Screenshot of full page:</a:t>
            </a:r>
          </a:p>
          <a:p>
            <a:pPr>
              <a:lnSpc>
                <a:spcPct val="150000"/>
              </a:lnSpc>
              <a:buNone/>
            </a:pPr>
            <a:r>
              <a:rPr lang="en-IN" sz="1800" dirty="0" smtClean="0"/>
              <a:t>In Playwright we can take the screenshot of full page/application by using below command.</a:t>
            </a:r>
          </a:p>
          <a:p>
            <a:pPr>
              <a:buNone/>
            </a:pPr>
            <a:r>
              <a:rPr lang="en-IN" sz="1800" b="1" dirty="0" smtClean="0"/>
              <a:t>Syntax:  </a:t>
            </a:r>
            <a:r>
              <a:rPr lang="en-US" sz="1800" dirty="0" smtClean="0"/>
              <a:t>page.screenshot(new Page.ScreenshotOptions().setPath(Paths.</a:t>
            </a:r>
            <a:r>
              <a:rPr lang="en-US" sz="1800" i="1" dirty="0" smtClean="0"/>
              <a:t>get</a:t>
            </a:r>
            <a:r>
              <a:rPr lang="en-US" sz="1800" dirty="0" smtClean="0"/>
              <a:t>("screenshot1.png")).setFullPage(true));</a:t>
            </a:r>
          </a:p>
          <a:p>
            <a:pPr>
              <a:buNone/>
            </a:pPr>
            <a:endParaRPr lang="en-US" sz="1100" dirty="0" smtClean="0"/>
          </a:p>
          <a:p>
            <a:pPr>
              <a:buFont typeface="Wingdings" pitchFamily="2" charset="2"/>
              <a:buChar char="Ø"/>
            </a:pPr>
            <a:endParaRPr lang="en-IN" sz="2000" b="1" dirty="0" smtClean="0"/>
          </a:p>
          <a:p>
            <a:pPr>
              <a:buFont typeface="Wingdings" pitchFamily="2" charset="2"/>
              <a:buChar char="Ø"/>
            </a:pPr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 Specific Element Screenshot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 smtClean="0"/>
              <a:t>Syntax:  </a:t>
            </a:r>
            <a:r>
              <a:rPr lang="en-US" sz="1800" dirty="0" smtClean="0"/>
              <a:t>Locator logo = page.locator("img#logo");</a:t>
            </a:r>
          </a:p>
          <a:p>
            <a:pPr>
              <a:buNone/>
            </a:pPr>
            <a:r>
              <a:rPr lang="en-US" sz="1800" dirty="0" smtClean="0"/>
              <a:t>logo.screenshot(new Locator.ScreenshotOptions().setPath(Paths.get("logo.png")));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620688"/>
            <a:ext cx="8892480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BrowserContext option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13384"/>
            <a:ext cx="7787208" cy="554461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sz="2900" b="1" u="sng" dirty="0" smtClean="0"/>
              <a:t>For maximizing the Browser</a:t>
            </a:r>
          </a:p>
          <a:p>
            <a:pPr>
              <a:lnSpc>
                <a:spcPct val="170000"/>
              </a:lnSpc>
              <a:buNone/>
            </a:pPr>
            <a:r>
              <a:rPr lang="en-US" sz="2700" b="1" dirty="0" smtClean="0"/>
              <a:t>Syntax: </a:t>
            </a:r>
            <a:r>
              <a:rPr lang="en-US" sz="2700" dirty="0" smtClean="0"/>
              <a:t>BrowserContext context = browser.newContext(new Browser.NewContextOptions().setViewportSize(1920, 1080));   // sets browser window size</a:t>
            </a:r>
          </a:p>
          <a:p>
            <a:pPr>
              <a:buNone/>
            </a:pPr>
            <a:endParaRPr lang="en-IN" sz="2700" dirty="0" smtClean="0"/>
          </a:p>
          <a:p>
            <a:pPr>
              <a:buFont typeface="Wingdings" pitchFamily="2" charset="2"/>
              <a:buChar char="Ø"/>
            </a:pPr>
            <a:r>
              <a:rPr lang="en-US" sz="2700" dirty="0" smtClean="0"/>
              <a:t>browser.newContext() -&gt; This creates a new browser context. A browser context is like a fresh browser profile. or It creates a new isolated browser session.</a:t>
            </a:r>
          </a:p>
          <a:p>
            <a:pPr>
              <a:buFont typeface="Wingdings" pitchFamily="2" charset="2"/>
              <a:buChar char="Ø"/>
            </a:pPr>
            <a:r>
              <a:rPr lang="en-US" sz="2700" dirty="0" smtClean="0"/>
              <a:t>new Browser.NewContextOptions() -&gt; Specifies configuration options for that session.</a:t>
            </a:r>
          </a:p>
          <a:p>
            <a:pPr>
              <a:buFont typeface="Wingdings" pitchFamily="2" charset="2"/>
              <a:buChar char="Ø"/>
            </a:pPr>
            <a:r>
              <a:rPr lang="en-US" sz="2700" dirty="0" smtClean="0"/>
              <a:t>setViewportSize(1920, 1080) -&gt; Sets the visible page area to (1920px × 1080px)</a:t>
            </a:r>
          </a:p>
          <a:p>
            <a:endParaRPr lang="en-IN" sz="2700" dirty="0" smtClean="0"/>
          </a:p>
          <a:p>
            <a:pPr>
              <a:buNone/>
            </a:pPr>
            <a:r>
              <a:rPr lang="en-IN" sz="2900" b="1" u="sng" dirty="0" smtClean="0"/>
              <a:t>For Video Recording:</a:t>
            </a:r>
          </a:p>
          <a:p>
            <a:pPr>
              <a:lnSpc>
                <a:spcPct val="170000"/>
              </a:lnSpc>
              <a:buNone/>
            </a:pPr>
            <a:r>
              <a:rPr lang="en-IN" sz="2700" b="1" dirty="0" smtClean="0"/>
              <a:t>Syntax: </a:t>
            </a:r>
            <a:r>
              <a:rPr lang="en-US" sz="2700" dirty="0" smtClean="0"/>
              <a:t>BrowserContext context = browser.newContext(new Browser.NewContextOptions().setRecordVideoDir(Paths.</a:t>
            </a:r>
            <a:r>
              <a:rPr lang="en-US" sz="2700" i="1" dirty="0" smtClean="0"/>
              <a:t>get</a:t>
            </a:r>
            <a:r>
              <a:rPr lang="en-US" sz="2700" dirty="0" smtClean="0"/>
              <a:t>("videoRec/")));</a:t>
            </a:r>
          </a:p>
          <a:p>
            <a:pPr>
              <a:buNone/>
            </a:pPr>
            <a:endParaRPr lang="en-US" sz="2000" b="1" dirty="0" smtClean="0"/>
          </a:p>
          <a:p>
            <a:endParaRPr lang="en-US" sz="2000" dirty="0" smtClean="0"/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  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0"/>
            <a:ext cx="8013576" cy="1143000"/>
          </a:xfrm>
        </p:spPr>
        <p:txBody>
          <a:bodyPr>
            <a:normAutofit/>
          </a:bodyPr>
          <a:lstStyle/>
          <a:p>
            <a:pPr algn="l"/>
            <a:r>
              <a:rPr lang="en-IN" sz="3200" b="1" dirty="0" smtClean="0"/>
              <a:t>Playwright Codegen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/>
              <a:t>      In </a:t>
            </a:r>
            <a:r>
              <a:rPr lang="en-US" sz="1800" b="1" dirty="0" smtClean="0"/>
              <a:t>Playwright</a:t>
            </a:r>
            <a:r>
              <a:rPr lang="en-US" sz="1800" dirty="0" smtClean="0"/>
              <a:t>, the codegen functionality is a powerful feature that helps you automatically generate test scripts by recording your actions in the browser.</a:t>
            </a:r>
          </a:p>
          <a:p>
            <a:pPr>
              <a:buNone/>
            </a:pPr>
            <a:r>
              <a:rPr lang="en-IN" sz="1800" dirty="0" smtClean="0"/>
              <a:t> </a:t>
            </a:r>
          </a:p>
          <a:p>
            <a:pPr>
              <a:buNone/>
            </a:pPr>
            <a:r>
              <a:rPr lang="en-IN" sz="2000" b="1" dirty="0" smtClean="0"/>
              <a:t>How Playwright Codegen works: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dirty="0" smtClean="0"/>
              <a:t>Opens a browser.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Records all your interactions (clicks, typing, navigation, etc.).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Generates Playwright code (in Java, JavaScript, Python, or C#).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Helps you build automation scripts quickly without writing code manually.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None/>
            </a:pPr>
            <a:r>
              <a:rPr lang="en-IN" sz="2000" b="1" dirty="0" smtClean="0"/>
              <a:t>Command To Use Codegen</a:t>
            </a:r>
          </a:p>
          <a:p>
            <a:pPr>
              <a:buNone/>
            </a:pPr>
            <a:r>
              <a:rPr lang="da-DK" sz="1800" b="1" dirty="0" smtClean="0"/>
              <a:t>Syntax:   </a:t>
            </a:r>
            <a:r>
              <a:rPr lang="da-DK" sz="1800" dirty="0" smtClean="0"/>
              <a:t>page.navigate("https://www.bankofamerica.com/");</a:t>
            </a:r>
          </a:p>
          <a:p>
            <a:pPr>
              <a:buNone/>
            </a:pPr>
            <a:r>
              <a:rPr lang="da-DK" sz="1800" dirty="0" smtClean="0"/>
              <a:t>                page.pause();    </a:t>
            </a:r>
            <a:r>
              <a:rPr lang="da-DK" sz="1700" dirty="0" smtClean="0">
                <a:solidFill>
                  <a:srgbClr val="00B050"/>
                </a:solidFill>
              </a:rPr>
              <a:t>//For starting Codegen</a:t>
            </a:r>
          </a:p>
          <a:p>
            <a:pPr>
              <a:buNone/>
            </a:pPr>
            <a:endParaRPr lang="da-DK" sz="1800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1800" b="1" dirty="0" smtClean="0"/>
              <a:t>Note: </a:t>
            </a:r>
            <a:r>
              <a:rPr lang="en-US" sz="1800" dirty="0" smtClean="0"/>
              <a:t>By using above command This opens a browser and starts recording. As you        interact with the page, Playwright shows the equivalent code in real-time.</a:t>
            </a:r>
            <a:endParaRPr lang="da-DK" sz="1800" dirty="0" smtClean="0">
              <a:solidFill>
                <a:srgbClr val="00B050"/>
              </a:solidFill>
            </a:endParaRPr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/>
              <a:t>Why to use Codegen: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800" b="1" dirty="0" smtClean="0"/>
              <a:t>Faster test creation</a:t>
            </a:r>
            <a:r>
              <a:rPr lang="en-US" sz="1800" dirty="0" smtClean="0"/>
              <a:t> – saves time.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Accurate selectors</a:t>
            </a:r>
            <a:r>
              <a:rPr lang="en-US" sz="1800" dirty="0" smtClean="0"/>
              <a:t> – Playwright picks the best selectors (e.g., getByRole, getByText).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 smtClean="0"/>
              <a:t>Learning tool</a:t>
            </a:r>
            <a:r>
              <a:rPr lang="en-US" sz="1800" dirty="0" smtClean="0"/>
              <a:t> – great for beginners to understand how to write Playwright scripts.</a:t>
            </a:r>
          </a:p>
          <a:p>
            <a:pPr>
              <a:buFont typeface="Wingdings" pitchFamily="2" charset="2"/>
              <a:buChar char="Ø"/>
            </a:pPr>
            <a:endParaRPr lang="en-IN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492896"/>
            <a:ext cx="7416824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 smtClean="0"/>
              <a:t>Playwright Codegen</a:t>
            </a: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40769"/>
            <a:ext cx="8229600" cy="48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2060</Words>
  <Application>Microsoft Office PowerPoint</Application>
  <PresentationFormat>On-screen Show (4:3)</PresentationFormat>
  <Paragraphs>300</Paragraphs>
  <Slides>37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PowerPoint Presentation</vt:lpstr>
      <vt:lpstr>What is Playwright</vt:lpstr>
      <vt:lpstr>Advantages of Playwright</vt:lpstr>
      <vt:lpstr>Advantages of Playwright</vt:lpstr>
      <vt:lpstr>Limitation of Playwright</vt:lpstr>
      <vt:lpstr>Playwright Installation and Setup</vt:lpstr>
      <vt:lpstr>Playwright First Program</vt:lpstr>
      <vt:lpstr>Note:  By default, Playwright runs the browsers in headless mode. To see the browser UI, setHeadless option to false</vt:lpstr>
      <vt:lpstr>Working with Multiple Browser in Playwright</vt:lpstr>
      <vt:lpstr>Fetching the Application Title and URL in Playwright </vt:lpstr>
      <vt:lpstr>Different ways to find out the element in Playwright</vt:lpstr>
      <vt:lpstr>Entering the value into textbox</vt:lpstr>
      <vt:lpstr>Basic Playwright Snippet for fill() vs. type() function </vt:lpstr>
      <vt:lpstr>type() method with delay</vt:lpstr>
      <vt:lpstr>Difference Between fill() Vs type() function</vt:lpstr>
      <vt:lpstr>click() and check() function in playwright</vt:lpstr>
      <vt:lpstr>Playwright Checkbox Program with Assertion</vt:lpstr>
      <vt:lpstr>List of built-in locators in Playwright</vt:lpstr>
      <vt:lpstr>Playwright built-in locators basic program</vt:lpstr>
      <vt:lpstr>Working with Dropdown list in Playwright</vt:lpstr>
      <vt:lpstr>Playwright Dropdown Program</vt:lpstr>
      <vt:lpstr>Basic Methods/Commands in Playwright</vt:lpstr>
      <vt:lpstr>Playwright Program for Mouse Hover</vt:lpstr>
      <vt:lpstr>Navigation Command in Playwright</vt:lpstr>
      <vt:lpstr>Validation Command in Playwright</vt:lpstr>
      <vt:lpstr>PowerPoint Presentation</vt:lpstr>
      <vt:lpstr>Playwright program for printing all the link name in application</vt:lpstr>
      <vt:lpstr>Junit Assertions </vt:lpstr>
      <vt:lpstr>Wait Method in Playwright (Synchronization)</vt:lpstr>
      <vt:lpstr>Handling Frames in Playwright</vt:lpstr>
      <vt:lpstr>Screenshot in Playwright</vt:lpstr>
      <vt:lpstr>PowerPoint Presentation</vt:lpstr>
      <vt:lpstr>PowerPoint Presentation</vt:lpstr>
      <vt:lpstr>BrowserContext option</vt:lpstr>
      <vt:lpstr>Playwright Codegen</vt:lpstr>
      <vt:lpstr>PowerPoint Presentation</vt:lpstr>
      <vt:lpstr>Playwright Codegen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Manas Tuwani</dc:creator>
  <cp:lastModifiedBy>Admin</cp:lastModifiedBy>
  <cp:revision>135</cp:revision>
  <dcterms:created xsi:type="dcterms:W3CDTF">2025-07-06T18:06:56Z</dcterms:created>
  <dcterms:modified xsi:type="dcterms:W3CDTF">2026-03-01T06:27:41Z</dcterms:modified>
</cp:coreProperties>
</file>