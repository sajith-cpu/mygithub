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FE16A-4FC5-0293-A1FD-AB7C63E72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A6686D-FD76-8E5B-D3FB-11EBCD07F5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6C1E51-7895-1EF7-BA14-632175EBC6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72303-1958-F271-7AD5-50F9CCBEAE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EEEFF6-809A-178B-E4FF-91C897EF6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45273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71933-72C2-8632-7F6E-C9C49DD9C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D65DAB-88A0-09F2-90A6-4D2792D4E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87C0FD-6209-73A8-053B-CCF67F4471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3D316D-4EBC-A0D4-445C-9207456D6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B2632-4F7C-616B-406C-F5D6E048C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25625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024D8E-964C-8DB0-9B15-B7257C9AED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0D1985-DDC5-7921-CB6F-217AEAC893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EF5E5E6-C43C-ACA3-F417-71722B6104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BC631-6F87-FF49-96FA-0D1641B7B0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129D23-4897-6068-BE19-A2BA4C3C4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96410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BF865-9BBB-F89F-03B7-E0E409295C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788317-B447-005B-D61B-1EC68B1427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37F80-9713-6D0A-65BF-265594929E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BB02AF-2D17-71E2-9441-89E9A6CB04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64C62B-3EAD-859C-9E5D-04D564E74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A88197-25D9-C6E6-078B-5D9446813E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68371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78765B-886B-0E8B-D4D0-1410BD18DC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0F83B-1EB5-0236-BD28-1282B2677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DDF6A6-8DCE-B253-B927-E2DC6A083A3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FBD6DEC-AB15-65D1-E473-2DE01D9D40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1684370-1DB3-65F4-1269-9CFD8BD6FC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E79E13F-D6DF-2B41-D536-BC12D9DFE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028475A-B9FF-70FF-429C-AECCA83757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731E607-56D4-BEE6-3491-1472777D1D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822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1B801-2E1A-745D-C410-20A77F401A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C7F2C58-3799-9212-47C7-B1E15FDAB3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7D7F43C-B843-468B-E5F1-899795D789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330EB18-41F2-77C4-21D1-E58168E95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4341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E705F2-A321-9619-D68A-3C80D7E6A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4FE612-AD30-8E74-113D-1A6C9F808A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62327B6-9EED-45CF-4862-C00CD4678E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91679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6FA41B-DC50-87A9-BA57-1358CBFF9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46E5ED-B2DF-A90A-D0C1-452BE2A17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0A7630-054F-C7C9-9F2D-59370F2EEE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0432A9-FB6A-2AFD-32CD-B8330C4CF6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497159-8E7A-5FB7-5AE1-95EB72A63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89253F-EB4E-3F4B-7E0C-BB82CCF11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42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0236FC-8D23-E1F1-FCF7-9B09532E1A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FF20E4-433D-AC7E-9C64-759F5BA917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CB0FF45-7743-8F74-5AB5-4F80A934EA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FB5622-1026-3C90-7F15-2DB4E8303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3EC6A4-488A-1A62-1790-B4887D74E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1107F1-E4D7-D266-716C-36EE9AAE7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1234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327FED-69A7-A4D2-F0AB-D7C73B6CD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D96D5-73AC-B29F-552B-05551FA162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20F445-6A94-4CA6-74B9-615B1CFAC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B2D5F-C242-6072-E256-A8CA8B10F8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5205A1-77DD-EE95-DB8D-FEB8079AC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8162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2FB2E5-1B9B-0E69-D481-2722431F06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98366A-DDD0-7E05-EABB-AD4C0FC2A56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10C0A1-675A-9033-270B-AAEB15DC3E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ECC71C-2ED9-365C-2AA5-8F7188337B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E081E-5553-E6E9-8010-6BF976A7A3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362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A78C72-D5E7-03A9-52D1-0F3310A2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FB6EF2-C966-1075-C839-D11257C907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3F2A8-FBA6-E151-B2CC-29CC37AB23A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303BC-7409-4031-8E1C-73614F4DEF48}" type="datetimeFigureOut">
              <a:rPr lang="en-IN" smtClean="0"/>
              <a:t>29-06-2025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5CB28D-00A0-911F-940D-E25F6CC6C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D0D48-BC7E-440B-DE25-7B38EC314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424FBB-68D5-4C2E-B492-88027F9BD92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3140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BB04FAF-DBE6-2BBF-0E94-1FB0EF103E4C}"/>
              </a:ext>
            </a:extLst>
          </p:cNvPr>
          <p:cNvSpPr txBox="1"/>
          <p:nvPr/>
        </p:nvSpPr>
        <p:spPr>
          <a:xfrm>
            <a:off x="401217" y="186613"/>
            <a:ext cx="41173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String Builder and String Buffer </a:t>
            </a:r>
            <a:endParaRPr lang="en-IN" sz="2400" dirty="0"/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F06B07A5-B9BC-84CF-CF5D-3B8099CE15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0464" y="873382"/>
            <a:ext cx="10217023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StringBuilder and </a:t>
            </a:r>
            <a:r>
              <a:rPr lang="en-US" altLang="en-US" sz="2000" dirty="0" err="1"/>
              <a:t>StringBuffer</a:t>
            </a:r>
            <a:r>
              <a:rPr lang="en-US" altLang="en-US" sz="2000" dirty="0"/>
              <a:t> are classes in Java used to create mutable (modifiable) sequences of characters. </a:t>
            </a:r>
          </a:p>
          <a:p>
            <a:pPr marR="0" lvl="0" indent="0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2000" dirty="0"/>
              <a:t>Both the classes can change the contents of a string without creating a new object each time.</a:t>
            </a:r>
            <a:endParaRPr lang="en-US" altLang="en-US" sz="2000" dirty="0"/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79DCA2FE-896D-03E2-6D89-8691AC6467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9494240"/>
              </p:ext>
            </p:extLst>
          </p:nvPr>
        </p:nvGraphicFramePr>
        <p:xfrm>
          <a:off x="690464" y="2513993"/>
          <a:ext cx="9806476" cy="2569543"/>
        </p:xfrm>
        <a:graphic>
          <a:graphicData uri="http://schemas.openxmlformats.org/drawingml/2006/table">
            <a:tbl>
              <a:tblPr/>
              <a:tblGrid>
                <a:gridCol w="4903238">
                  <a:extLst>
                    <a:ext uri="{9D8B030D-6E8A-4147-A177-3AD203B41FA5}">
                      <a16:colId xmlns:a16="http://schemas.microsoft.com/office/drawing/2014/main" val="3869997894"/>
                    </a:ext>
                  </a:extLst>
                </a:gridCol>
                <a:gridCol w="4903238">
                  <a:extLst>
                    <a:ext uri="{9D8B030D-6E8A-4147-A177-3AD203B41FA5}">
                      <a16:colId xmlns:a16="http://schemas.microsoft.com/office/drawing/2014/main" val="2988803167"/>
                    </a:ext>
                  </a:extLst>
                </a:gridCol>
              </a:tblGrid>
              <a:tr h="367517">
                <a:tc>
                  <a:txBody>
                    <a:bodyPr/>
                    <a:lstStyle/>
                    <a:p>
                      <a:pPr algn="ctr"/>
                      <a:r>
                        <a:rPr lang="en-IN" dirty="0"/>
                        <a:t>StringBuilder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 err="1"/>
                        <a:t>StringBuffer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68620406"/>
                  </a:ext>
                </a:extLst>
              </a:tr>
              <a:tr h="918792">
                <a:tc>
                  <a:txBody>
                    <a:bodyPr/>
                    <a:lstStyle/>
                    <a:p>
                      <a:r>
                        <a:rPr lang="en-IN" dirty="0"/>
                        <a:t>It is not thread-safe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It is Thread-safe (methods are synchronized)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356025"/>
                  </a:ext>
                </a:extLst>
              </a:tr>
              <a:tr h="367517"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Faster in execution as it is not Synchronized, especially in single-threaded applications. 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Due to synchronization overhead, it's generally slower than StringBuilder. 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49018768"/>
                  </a:ext>
                </a:extLst>
              </a:tr>
              <a:tr h="643154">
                <a:tc>
                  <a:txBody>
                    <a:bodyPr/>
                    <a:lstStyle/>
                    <a:p>
                      <a:r>
                        <a:rPr lang="en-IN" dirty="0"/>
                        <a:t>Suitable for Single-threaded environments where performance is 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Suitable for Multi-threaded environments where data consistency is priority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9503168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C0BCFC61-E5FA-0EE7-2450-209534D85ABE}"/>
              </a:ext>
            </a:extLst>
          </p:cNvPr>
          <p:cNvSpPr txBox="1"/>
          <p:nvPr/>
        </p:nvSpPr>
        <p:spPr>
          <a:xfrm>
            <a:off x="690464" y="5365303"/>
            <a:ext cx="9806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Note : all the methods in StringBuilder and </a:t>
            </a:r>
            <a:r>
              <a:rPr lang="en-IN" dirty="0" err="1"/>
              <a:t>StringBuffer</a:t>
            </a:r>
            <a:r>
              <a:rPr lang="en-IN" dirty="0"/>
              <a:t> are similar as they use identical API , only difference lies in synchronization</a:t>
            </a:r>
          </a:p>
        </p:txBody>
      </p:sp>
    </p:spTree>
    <p:extLst>
      <p:ext uri="{BB962C8B-B14F-4D97-AF65-F5344CB8AC3E}">
        <p14:creationId xmlns:p14="http://schemas.microsoft.com/office/powerpoint/2010/main" val="2657280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3F93E0F-5141-39BD-499B-15203857CE83}"/>
              </a:ext>
            </a:extLst>
          </p:cNvPr>
          <p:cNvSpPr txBox="1"/>
          <p:nvPr/>
        </p:nvSpPr>
        <p:spPr>
          <a:xfrm>
            <a:off x="911937" y="571116"/>
            <a:ext cx="51446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Common methods for String Builder and Strin buffer </a:t>
            </a:r>
            <a:endParaRPr lang="en-IN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EDA16EFC-8604-CFAC-75C8-F88D1333E1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9120450"/>
              </p:ext>
            </p:extLst>
          </p:nvPr>
        </p:nvGraphicFramePr>
        <p:xfrm>
          <a:off x="911937" y="1222796"/>
          <a:ext cx="8950519" cy="48794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773400">
                  <a:extLst>
                    <a:ext uri="{9D8B030D-6E8A-4147-A177-3AD203B41FA5}">
                      <a16:colId xmlns:a16="http://schemas.microsoft.com/office/drawing/2014/main" val="2524151602"/>
                    </a:ext>
                  </a:extLst>
                </a:gridCol>
                <a:gridCol w="6177119">
                  <a:extLst>
                    <a:ext uri="{9D8B030D-6E8A-4147-A177-3AD203B41FA5}">
                      <a16:colId xmlns:a16="http://schemas.microsoft.com/office/drawing/2014/main" val="61328013"/>
                    </a:ext>
                  </a:extLst>
                </a:gridCol>
              </a:tblGrid>
              <a:tr h="29025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Append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append(String s)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7534584"/>
                  </a:ext>
                </a:extLst>
              </a:tr>
              <a:tr h="29025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Insert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insert(int offset, String s)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70175718"/>
                  </a:ext>
                </a:extLst>
              </a:tr>
              <a:tr h="5726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delete(int start, int end)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deleteCharAt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(int index)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6052067"/>
                  </a:ext>
                </a:extLst>
              </a:tr>
              <a:tr h="29025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Replace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replace(int start, int end, String str)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769121"/>
                  </a:ext>
                </a:extLst>
              </a:tr>
              <a:tr h="29025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Reverse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reverse()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0519943"/>
                  </a:ext>
                </a:extLst>
              </a:tr>
              <a:tr h="57266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Character ops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charAt(int index) </a:t>
                      </a:r>
                      <a:b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setCharAt(int index, char c)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80036420"/>
                  </a:ext>
                </a:extLst>
              </a:tr>
              <a:tr h="11374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Search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(String str)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indexOf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(String str, int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fromIndex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lastIndexOf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(String str) </a:t>
                      </a:r>
                      <a:b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lastIndexOf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(String str, int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fromIndex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17142379"/>
                  </a:ext>
                </a:extLst>
              </a:tr>
              <a:tr h="855076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Substring / Subsequence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substring(int start) </a:t>
                      </a:r>
                      <a:b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substring(int start, int end) </a:t>
                      </a:r>
                      <a:b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</a:br>
                      <a:r>
                        <a:rPr lang="en-US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subSequence(int start, int end)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9334299"/>
                  </a:ext>
                </a:extLst>
              </a:tr>
              <a:tr h="29025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Comparison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compareTo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(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StringBuffer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n-IN" sz="1800" kern="1200" dirty="0" err="1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sb</a:t>
                      </a:r>
                      <a:r>
                        <a:rPr lang="en-IN" sz="18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) </a:t>
                      </a: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5500855"/>
                  </a:ext>
                </a:extLst>
              </a:tr>
              <a:tr h="290255"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>
                          <a:effectLst/>
                        </a:rPr>
                        <a:t>Conversion</a:t>
                      </a:r>
                      <a:endParaRPr lang="en-IN" sz="18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IN" sz="1800" u="none" strike="noStrike" dirty="0" err="1">
                          <a:effectLst/>
                        </a:rPr>
                        <a:t>toString</a:t>
                      </a:r>
                      <a:r>
                        <a:rPr lang="en-IN" sz="1800" u="none" strike="noStrike" dirty="0">
                          <a:effectLst/>
                        </a:rPr>
                        <a:t>()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Arial Unicode MS"/>
                      </a:endParaRPr>
                    </a:p>
                  </a:txBody>
                  <a:tcPr marL="7620" marR="7620" marT="762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2470147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7326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A9934-DA00-3356-42AB-AA5A0525B5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263" y="1082351"/>
            <a:ext cx="10092612" cy="440404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597608-9F73-B9A2-BC77-D3B970E37EB2}"/>
              </a:ext>
            </a:extLst>
          </p:cNvPr>
          <p:cNvSpPr txBox="1"/>
          <p:nvPr/>
        </p:nvSpPr>
        <p:spPr>
          <a:xfrm>
            <a:off x="718263" y="401217"/>
            <a:ext cx="34616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/>
              <a:t>String Builder Example</a:t>
            </a:r>
          </a:p>
        </p:txBody>
      </p:sp>
    </p:spTree>
    <p:extLst>
      <p:ext uri="{BB962C8B-B14F-4D97-AF65-F5344CB8AC3E}">
        <p14:creationId xmlns:p14="http://schemas.microsoft.com/office/powerpoint/2010/main" val="3387818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310</TotalTime>
  <Words>256</Words>
  <Application>Microsoft Office PowerPoint</Application>
  <PresentationFormat>Widescreen</PresentationFormat>
  <Paragraphs>34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Arial</vt:lpstr>
      <vt:lpstr>Arial Unicode MS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Kiran K</dc:creator>
  <cp:lastModifiedBy>Kiran K</cp:lastModifiedBy>
  <cp:revision>17</cp:revision>
  <dcterms:created xsi:type="dcterms:W3CDTF">2025-06-28T14:08:15Z</dcterms:created>
  <dcterms:modified xsi:type="dcterms:W3CDTF">2025-06-29T10:36:33Z</dcterms:modified>
</cp:coreProperties>
</file>